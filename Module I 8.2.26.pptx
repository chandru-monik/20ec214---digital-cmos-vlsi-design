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23"/>
  </p:notesMasterIdLst>
  <p:sldIdLst>
    <p:sldId id="256" r:id="rId2"/>
    <p:sldId id="385" r:id="rId3"/>
    <p:sldId id="386" r:id="rId4"/>
    <p:sldId id="387" r:id="rId5"/>
    <p:sldId id="388" r:id="rId6"/>
    <p:sldId id="389" r:id="rId7"/>
    <p:sldId id="390" r:id="rId8"/>
    <p:sldId id="391" r:id="rId9"/>
    <p:sldId id="392" r:id="rId10"/>
    <p:sldId id="393" r:id="rId11"/>
    <p:sldId id="394" r:id="rId12"/>
    <p:sldId id="395" r:id="rId13"/>
    <p:sldId id="396" r:id="rId14"/>
    <p:sldId id="397" r:id="rId15"/>
    <p:sldId id="398" r:id="rId16"/>
    <p:sldId id="399" r:id="rId17"/>
    <p:sldId id="400" r:id="rId18"/>
    <p:sldId id="401" r:id="rId19"/>
    <p:sldId id="402" r:id="rId20"/>
    <p:sldId id="403" r:id="rId21"/>
    <p:sldId id="404" r:id="rId22"/>
    <p:sldId id="405" r:id="rId23"/>
    <p:sldId id="406" r:id="rId24"/>
    <p:sldId id="407" r:id="rId25"/>
    <p:sldId id="408" r:id="rId26"/>
    <p:sldId id="409" r:id="rId27"/>
    <p:sldId id="410" r:id="rId28"/>
    <p:sldId id="411" r:id="rId29"/>
    <p:sldId id="412" r:id="rId30"/>
    <p:sldId id="413" r:id="rId31"/>
    <p:sldId id="414" r:id="rId32"/>
    <p:sldId id="415" r:id="rId33"/>
    <p:sldId id="416" r:id="rId34"/>
    <p:sldId id="417" r:id="rId35"/>
    <p:sldId id="418" r:id="rId36"/>
    <p:sldId id="419" r:id="rId37"/>
    <p:sldId id="420" r:id="rId38"/>
    <p:sldId id="421" r:id="rId39"/>
    <p:sldId id="422" r:id="rId40"/>
    <p:sldId id="423" r:id="rId41"/>
    <p:sldId id="424" r:id="rId42"/>
    <p:sldId id="425" r:id="rId43"/>
    <p:sldId id="426" r:id="rId44"/>
    <p:sldId id="492" r:id="rId45"/>
    <p:sldId id="493" r:id="rId46"/>
    <p:sldId id="494" r:id="rId47"/>
    <p:sldId id="495" r:id="rId48"/>
    <p:sldId id="496" r:id="rId49"/>
    <p:sldId id="498" r:id="rId50"/>
    <p:sldId id="499" r:id="rId51"/>
    <p:sldId id="500" r:id="rId52"/>
    <p:sldId id="501" r:id="rId53"/>
    <p:sldId id="502" r:id="rId54"/>
    <p:sldId id="497" r:id="rId55"/>
    <p:sldId id="427" r:id="rId56"/>
    <p:sldId id="428" r:id="rId57"/>
    <p:sldId id="429" r:id="rId58"/>
    <p:sldId id="430" r:id="rId59"/>
    <p:sldId id="431" r:id="rId60"/>
    <p:sldId id="432" r:id="rId61"/>
    <p:sldId id="433" r:id="rId62"/>
    <p:sldId id="434" r:id="rId63"/>
    <p:sldId id="435" r:id="rId64"/>
    <p:sldId id="436" r:id="rId65"/>
    <p:sldId id="437" r:id="rId66"/>
    <p:sldId id="438" r:id="rId67"/>
    <p:sldId id="439" r:id="rId68"/>
    <p:sldId id="440" r:id="rId69"/>
    <p:sldId id="503" r:id="rId70"/>
    <p:sldId id="441" r:id="rId71"/>
    <p:sldId id="442" r:id="rId72"/>
    <p:sldId id="443" r:id="rId73"/>
    <p:sldId id="504" r:id="rId74"/>
    <p:sldId id="444" r:id="rId75"/>
    <p:sldId id="445" r:id="rId76"/>
    <p:sldId id="446" r:id="rId77"/>
    <p:sldId id="447" r:id="rId78"/>
    <p:sldId id="448" r:id="rId79"/>
    <p:sldId id="449" r:id="rId80"/>
    <p:sldId id="450" r:id="rId81"/>
    <p:sldId id="451" r:id="rId82"/>
    <p:sldId id="452" r:id="rId83"/>
    <p:sldId id="453" r:id="rId84"/>
    <p:sldId id="454" r:id="rId85"/>
    <p:sldId id="455" r:id="rId86"/>
    <p:sldId id="456" r:id="rId87"/>
    <p:sldId id="457" r:id="rId88"/>
    <p:sldId id="458" r:id="rId89"/>
    <p:sldId id="459" r:id="rId90"/>
    <p:sldId id="460" r:id="rId91"/>
    <p:sldId id="461" r:id="rId92"/>
    <p:sldId id="462" r:id="rId93"/>
    <p:sldId id="463" r:id="rId94"/>
    <p:sldId id="464" r:id="rId95"/>
    <p:sldId id="465" r:id="rId96"/>
    <p:sldId id="466" r:id="rId97"/>
    <p:sldId id="467" r:id="rId98"/>
    <p:sldId id="468" r:id="rId99"/>
    <p:sldId id="469" r:id="rId100"/>
    <p:sldId id="470" r:id="rId101"/>
    <p:sldId id="471" r:id="rId102"/>
    <p:sldId id="472" r:id="rId103"/>
    <p:sldId id="473" r:id="rId104"/>
    <p:sldId id="474" r:id="rId105"/>
    <p:sldId id="475" r:id="rId106"/>
    <p:sldId id="476" r:id="rId107"/>
    <p:sldId id="477" r:id="rId108"/>
    <p:sldId id="478" r:id="rId109"/>
    <p:sldId id="479" r:id="rId110"/>
    <p:sldId id="480" r:id="rId111"/>
    <p:sldId id="481" r:id="rId112"/>
    <p:sldId id="482" r:id="rId113"/>
    <p:sldId id="483" r:id="rId114"/>
    <p:sldId id="484" r:id="rId115"/>
    <p:sldId id="485" r:id="rId116"/>
    <p:sldId id="486" r:id="rId117"/>
    <p:sldId id="487" r:id="rId118"/>
    <p:sldId id="488" r:id="rId119"/>
    <p:sldId id="489" r:id="rId120"/>
    <p:sldId id="490" r:id="rId121"/>
    <p:sldId id="491" r:id="rId1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552" autoAdjust="0"/>
  </p:normalViewPr>
  <p:slideViewPr>
    <p:cSldViewPr>
      <p:cViewPr varScale="1">
        <p:scale>
          <a:sx n="84" d="100"/>
          <a:sy n="84" d="100"/>
        </p:scale>
        <p:origin x="595" y="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335A0-DBCE-44E5-9B40-295659989D6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5C9B3-241D-4FF0-B990-4FABA7B21D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179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660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4" y="152402"/>
            <a:ext cx="8839202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4" y="2362202"/>
            <a:ext cx="10791497" cy="373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9"/>
          <p:cNvSpPr>
            <a:spLocks noGrp="1"/>
          </p:cNvSpPr>
          <p:nvPr userDrawn="1"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AEF63-01FC-4134-AE19-ADFEE9DC515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 userDrawn="1"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 userDrawn="1"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609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828802"/>
            <a:ext cx="11582400" cy="4495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54B9F69-0570-4328-A351-624C6148D36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04802" y="1981200"/>
            <a:ext cx="11582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Times New Roman" pitchFamily="18" charset="0"/>
                <a:cs typeface="Times New Roman" pitchFamily="18" charset="0"/>
              </a:defRPr>
            </a:lvl1pPr>
            <a:lvl2pPr>
              <a:defRPr sz="3600">
                <a:latin typeface="Times New Roman" pitchFamily="18" charset="0"/>
                <a:cs typeface="Times New Roman" pitchFamily="18" charset="0"/>
              </a:defRPr>
            </a:lvl2pPr>
            <a:lvl3pPr>
              <a:defRPr sz="3200">
                <a:latin typeface="Times New Roman" pitchFamily="18" charset="0"/>
                <a:cs typeface="Times New Roman" pitchFamily="18" charset="0"/>
              </a:defRPr>
            </a:lvl3pPr>
            <a:lvl4pPr>
              <a:defRPr sz="2800">
                <a:latin typeface="Times New Roman" pitchFamily="18" charset="0"/>
                <a:cs typeface="Times New Roman" pitchFamily="18" charset="0"/>
              </a:defRPr>
            </a:lvl4pPr>
            <a:lvl5pPr>
              <a:defRPr sz="2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AC2C7B5-640A-463A-A6C4-C7EBD7B3789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>
          <a:xfrm>
            <a:off x="9042402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>
          <a:xfrm>
            <a:off x="43688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625600" y="251461"/>
            <a:ext cx="8940800" cy="5867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35" y="457200"/>
            <a:ext cx="393276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38" y="987429"/>
            <a:ext cx="617220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35" y="2057403"/>
            <a:ext cx="393276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9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"/>
            <a:ext cx="12192000" cy="6858000"/>
          </a:xfrm>
          <a:prstGeom prst="rect">
            <a:avLst/>
          </a:prstGeom>
          <a:noFill/>
          <a:ln w="952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200" y="1447800"/>
            <a:ext cx="12115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7203" y="116175"/>
            <a:ext cx="972478" cy="1179225"/>
          </a:xfrm>
          <a:prstGeom prst="rect">
            <a:avLst/>
          </a:prstGeom>
        </p:spPr>
      </p:pic>
      <p:pic>
        <p:nvPicPr>
          <p:cNvPr id="11" name="Picture 10" descr="A logo with text and a flower&#10;&#10;AI-generated content may be incorrect.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893" y="116175"/>
            <a:ext cx="998220" cy="1104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4" r:id="rId3"/>
    <p:sldLayoutId id="2147483678" r:id="rId4"/>
  </p:sldLayoutIdLst>
  <p:hf hdr="0"/>
  <p:txStyles>
    <p:titleStyle>
      <a:lvl1pPr marL="0" algn="ctr" defTabSz="914400" rtl="0" eaLnBrk="1" latinLnBrk="0" hangingPunct="1">
        <a:spcBef>
          <a:spcPct val="0"/>
        </a:spcBef>
        <a:buNone/>
        <a:defRPr lang="en-US" sz="36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0" Type="http://schemas.openxmlformats.org/officeDocument/2006/relationships/image" Target="../media/image66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10" Type="http://schemas.openxmlformats.org/officeDocument/2006/relationships/image" Target="../media/image80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microsoft.com/office/2007/relationships/hdphoto" Target="../media/hdphoto1.wdp"/><Relationship Id="rId7" Type="http://schemas.openxmlformats.org/officeDocument/2006/relationships/image" Target="../media/image96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5.png"/><Relationship Id="rId5" Type="http://schemas.microsoft.com/office/2007/relationships/hdphoto" Target="../media/hdphoto2.wdp"/><Relationship Id="rId4" Type="http://schemas.openxmlformats.org/officeDocument/2006/relationships/image" Target="../media/image94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5" Type="http://schemas.microsoft.com/office/2007/relationships/hdphoto" Target="../media/hdphoto6.wdp"/><Relationship Id="rId4" Type="http://schemas.openxmlformats.org/officeDocument/2006/relationships/image" Target="../media/image99.png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4" Type="http://schemas.microsoft.com/office/2007/relationships/hdphoto" Target="../media/hdphoto8.wdp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7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jp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2.wdp"/><Relationship Id="rId4" Type="http://schemas.openxmlformats.org/officeDocument/2006/relationships/image" Target="../media/image130.png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7" Type="http://schemas.microsoft.com/office/2007/relationships/hdphoto" Target="../media/hdphoto15.wdp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3.png"/><Relationship Id="rId5" Type="http://schemas.microsoft.com/office/2007/relationships/hdphoto" Target="../media/hdphoto14.wdp"/><Relationship Id="rId4" Type="http://schemas.openxmlformats.org/officeDocument/2006/relationships/image" Target="../media/image132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7.wdp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.xml"/><Relationship Id="rId5" Type="http://schemas.microsoft.com/office/2007/relationships/hdphoto" Target="../media/hdphoto19.wdp"/><Relationship Id="rId4" Type="http://schemas.openxmlformats.org/officeDocument/2006/relationships/image" Target="../media/image141.png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3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0.wdp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1.wdp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Relationship Id="rId4" Type="http://schemas.microsoft.com/office/2007/relationships/hdphoto" Target="../media/hdphoto21.wdp"/></Relationships>
</file>

<file path=ppt/slides/_rels/slide112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/Relationships>
</file>

<file path=ppt/slides/_rels/slide113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3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emf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3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3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3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4.png"/><Relationship Id="rId4" Type="http://schemas.openxmlformats.org/officeDocument/2006/relationships/image" Target="../media/image163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98611" y="2"/>
            <a:ext cx="9140827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3200" b="1" dirty="0"/>
              <a:t>SRI RAMAKRISHNA ENGINEERING COLLEGE</a:t>
            </a:r>
            <a:endParaRPr lang="en-US" sz="3200" dirty="0"/>
          </a:p>
          <a:p>
            <a:pPr algn="ctr"/>
            <a:endParaRPr lang="en-US" sz="2000" b="1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266835" y="4791430"/>
            <a:ext cx="6629403" cy="1430614"/>
          </a:xfrm>
          <a:prstGeom prst="rect">
            <a:avLst/>
          </a:prstGeom>
        </p:spPr>
        <p:txBody>
          <a:bodyPr lIns="0" tIns="0" rIns="0" bIns="0"/>
          <a:lstStyle/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b="1" dirty="0">
                <a:latin typeface="+mj-lt"/>
                <a:cs typeface="Arial" pitchFamily="34" charset="0"/>
              </a:rPr>
              <a:t>Course </a:t>
            </a:r>
            <a:r>
              <a:rPr lang="en-US" sz="2600" b="1" dirty="0" smtClean="0">
                <a:latin typeface="+mj-lt"/>
                <a:cs typeface="Arial" pitchFamily="34" charset="0"/>
              </a:rPr>
              <a:t>Instructor:</a:t>
            </a:r>
            <a:endParaRPr lang="en-US" sz="2600" b="1" dirty="0">
              <a:latin typeface="+mj-lt"/>
              <a:cs typeface="Arial" pitchFamily="34" charset="0"/>
            </a:endParaRP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0070C0"/>
                </a:solidFill>
                <a:latin typeface="+mj-lt"/>
                <a:cs typeface="Arial" pitchFamily="34" charset="0"/>
              </a:rPr>
              <a:t>Mr.R.Chandru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,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Assistant Professor(</a:t>
            </a:r>
            <a:r>
              <a:rPr lang="en-US" sz="2400" b="1" dirty="0" err="1" smtClean="0">
                <a:solidFill>
                  <a:srgbClr val="0070C0"/>
                </a:solidFill>
                <a:latin typeface="+mj-lt"/>
                <a:cs typeface="Arial" pitchFamily="34" charset="0"/>
              </a:rPr>
              <a:t>Sl.G</a:t>
            </a: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)/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ECE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7896234" y="5137409"/>
            <a:ext cx="2743202" cy="46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 dirty="0"/>
              <a:t>No. of </a:t>
            </a:r>
            <a:r>
              <a:rPr lang="fr-FR" sz="2400" b="1" dirty="0" err="1"/>
              <a:t>Credits</a:t>
            </a:r>
            <a:r>
              <a:rPr lang="fr-FR" sz="2400" b="1" dirty="0"/>
              <a:t> </a:t>
            </a:r>
            <a:r>
              <a:rPr lang="fr-FR" sz="2400" b="1" dirty="0" smtClean="0"/>
              <a:t>: 3</a:t>
            </a:r>
            <a:endParaRPr lang="en-US" sz="2400" b="1" dirty="0">
              <a:latin typeface="Lucida Bright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3758631"/>
            <a:ext cx="95964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20EC214 </a:t>
            </a:r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&amp;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DIGITAL CMOS VLSI CIRCUITS</a:t>
            </a:r>
            <a:endParaRPr lang="fr-FR" sz="3200" b="1" dirty="0">
              <a:solidFill>
                <a:srgbClr val="7030A0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ctr">
              <a:defRPr/>
            </a:pPr>
            <a:endParaRPr lang="fr-FR" sz="32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835" y="3037182"/>
            <a:ext cx="9604400" cy="536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Department of  Electronics and Communication  Engineering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8" y="1588171"/>
            <a:ext cx="75930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[Educational Service : SNR Sons Charitable Trust]</a:t>
            </a:r>
          </a:p>
          <a:p>
            <a:pPr algn="ctr"/>
            <a:r>
              <a:rPr lang="en-US" sz="1600" dirty="0"/>
              <a:t>  [Autonomous Institution, </a:t>
            </a:r>
            <a:r>
              <a:rPr lang="en-US" sz="1600" dirty="0" smtClean="0"/>
              <a:t>Reaccredited </a:t>
            </a:r>
            <a:r>
              <a:rPr lang="en-US" sz="1600" dirty="0"/>
              <a:t>by NAAC with ‘</a:t>
            </a:r>
            <a:r>
              <a:rPr lang="en-US" sz="1600" dirty="0" smtClean="0"/>
              <a:t>A+’ </a:t>
            </a:r>
            <a:r>
              <a:rPr lang="en-US" sz="1600" dirty="0"/>
              <a:t>Grade]</a:t>
            </a:r>
          </a:p>
          <a:p>
            <a:pPr algn="ctr"/>
            <a:r>
              <a:rPr lang="en-US" sz="1600" dirty="0"/>
              <a:t>      [Approved by AICTE and Permanently Affiliated to Anna University, Chennai]</a:t>
            </a:r>
          </a:p>
          <a:p>
            <a:pPr algn="ctr"/>
            <a:r>
              <a:rPr lang="en-US" sz="1600" dirty="0"/>
              <a:t>        [ISO 9001-2015 Certified and all eligible programmes Accredited by NBA]   </a:t>
            </a:r>
          </a:p>
          <a:p>
            <a:pPr algn="ctr"/>
            <a:r>
              <a:rPr lang="en-US" sz="1600" dirty="0"/>
              <a:t>             VATTAMALAIPALAYAM, N.G.G.O. COLONY POST, COIMBATORE – 641 022.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C9258C-6A34-4EEA-AE4D-5206E875D8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2400" y="1371600"/>
            <a:ext cx="11734802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On successful completion of the course, students will be able to,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46006A2-30E0-43FC-876C-CE2836461F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441958"/>
            <a:ext cx="89408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OUTCOMES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7A19BD47-2C52-48CB-86AB-EE9530EE5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55773"/>
              </p:ext>
            </p:extLst>
          </p:nvPr>
        </p:nvGraphicFramePr>
        <p:xfrm>
          <a:off x="609600" y="2209801"/>
          <a:ext cx="10820400" cy="378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73">
                  <a:extLst>
                    <a:ext uri="{9D8B030D-6E8A-4147-A177-3AD203B41FA5}">
                      <a16:colId xmlns="" xmlns:a16="http://schemas.microsoft.com/office/drawing/2014/main" val="2579258821"/>
                    </a:ext>
                  </a:extLst>
                </a:gridCol>
                <a:gridCol w="9776327">
                  <a:extLst>
                    <a:ext uri="{9D8B030D-6E8A-4147-A177-3AD203B41FA5}">
                      <a16:colId xmlns="" xmlns:a16="http://schemas.microsoft.com/office/drawing/2014/main" val="2600226381"/>
                    </a:ext>
                  </a:extLst>
                </a:gridCol>
              </a:tblGrid>
              <a:tr h="386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0000"/>
                          </a:solidFill>
                          <a:latin typeface="Bookman Old Style" panose="02050604050505020204" pitchFamily="18" charset="0"/>
                        </a:rPr>
                        <a:t>COURSE OUTCOMES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5368251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Interpret the characteristics and manufacturing process technology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of MOS transistor.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43555094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2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Analyze the various logic styles of CMOS combinational and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sequential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09568410"/>
                  </a:ext>
                </a:extLst>
              </a:tr>
              <a:tr h="476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Design the various digital arithmetic logic circuits.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1673281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4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Illustrate the performance of the digital circuits by examining the timing issues.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8387349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5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Make use of MOS concepts in construction of Memory Array Subsystem.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30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946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96B7060-1BA4-42E1-85AD-7DA4ABB173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03355A1C-B111-4CCF-9F99-3D8DA29B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99" y="1660531"/>
            <a:ext cx="11506202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PREREQUISITES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20EC204 - Digital System Design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MOS TRANSISTOR AND PROCESSING			  			10</a:t>
            </a:r>
            <a:endParaRPr lang="en-US" sz="56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MOSFET theory - Transistor switches - Compound gates - Design equations - IV characteristics - CV characteristics - Second order effects - Energy and Power - Resistance Estimation - Capacitance Estimation - Switching Characteristics - RC Delay Models - Logical Effort for gates - CMOS Process technology - Design Rules and Layout.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fr-FR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LOGIC STRUCTURES 							11</a:t>
            </a:r>
          </a:p>
          <a:p>
            <a:pPr marL="0" indent="0" algn="just">
              <a:buNone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Combinational Circuits: CMOS Inverter - DC Characteristics - Complementary Logic Structures - Ratioed logic - Pass transistor logic - Transmission gate - Tristate Inverter - Multiplexers - Dynamic logic structures. Sequential 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Circuits: Static latches and Registers, Dynamic latches and Registers, Pulse Registers, Sense Amplifier Based </a:t>
            </a: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Register, Pipelining.</a:t>
            </a: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OF ARITHMETIC BUILDING BLOCKS 				8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Full adder, Ripple carry adder, Carry bypass adder, Linear and Square root carry-select adder, Carry look-ahead adder - Multipliers - Barrel and logarithmic shifter.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TIMING ISSUES 		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Timing Basics, Sources of Skew and Jitter, Clock-Distribution Techniques, Latch-Based locking, Self-Timed Circuit Design, Synchronizers and Arbiters, Clock Synthesis and Synchronization Using a Phase-Locked Loop.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MEMORY ARRAY SUBSYSTEM 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SRAM: SRAM Cells, Row Circuitry, Column Circuitry. </a:t>
            </a:r>
            <a:r>
              <a:rPr lang="en-US" sz="56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Multiported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 SRAM and Register files  DRAM: Subarray Architectures, Column Circuitry, Embedded DRAM. Read-Only Memory: Programmable ROMs, NAND ROMs, Flash.</a:t>
            </a:r>
            <a:endParaRPr lang="en-IN" sz="55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62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D5F23E-4B97-4B63-96EF-1A2CA42953C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52600"/>
            <a:ext cx="118110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TEXT BOOKS</a:t>
            </a:r>
          </a:p>
          <a:p>
            <a:pPr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Neil H.E.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Weste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David Harris, "CMOS VLSI Design A Circuits and Systems Perspective", 4th Edition, 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Pearson Education, Reprint 2010.</a:t>
            </a:r>
          </a:p>
          <a:p>
            <a:pPr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Jan M.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Rabaey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Anantha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Chandrakasan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B Nikolic, "Digital Integrated Circuits: A Design Perspective", 2nd 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Edition, Pearson Education India, 2016.</a:t>
            </a:r>
            <a:endParaRPr lang="en-IN" sz="19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Douglas. A.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Pucknell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Kamran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Eshraghian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"Basic VLSI Design", 3rd Edition, Prentice Hall India, 2010.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John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P.Uyemura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"Introduction to VLSI Circuits and Systems", John Wiley &amp; Sons, 2012.</a:t>
            </a:r>
          </a:p>
          <a:p>
            <a:pPr marL="0" indent="0" algn="just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WEB 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https://nptel.ac.in/courses/108/107/108107129/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https://nptel.ac.in/courses/117/106/117106093/</a:t>
            </a:r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ADA0AE8C-4FFC-FDA7-3637-9AC9C33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161883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8E4B51-1B8E-4E4E-8A93-7E22AE309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MOSFET theory –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Transistor switches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Compound gates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Design equations - IV characteristics - CV characteristics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Second order effects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Energy and Power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Resistance Estimation 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Capacitance Estimation 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Switching Characteristics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RC Delay Models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Logical Effort for gates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Process technology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Rules and Layout</a:t>
            </a: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00F0B4-33BA-48A4-8960-F3E68BD377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CC8DBC-17AA-405C-9FF1-39D3EE8894D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77551-F1A1-4B49-8894-B2BB15489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C1679C-11D5-4753-B542-E03E8DAE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068201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85DAD9E-AA3C-4F43-B78C-2A661815AB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D66D4D3-A41A-4FDB-B9DF-EABB28F5C38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141F6B-C9DB-418A-B2FF-FB169A4DC56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E1D123E-2BD5-44C1-9C12-A512284DAA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5B43C40E-B167-4674-869C-68371AC455CC}"/>
              </a:ext>
            </a:extLst>
          </p:cNvPr>
          <p:cNvSpPr txBox="1">
            <a:spLocks/>
          </p:cNvSpPr>
          <p:nvPr/>
        </p:nvSpPr>
        <p:spPr>
          <a:xfrm>
            <a:off x="7501441" y="2590800"/>
            <a:ext cx="4431030" cy="38279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ctr">
            <a:sp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Gajski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 Y-Chart</a:t>
            </a:r>
          </a:p>
        </p:txBody>
      </p:sp>
      <p:sp>
        <p:nvSpPr>
          <p:cNvPr id="9" name="object 2">
            <a:extLst>
              <a:ext uri="{FF2B5EF4-FFF2-40B4-BE49-F238E27FC236}">
                <a16:creationId xmlns="" xmlns:a16="http://schemas.microsoft.com/office/drawing/2014/main" id="{ADC5E1DE-7907-4499-A606-A0FE60D73EBC}"/>
              </a:ext>
            </a:extLst>
          </p:cNvPr>
          <p:cNvSpPr/>
          <p:nvPr/>
        </p:nvSpPr>
        <p:spPr>
          <a:xfrm>
            <a:off x="1447800" y="1977379"/>
            <a:ext cx="6248400" cy="41287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algn="ctr"/>
            <a:endParaRPr dirty="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D416893E-75D8-415C-9678-32BF144F1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435443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85DAD9E-AA3C-4F43-B78C-2A661815AB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B72A824-22E7-49F6-BC00-27412F038B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F141F6B-C9DB-418A-B2FF-FB169A4DC56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E1D123E-2BD5-44C1-9C12-A512284DAA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object 3">
            <a:extLst>
              <a:ext uri="{FF2B5EF4-FFF2-40B4-BE49-F238E27FC236}">
                <a16:creationId xmlns="" xmlns:a16="http://schemas.microsoft.com/office/drawing/2014/main" id="{5B43C40E-B167-4674-869C-68371AC455CC}"/>
              </a:ext>
            </a:extLst>
          </p:cNvPr>
          <p:cNvSpPr txBox="1">
            <a:spLocks/>
          </p:cNvSpPr>
          <p:nvPr/>
        </p:nvSpPr>
        <p:spPr>
          <a:xfrm>
            <a:off x="6826887" y="2362200"/>
            <a:ext cx="4431030" cy="382797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3335" rIns="0" bIns="0" rtlCol="0" anchor="ctr">
            <a:spAutoFit/>
          </a:bodyPr>
          <a:lstStyle>
            <a:lvl1pPr marL="0" algn="ctr" defTabSz="914400" rtl="0" eaLnBrk="1" latinLnBrk="0" hangingPunct="1">
              <a:spcBef>
                <a:spcPct val="0"/>
              </a:spcBef>
              <a:buNone/>
              <a:defRPr lang="en-US" sz="3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2400" dirty="0" err="1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Gajski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 Y-Chart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98BF7B7-F96D-4B83-A61E-04AB92A0940F}"/>
              </a:ext>
            </a:extLst>
          </p:cNvPr>
          <p:cNvSpPr/>
          <p:nvPr/>
        </p:nvSpPr>
        <p:spPr>
          <a:xfrm>
            <a:off x="609600" y="1682697"/>
            <a:ext cx="111252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The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Y-chart consists of three major domains, namely:</a:t>
            </a:r>
          </a:p>
          <a:p>
            <a:pPr marL="2286000" lvl="4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Behavioral Domain</a:t>
            </a:r>
          </a:p>
          <a:p>
            <a:pPr marL="2286000" lvl="4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Structural Domain</a:t>
            </a:r>
          </a:p>
          <a:p>
            <a:pPr marL="2286000" lvl="4" indent="-4572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Physical Domain</a:t>
            </a:r>
          </a:p>
          <a:p>
            <a:pPr algn="just"/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Times New Roman" pitchFamily="18" charset="0"/>
            </a:endParaRPr>
          </a:p>
          <a:p>
            <a:pPr algn="just"/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Physical/Geometry Domain:-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It is first necessary to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subdivide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 a large system into small ASIC sized pieces which is referred as 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physical partition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After that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small blocks are arranged together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 in the form of clusters. 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Then the next step is 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floor plan 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where it is necessary to find out the approximate location of each module or block in the chip.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After that we can move on to 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module layout and cell layout 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where each unit of block to be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placed on chip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and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connections between the cells and the block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 is defined.</a:t>
            </a:r>
          </a:p>
          <a:p>
            <a:pPr marL="2286000" lvl="4" indent="-457200">
              <a:buFont typeface="Wingdings" panose="05000000000000000000" pitchFamily="2" charset="2"/>
              <a:buChar char="Ø"/>
            </a:pP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DDB187B-DA7D-C420-D087-B408D5BD7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595006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7331061-854F-4096-8DED-1312E9147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95400"/>
            <a:ext cx="11506202" cy="502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600" b="1" dirty="0" err="1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Gajski</a:t>
            </a:r>
            <a:r>
              <a:rPr lang="en-IN" sz="26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 Y-Chart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Behavioral Domain:-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behavior of the entity can be modelled using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procedural code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which can represent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circuit at a higher level of abstraction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First hierarchy is system where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behavior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of the architecture is defined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Then a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set of algorithm 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needs to be defined for processing the different parameters and a set of flowchart.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third step is 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RTL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 where the coding needs to be done and then the logic level where we are concerned with 0 and 1 level, after which the transfer function is defined.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Structural Domain:-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particular block is connected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across with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set of signals or netlist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here in this case we are more interested in the structure.</a:t>
            </a:r>
          </a:p>
          <a:p>
            <a:pPr marL="0" indent="0">
              <a:buNone/>
            </a:pPr>
            <a:endParaRPr lang="en-IN" sz="2400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837E95C-B463-4CB9-98A6-57C43842805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D5D8D5F-D0D5-4D0C-9F06-56204444836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493A40-059B-434E-B12F-10774790D47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2F6FD5E-DF5E-44D8-83BC-72366E6534F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922EF5F8-D4A4-26AE-0D1D-4236DEEA4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582730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737E548-0230-40BF-94FF-DF80112834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EBB09BD-D75C-4ACB-9E66-F4024FE65E7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02964BE-0847-4547-A8BC-1D4219A95E1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20E583-402B-415F-B827-988943C8CD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082F29F-8C45-490B-8353-68D36DE2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600200"/>
            <a:ext cx="3873289" cy="463653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A929AD1-0F82-4476-80FD-4AF0EAAEBCAC}"/>
              </a:ext>
            </a:extLst>
          </p:cNvPr>
          <p:cNvSpPr/>
          <p:nvPr/>
        </p:nvSpPr>
        <p:spPr>
          <a:xfrm>
            <a:off x="6976712" y="1704082"/>
            <a:ext cx="265817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VLSI Design Flow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A3E3461E-FDF9-49CE-BB96-F27441CEE510}"/>
              </a:ext>
            </a:extLst>
          </p:cNvPr>
          <p:cNvSpPr/>
          <p:nvPr/>
        </p:nvSpPr>
        <p:spPr>
          <a:xfrm>
            <a:off x="6477001" y="2667000"/>
            <a:ext cx="387328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635" algn="just">
              <a:spcBef>
                <a:spcPts val="95"/>
              </a:spcBef>
            </a:pP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VLSI design cycle start with a formal  specification of a VLSI chip, follows a  series of steps, and eventually produces a  packaged chip.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4AA3C851-DAC2-4714-8ECE-4097D0B33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3101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1DD66BD-3D50-4898-8B58-0B0C55221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905005"/>
            <a:ext cx="10820400" cy="44958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8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Comic Sans MS"/>
              </a:rPr>
              <a:t>System</a:t>
            </a:r>
            <a:r>
              <a:rPr lang="en-IN" sz="2800" b="1" spc="-3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IN" sz="2800" b="1" spc="-1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Comic Sans MS"/>
              </a:rPr>
              <a:t>Specification</a:t>
            </a:r>
          </a:p>
          <a:p>
            <a:pPr marL="0" indent="0">
              <a:buNone/>
            </a:pPr>
            <a:endParaRPr lang="en-IN" sz="2400" b="1" spc="-10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265" marR="5080" indent="-457200">
              <a:spcBef>
                <a:spcPts val="10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4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First step 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design process 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to lay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down the 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specification  of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</a:t>
            </a:r>
            <a:r>
              <a:rPr lang="en-US" sz="2400" spc="-7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system.</a:t>
            </a:r>
            <a:endParaRPr lang="en-US" sz="24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265" indent="-457200">
              <a:spcBef>
                <a:spcPts val="11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High </a:t>
            </a:r>
            <a:r>
              <a:rPr lang="en-US" sz="24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level representation 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</a:t>
            </a:r>
            <a:r>
              <a:rPr lang="en-US" sz="2400" spc="-11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system</a:t>
            </a:r>
            <a:r>
              <a:rPr lang="en-US" sz="2400" spc="-5" dirty="0">
                <a:latin typeface="Bookman Old Style" panose="02050604050505020204" pitchFamily="18" charset="0"/>
                <a:cs typeface="Comic Sans MS"/>
              </a:rPr>
              <a:t>.</a:t>
            </a:r>
            <a:endParaRPr lang="en-US" sz="2400" dirty="0">
              <a:latin typeface="Bookman Old Style" panose="02050604050505020204" pitchFamily="18" charset="0"/>
              <a:cs typeface="Comic Sans MS"/>
            </a:endParaRPr>
          </a:p>
          <a:p>
            <a:pPr marL="577850" indent="-565785">
              <a:spcBef>
                <a:spcPts val="1200"/>
              </a:spcBef>
              <a:buAutoNum type="arabicPeriod"/>
              <a:tabLst>
                <a:tab pos="577850" algn="l"/>
                <a:tab pos="578485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Factors</a:t>
            </a:r>
            <a:r>
              <a:rPr lang="en-US" sz="2400" spc="-4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considered:</a:t>
            </a:r>
            <a:endParaRPr lang="en-US" sz="24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927100" lvl="1" indent="-457834">
              <a:spcBef>
                <a:spcPts val="120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Performance</a:t>
            </a:r>
          </a:p>
          <a:p>
            <a:pPr marL="927100" lvl="1" indent="-457834">
              <a:spcBef>
                <a:spcPts val="120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Functionality</a:t>
            </a:r>
          </a:p>
          <a:p>
            <a:pPr marL="927100" lvl="1" indent="-457834">
              <a:spcBef>
                <a:spcPts val="120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Physical</a:t>
            </a:r>
            <a:r>
              <a:rPr lang="en-US" sz="2400" spc="-4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dimension</a:t>
            </a:r>
            <a:endParaRPr lang="en-US" sz="24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927100" lvl="1" indent="-457834">
              <a:spcBef>
                <a:spcPts val="120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Design</a:t>
            </a:r>
            <a:r>
              <a:rPr lang="en-US" sz="2400" spc="-4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technique</a:t>
            </a:r>
            <a:endParaRPr lang="en-US" sz="24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927100" lvl="1" indent="-457834">
              <a:spcBef>
                <a:spcPts val="120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Fabrication</a:t>
            </a:r>
            <a:r>
              <a:rPr lang="en-US" sz="2400" spc="-5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technology</a:t>
            </a:r>
          </a:p>
          <a:p>
            <a:pPr marL="469265" marR="1285240" indent="-457200" algn="just">
              <a:spcBef>
                <a:spcPts val="11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</a:rPr>
              <a:t>It is a </a:t>
            </a: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compromise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</a:rPr>
              <a:t> between market requirements,  technological and economical viability.</a:t>
            </a:r>
          </a:p>
          <a:p>
            <a:pPr marL="0" indent="0">
              <a:buNone/>
            </a:pPr>
            <a:endParaRPr lang="en-IN" sz="28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3A6B2A-6A79-43B5-9E92-9BB1BC840D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323DCE4-8988-433B-A02C-DF1D9B271DC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EC1D06-B29D-41B4-9ECB-6D7A3C89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789CC1-A34D-4590-A8E1-1112C5612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BFC8E3D6-6DF2-0552-E813-0B6864B80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3306034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1DD66BD-3D50-4898-8B58-0B0C55221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1371600"/>
            <a:ext cx="110490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Functional Design</a:t>
            </a:r>
          </a:p>
          <a:p>
            <a:pPr marL="469265" indent="-457200" algn="just">
              <a:spcBef>
                <a:spcPts val="57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Main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functional units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system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are</a:t>
            </a:r>
            <a:r>
              <a:rPr lang="en-US" sz="2000" spc="-14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identified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265" marR="1564640" indent="-457200" algn="just">
              <a:lnSpc>
                <a:spcPct val="120000"/>
              </a:lnSpc>
              <a:buAutoNum type="arabicPeriod"/>
              <a:tabLst>
                <a:tab pos="469265" algn="l"/>
                <a:tab pos="4699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Identifies the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interconnect requirements 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between the</a:t>
            </a:r>
            <a:r>
              <a:rPr lang="en-US" sz="2000" spc="-6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units</a:t>
            </a:r>
          </a:p>
          <a:p>
            <a:pPr marL="469900" marR="154305" indent="-457834" algn="just">
              <a:spcBef>
                <a:spcPts val="4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area,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power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and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other parameters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each</a:t>
            </a:r>
            <a:r>
              <a:rPr lang="en-US" sz="2000" spc="-17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unit  are</a:t>
            </a:r>
            <a:r>
              <a:rPr lang="en-US" sz="2000" spc="-4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estimated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900" marR="5080" indent="-457200" algn="just">
              <a:spcBef>
                <a:spcPts val="480"/>
              </a:spcBef>
              <a:buAutoNum type="arabicPeriod"/>
              <a:tabLst>
                <a:tab pos="469900" algn="l"/>
                <a:tab pos="470534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behavioral aspects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system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are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considered 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not implementation</a:t>
            </a:r>
            <a:r>
              <a:rPr lang="en-US" sz="2000" spc="-9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specification</a:t>
            </a:r>
          </a:p>
          <a:p>
            <a:pPr marL="469900" marR="711835" indent="0" algn="just">
              <a:spcBef>
                <a:spcPts val="484"/>
              </a:spcBef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- multiplication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needed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but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does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not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specify</a:t>
            </a:r>
            <a:r>
              <a:rPr lang="en-US" sz="2000" spc="-17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its 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hardware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12065" indent="0" algn="just">
              <a:spcBef>
                <a:spcPts val="480"/>
              </a:spcBef>
              <a:buNone/>
              <a:tabLst>
                <a:tab pos="577850" algn="l"/>
                <a:tab pos="578485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key idea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to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specify behavior,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in terms</a:t>
            </a:r>
            <a:r>
              <a:rPr lang="en-US" sz="2000" spc="-15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</a:t>
            </a:r>
          </a:p>
          <a:p>
            <a:pPr marL="927100" lvl="1" indent="-457834" algn="just">
              <a:spcBef>
                <a:spcPts val="48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Input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927100" lvl="1" indent="-457834" algn="just">
              <a:spcBef>
                <a:spcPts val="48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Output</a:t>
            </a:r>
          </a:p>
          <a:p>
            <a:pPr marL="927100" lvl="1" indent="-457834" algn="just">
              <a:spcBef>
                <a:spcPts val="480"/>
              </a:spcBef>
              <a:buAutoNum type="alphaLcParenR"/>
              <a:tabLst>
                <a:tab pos="926465" algn="l"/>
                <a:tab pos="927735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Timing of each</a:t>
            </a:r>
            <a:r>
              <a:rPr lang="en-US" sz="2000" spc="-9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unit</a:t>
            </a:r>
          </a:p>
          <a:p>
            <a:pPr marL="127000" indent="0" algn="just">
              <a:spcBef>
                <a:spcPts val="480"/>
              </a:spcBef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Without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specifying the internal</a:t>
            </a:r>
            <a:r>
              <a:rPr lang="en-US" sz="2000" spc="-114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structure.</a:t>
            </a:r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3A6B2A-6A79-43B5-9E92-9BB1BC840D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5FE198B-0121-4317-A3E4-C8B83E0EB4D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EC1D06-B29D-41B4-9ECB-6D7A3C89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789CC1-A34D-4590-A8E1-1112C5612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grpSp>
        <p:nvGrpSpPr>
          <p:cNvPr id="8" name="object 5">
            <a:extLst>
              <a:ext uri="{FF2B5EF4-FFF2-40B4-BE49-F238E27FC236}">
                <a16:creationId xmlns="" xmlns:a16="http://schemas.microsoft.com/office/drawing/2014/main" id="{4B379E15-264F-407A-9F0F-2E250437DB92}"/>
              </a:ext>
            </a:extLst>
          </p:cNvPr>
          <p:cNvGrpSpPr/>
          <p:nvPr/>
        </p:nvGrpSpPr>
        <p:grpSpPr>
          <a:xfrm>
            <a:off x="9350029" y="3854450"/>
            <a:ext cx="1612900" cy="1536700"/>
            <a:chOff x="7308850" y="603250"/>
            <a:chExt cx="1612900" cy="1536700"/>
          </a:xfrm>
        </p:grpSpPr>
        <p:sp>
          <p:nvSpPr>
            <p:cNvPr id="9" name="object 6">
              <a:extLst>
                <a:ext uri="{FF2B5EF4-FFF2-40B4-BE49-F238E27FC236}">
                  <a16:creationId xmlns="" xmlns:a16="http://schemas.microsoft.com/office/drawing/2014/main" id="{B11C6781-6A55-4C26-8116-B2D6DAA02614}"/>
                </a:ext>
              </a:extLst>
            </p:cNvPr>
            <p:cNvSpPr/>
            <p:nvPr/>
          </p:nvSpPr>
          <p:spPr>
            <a:xfrm>
              <a:off x="7818119" y="827316"/>
              <a:ext cx="640080" cy="689610"/>
            </a:xfrm>
            <a:custGeom>
              <a:avLst/>
              <a:gdLst/>
              <a:ahLst/>
              <a:cxnLst/>
              <a:rect l="l" t="t" r="r" b="b"/>
              <a:pathLst>
                <a:path w="640079" h="689610">
                  <a:moveTo>
                    <a:pt x="0" y="0"/>
                  </a:moveTo>
                  <a:lnTo>
                    <a:pt x="640079" y="0"/>
                  </a:lnTo>
                  <a:lnTo>
                    <a:pt x="640079" y="254000"/>
                  </a:lnTo>
                  <a:lnTo>
                    <a:pt x="0" y="254000"/>
                  </a:lnTo>
                  <a:lnTo>
                    <a:pt x="0" y="0"/>
                  </a:lnTo>
                  <a:close/>
                </a:path>
                <a:path w="640079" h="689610">
                  <a:moveTo>
                    <a:pt x="0" y="435432"/>
                  </a:moveTo>
                  <a:lnTo>
                    <a:pt x="640079" y="435432"/>
                  </a:lnTo>
                  <a:lnTo>
                    <a:pt x="640079" y="689432"/>
                  </a:lnTo>
                  <a:lnTo>
                    <a:pt x="0" y="689432"/>
                  </a:lnTo>
                  <a:lnTo>
                    <a:pt x="0" y="43543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7">
              <a:extLst>
                <a:ext uri="{FF2B5EF4-FFF2-40B4-BE49-F238E27FC236}">
                  <a16:creationId xmlns="" xmlns:a16="http://schemas.microsoft.com/office/drawing/2014/main" id="{B196A089-DF22-48B8-BB84-042FB70F632D}"/>
                </a:ext>
              </a:extLst>
            </p:cNvPr>
            <p:cNvSpPr/>
            <p:nvPr/>
          </p:nvSpPr>
          <p:spPr>
            <a:xfrm>
              <a:off x="7772400" y="1698167"/>
              <a:ext cx="728980" cy="254000"/>
            </a:xfrm>
            <a:custGeom>
              <a:avLst/>
              <a:gdLst/>
              <a:ahLst/>
              <a:cxnLst/>
              <a:rect l="l" t="t" r="r" b="b"/>
              <a:pathLst>
                <a:path w="728979" h="254000">
                  <a:moveTo>
                    <a:pt x="0" y="127000"/>
                  </a:moveTo>
                  <a:lnTo>
                    <a:pt x="364337" y="0"/>
                  </a:lnTo>
                  <a:lnTo>
                    <a:pt x="728662" y="127000"/>
                  </a:lnTo>
                  <a:lnTo>
                    <a:pt x="364337" y="254000"/>
                  </a:lnTo>
                  <a:lnTo>
                    <a:pt x="0" y="1270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8">
              <a:extLst>
                <a:ext uri="{FF2B5EF4-FFF2-40B4-BE49-F238E27FC236}">
                  <a16:creationId xmlns="" xmlns:a16="http://schemas.microsoft.com/office/drawing/2014/main" id="{E51EF21D-7721-46B9-B2FC-D7F3BC4CBD50}"/>
                </a:ext>
              </a:extLst>
            </p:cNvPr>
            <p:cNvSpPr/>
            <p:nvPr/>
          </p:nvSpPr>
          <p:spPr>
            <a:xfrm>
              <a:off x="8138160" y="1081316"/>
              <a:ext cx="0" cy="118110"/>
            </a:xfrm>
            <a:custGeom>
              <a:avLst/>
              <a:gdLst/>
              <a:ahLst/>
              <a:cxnLst/>
              <a:rect l="l" t="t" r="r" b="b"/>
              <a:pathLst>
                <a:path h="118109">
                  <a:moveTo>
                    <a:pt x="0" y="0"/>
                  </a:moveTo>
                  <a:lnTo>
                    <a:pt x="0" y="11793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9">
              <a:extLst>
                <a:ext uri="{FF2B5EF4-FFF2-40B4-BE49-F238E27FC236}">
                  <a16:creationId xmlns="" xmlns:a16="http://schemas.microsoft.com/office/drawing/2014/main" id="{70F1F1A4-6E6C-48D2-9AC8-EB0474E6FB68}"/>
                </a:ext>
              </a:extLst>
            </p:cNvPr>
            <p:cNvSpPr/>
            <p:nvPr/>
          </p:nvSpPr>
          <p:spPr>
            <a:xfrm>
              <a:off x="8100059" y="118654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0">
              <a:extLst>
                <a:ext uri="{FF2B5EF4-FFF2-40B4-BE49-F238E27FC236}">
                  <a16:creationId xmlns="" xmlns:a16="http://schemas.microsoft.com/office/drawing/2014/main" id="{ED8CA571-3E15-44F5-9C10-8D2596D59A50}"/>
                </a:ext>
              </a:extLst>
            </p:cNvPr>
            <p:cNvSpPr/>
            <p:nvPr/>
          </p:nvSpPr>
          <p:spPr>
            <a:xfrm>
              <a:off x="8138160" y="1516748"/>
              <a:ext cx="0" cy="118110"/>
            </a:xfrm>
            <a:custGeom>
              <a:avLst/>
              <a:gdLst/>
              <a:ahLst/>
              <a:cxnLst/>
              <a:rect l="l" t="t" r="r" b="b"/>
              <a:pathLst>
                <a:path h="118110">
                  <a:moveTo>
                    <a:pt x="0" y="0"/>
                  </a:moveTo>
                  <a:lnTo>
                    <a:pt x="0" y="11793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1">
              <a:extLst>
                <a:ext uri="{FF2B5EF4-FFF2-40B4-BE49-F238E27FC236}">
                  <a16:creationId xmlns="" xmlns:a16="http://schemas.microsoft.com/office/drawing/2014/main" id="{29A22795-5721-469D-9D51-CF4ED0EED21D}"/>
                </a:ext>
              </a:extLst>
            </p:cNvPr>
            <p:cNvSpPr/>
            <p:nvPr/>
          </p:nvSpPr>
          <p:spPr>
            <a:xfrm>
              <a:off x="8100059" y="16219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2">
              <a:extLst>
                <a:ext uri="{FF2B5EF4-FFF2-40B4-BE49-F238E27FC236}">
                  <a16:creationId xmlns="" xmlns:a16="http://schemas.microsoft.com/office/drawing/2014/main" id="{6ADC23F0-CF43-4BF1-B5EF-39F8E1647AD1}"/>
                </a:ext>
              </a:extLst>
            </p:cNvPr>
            <p:cNvSpPr/>
            <p:nvPr/>
          </p:nvSpPr>
          <p:spPr>
            <a:xfrm>
              <a:off x="7476172" y="1389748"/>
              <a:ext cx="342265" cy="435609"/>
            </a:xfrm>
            <a:custGeom>
              <a:avLst/>
              <a:gdLst/>
              <a:ahLst/>
              <a:cxnLst/>
              <a:rect l="l" t="t" r="r" b="b"/>
              <a:pathLst>
                <a:path w="342265" h="435610">
                  <a:moveTo>
                    <a:pt x="341947" y="0"/>
                  </a:moveTo>
                  <a:lnTo>
                    <a:pt x="0" y="0"/>
                  </a:lnTo>
                  <a:lnTo>
                    <a:pt x="0" y="435432"/>
                  </a:lnTo>
                  <a:lnTo>
                    <a:pt x="232727" y="435432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3">
              <a:extLst>
                <a:ext uri="{FF2B5EF4-FFF2-40B4-BE49-F238E27FC236}">
                  <a16:creationId xmlns="" xmlns:a16="http://schemas.microsoft.com/office/drawing/2014/main" id="{831C1BA0-6112-4365-9433-EF02D665309C}"/>
                </a:ext>
              </a:extLst>
            </p:cNvPr>
            <p:cNvSpPr/>
            <p:nvPr/>
          </p:nvSpPr>
          <p:spPr>
            <a:xfrm>
              <a:off x="7696200" y="1787067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0"/>
                  </a:moveTo>
                  <a:lnTo>
                    <a:pt x="0" y="76200"/>
                  </a:lnTo>
                  <a:lnTo>
                    <a:pt x="76200" y="38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4">
              <a:extLst>
                <a:ext uri="{FF2B5EF4-FFF2-40B4-BE49-F238E27FC236}">
                  <a16:creationId xmlns="" xmlns:a16="http://schemas.microsoft.com/office/drawing/2014/main" id="{A35FC617-92CF-4FB7-BD20-A85E877F2D97}"/>
                </a:ext>
              </a:extLst>
            </p:cNvPr>
            <p:cNvSpPr/>
            <p:nvPr/>
          </p:nvSpPr>
          <p:spPr>
            <a:xfrm>
              <a:off x="8501062" y="954316"/>
              <a:ext cx="264795" cy="871219"/>
            </a:xfrm>
            <a:custGeom>
              <a:avLst/>
              <a:gdLst/>
              <a:ahLst/>
              <a:cxnLst/>
              <a:rect l="l" t="t" r="r" b="b"/>
              <a:pathLst>
                <a:path w="264795" h="871219">
                  <a:moveTo>
                    <a:pt x="0" y="870851"/>
                  </a:moveTo>
                  <a:lnTo>
                    <a:pt x="264795" y="870851"/>
                  </a:lnTo>
                  <a:lnTo>
                    <a:pt x="264795" y="0"/>
                  </a:lnTo>
                  <a:lnTo>
                    <a:pt x="20637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5">
              <a:extLst>
                <a:ext uri="{FF2B5EF4-FFF2-40B4-BE49-F238E27FC236}">
                  <a16:creationId xmlns="" xmlns:a16="http://schemas.microsoft.com/office/drawing/2014/main" id="{F5B7E191-01FD-4D2A-A349-F99018E8A406}"/>
                </a:ext>
              </a:extLst>
            </p:cNvPr>
            <p:cNvSpPr/>
            <p:nvPr/>
          </p:nvSpPr>
          <p:spPr>
            <a:xfrm>
              <a:off x="8458200" y="9162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6">
              <a:extLst>
                <a:ext uri="{FF2B5EF4-FFF2-40B4-BE49-F238E27FC236}">
                  <a16:creationId xmlns="" xmlns:a16="http://schemas.microsoft.com/office/drawing/2014/main" id="{BA04405C-0E3C-4D51-9457-B376BB9EC95C}"/>
                </a:ext>
              </a:extLst>
            </p:cNvPr>
            <p:cNvSpPr/>
            <p:nvPr/>
          </p:nvSpPr>
          <p:spPr>
            <a:xfrm>
              <a:off x="7315200" y="609600"/>
              <a:ext cx="1600200" cy="1524000"/>
            </a:xfrm>
            <a:custGeom>
              <a:avLst/>
              <a:gdLst/>
              <a:ahLst/>
              <a:cxnLst/>
              <a:rect l="l" t="t" r="r" b="b"/>
              <a:pathLst>
                <a:path w="1600200" h="1524000">
                  <a:moveTo>
                    <a:pt x="0" y="0"/>
                  </a:moveTo>
                  <a:lnTo>
                    <a:pt x="1600200" y="0"/>
                  </a:lnTo>
                  <a:lnTo>
                    <a:pt x="1600200" y="1524000"/>
                  </a:lnTo>
                  <a:lnTo>
                    <a:pt x="0" y="15240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17">
              <a:extLst>
                <a:ext uri="{FF2B5EF4-FFF2-40B4-BE49-F238E27FC236}">
                  <a16:creationId xmlns="" xmlns:a16="http://schemas.microsoft.com/office/drawing/2014/main" id="{7DEFEFBC-9DFC-4AF2-9FD3-298CF674ADD4}"/>
                </a:ext>
              </a:extLst>
            </p:cNvPr>
            <p:cNvSpPr/>
            <p:nvPr/>
          </p:nvSpPr>
          <p:spPr>
            <a:xfrm>
              <a:off x="8138160" y="682167"/>
              <a:ext cx="0" cy="81915"/>
            </a:xfrm>
            <a:custGeom>
              <a:avLst/>
              <a:gdLst/>
              <a:ahLst/>
              <a:cxnLst/>
              <a:rect l="l" t="t" r="r" b="b"/>
              <a:pathLst>
                <a:path h="81915">
                  <a:moveTo>
                    <a:pt x="0" y="0"/>
                  </a:moveTo>
                  <a:lnTo>
                    <a:pt x="0" y="816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18">
              <a:extLst>
                <a:ext uri="{FF2B5EF4-FFF2-40B4-BE49-F238E27FC236}">
                  <a16:creationId xmlns="" xmlns:a16="http://schemas.microsoft.com/office/drawing/2014/main" id="{5880E310-1170-4EE6-BF4D-F6E105626351}"/>
                </a:ext>
              </a:extLst>
            </p:cNvPr>
            <p:cNvSpPr/>
            <p:nvPr/>
          </p:nvSpPr>
          <p:spPr>
            <a:xfrm>
              <a:off x="8100059" y="751116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19">
              <a:extLst>
                <a:ext uri="{FF2B5EF4-FFF2-40B4-BE49-F238E27FC236}">
                  <a16:creationId xmlns="" xmlns:a16="http://schemas.microsoft.com/office/drawing/2014/main" id="{DEEEDEC3-AB34-4E29-8176-8E3D9E014030}"/>
                </a:ext>
              </a:extLst>
            </p:cNvPr>
            <p:cNvSpPr/>
            <p:nvPr/>
          </p:nvSpPr>
          <p:spPr>
            <a:xfrm>
              <a:off x="8138160" y="1952167"/>
              <a:ext cx="0" cy="45720"/>
            </a:xfrm>
            <a:custGeom>
              <a:avLst/>
              <a:gdLst/>
              <a:ahLst/>
              <a:cxnLst/>
              <a:rect l="l" t="t" r="r" b="b"/>
              <a:pathLst>
                <a:path h="45719">
                  <a:moveTo>
                    <a:pt x="0" y="0"/>
                  </a:moveTo>
                  <a:lnTo>
                    <a:pt x="0" y="4535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0">
              <a:extLst>
                <a:ext uri="{FF2B5EF4-FFF2-40B4-BE49-F238E27FC236}">
                  <a16:creationId xmlns="" xmlns:a16="http://schemas.microsoft.com/office/drawing/2014/main" id="{F27D98A3-6736-4D81-B0B7-199E8DA9A63E}"/>
                </a:ext>
              </a:extLst>
            </p:cNvPr>
            <p:cNvSpPr/>
            <p:nvPr/>
          </p:nvSpPr>
          <p:spPr>
            <a:xfrm>
              <a:off x="8100059" y="19848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76200" y="0"/>
                  </a:moveTo>
                  <a:lnTo>
                    <a:pt x="0" y="0"/>
                  </a:lnTo>
                  <a:lnTo>
                    <a:pt x="38100" y="762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Title 1">
            <a:extLst>
              <a:ext uri="{FF2B5EF4-FFF2-40B4-BE49-F238E27FC236}">
                <a16:creationId xmlns="" xmlns:a16="http://schemas.microsoft.com/office/drawing/2014/main" id="{7FCE09C3-27B0-CE92-5EA6-20BE3827D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922736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1DD66BD-3D50-4898-8B58-0B0C55221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371600"/>
            <a:ext cx="11125202" cy="4953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6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Logic Design</a:t>
            </a:r>
            <a:r>
              <a:rPr lang="en-IN" sz="2800" b="1" dirty="0">
                <a:latin typeface="Comic Sans MS"/>
                <a:cs typeface="Comic Sans MS"/>
              </a:rPr>
              <a:t> 				</a:t>
            </a:r>
            <a:r>
              <a:rPr lang="en-IN" sz="2200" b="1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X = </a:t>
            </a:r>
            <a:r>
              <a:rPr lang="en-IN" sz="22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(AB+CD)(E+F)  							</a:t>
            </a:r>
            <a:r>
              <a:rPr lang="en-IN" sz="2200" b="1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Y= </a:t>
            </a:r>
            <a:r>
              <a:rPr lang="en-IN" sz="22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(A(B+C) </a:t>
            </a:r>
            <a:r>
              <a:rPr lang="en-IN" sz="2200" b="1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+ Z +</a:t>
            </a:r>
            <a:r>
              <a:rPr lang="en-IN" sz="2200" b="1" spc="-85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IN" sz="2200" b="1" dirty="0">
                <a:solidFill>
                  <a:srgbClr val="C00000"/>
                </a:solidFill>
                <a:latin typeface="Bookman Old Style" panose="02050604050505020204" pitchFamily="18" charset="0"/>
                <a:cs typeface="Comic Sans MS"/>
              </a:rPr>
              <a:t>D)</a:t>
            </a:r>
            <a:endParaRPr lang="en-IN" sz="1900" b="1" spc="-5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457200" indent="-457200" algn="just" fontAlgn="t">
              <a:buFont typeface="+mj-lt"/>
              <a:buAutoNum type="arabicPeriod"/>
            </a:pP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Design the logic, that is</a:t>
            </a:r>
          </a:p>
          <a:p>
            <a:pPr lvl="3" algn="just" fontAlgn="t"/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Boolean expressions,</a:t>
            </a:r>
          </a:p>
          <a:p>
            <a:pPr lvl="3" algn="just" fontAlgn="t"/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control flow,</a:t>
            </a:r>
          </a:p>
          <a:p>
            <a:pPr lvl="3" algn="just" fontAlgn="t"/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word width,</a:t>
            </a:r>
          </a:p>
          <a:p>
            <a:pPr lvl="3" algn="just" fontAlgn="t"/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register allocation, etc.</a:t>
            </a:r>
          </a:p>
          <a:p>
            <a:pPr marL="457200" indent="-457200" algn="just" fontAlgn="t">
              <a:buFont typeface="+mj-lt"/>
              <a:buAutoNum type="arabicPeriod"/>
            </a:pP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The </a:t>
            </a:r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outcome</a:t>
            </a: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 is called an </a:t>
            </a:r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RTL</a:t>
            </a: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 (Register Transfer Level)  description. </a:t>
            </a:r>
          </a:p>
          <a:p>
            <a:pPr marL="457200" indent="-457200" algn="just" fontAlgn="t">
              <a:buFont typeface="+mj-lt"/>
              <a:buAutoNum type="arabicPeriod"/>
            </a:pP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RTL is expressed in a HDL (Hardware  Description Language), such as VHDL and Verilog.</a:t>
            </a:r>
            <a:r>
              <a:rPr lang="en-IN" sz="2400" b="1" dirty="0">
                <a:latin typeface="Comic Sans MS"/>
                <a:cs typeface="Comic Sans MS"/>
              </a:rPr>
              <a:t> </a:t>
            </a:r>
            <a:endParaRPr lang="en-IN" sz="2400" dirty="0">
              <a:latin typeface="Comic Sans MS"/>
              <a:cs typeface="Comic Sans MS"/>
            </a:endParaRPr>
          </a:p>
          <a:p>
            <a:pPr marL="457200" indent="-457200" algn="just" fontAlgn="t">
              <a:buFont typeface="+mj-lt"/>
              <a:buAutoNum type="arabicPeriod"/>
            </a:pP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description can be used in </a:t>
            </a:r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simulation and  verification</a:t>
            </a: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marL="457200" indent="-457200" algn="just" fontAlgn="t">
              <a:buFont typeface="+mj-lt"/>
              <a:buAutoNum type="arabicPeriod"/>
            </a:pP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As this description consists of </a:t>
            </a:r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Boolean expressions</a:t>
            </a: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, so  they </a:t>
            </a:r>
            <a:r>
              <a:rPr lang="en-IN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can be minimized</a:t>
            </a:r>
            <a:r>
              <a:rPr lang="en-IN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 to achieve the smallest logic  design.</a:t>
            </a:r>
          </a:p>
          <a:p>
            <a:pPr marL="0" indent="0">
              <a:buNone/>
            </a:pPr>
            <a:endParaRPr lang="en-IN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3A6B2A-6A79-43B5-9E92-9BB1BC840D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3F904FA-E694-49F6-8ED3-28DF5ECBAA2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EC1D06-B29D-41B4-9ECB-6D7A3C89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789CC1-A34D-4590-A8E1-1112C5612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7A28229C-E9DC-8C52-184A-FEEC05742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521579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1DD66BD-3D50-4898-8B58-0B0C55221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371600"/>
            <a:ext cx="113538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Circuit Design</a:t>
            </a:r>
            <a:r>
              <a:rPr lang="en-IN" sz="2800" b="1" dirty="0">
                <a:latin typeface="Comic Sans MS"/>
                <a:cs typeface="Comic Sans MS"/>
              </a:rPr>
              <a:t>	</a:t>
            </a:r>
          </a:p>
          <a:p>
            <a:pPr marL="621665" marR="212090" indent="-609600" algn="just">
              <a:spcBef>
                <a:spcPts val="105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The purpose of the circuit design is to develop a circuit  representation based on the </a:t>
            </a:r>
            <a:r>
              <a:rPr lang="en-US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logic design</a:t>
            </a: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marL="621665" marR="5080" indent="-609600" algn="just">
              <a:spcBef>
                <a:spcPts val="4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Boolean expression can be converted into a circuit  representation by taking into consideration the speed and  power requirements of the original design.</a:t>
            </a:r>
          </a:p>
          <a:p>
            <a:pPr marL="621665" marR="436245" indent="-609600" algn="just">
              <a:spcBef>
                <a:spcPts val="4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Design the circuit including </a:t>
            </a:r>
            <a:r>
              <a:rPr lang="en-US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gates, transistors</a:t>
            </a: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, interconnections, etc. The outcome is called a </a:t>
            </a:r>
            <a:r>
              <a:rPr lang="en-US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netlist</a:t>
            </a: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marL="622300" marR="317500" indent="-609600" algn="just">
              <a:spcBef>
                <a:spcPts val="48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2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Circuit simulation </a:t>
            </a:r>
            <a:r>
              <a:rPr lang="en-US" sz="22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is used to verify the correctness and  timing of component.</a:t>
            </a:r>
          </a:p>
          <a:p>
            <a:pPr marL="0" indent="0" algn="just">
              <a:buNone/>
            </a:pPr>
            <a:r>
              <a:rPr lang="en-IN" sz="2800" b="1" dirty="0">
                <a:latin typeface="Comic Sans MS"/>
                <a:cs typeface="Comic Sans MS"/>
              </a:rPr>
              <a:t>			</a:t>
            </a:r>
            <a:endParaRPr lang="en-IN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3A6B2A-6A79-43B5-9E92-9BB1BC840D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38A38A3-D646-4447-BF28-592136067E5F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EC1D06-B29D-41B4-9ECB-6D7A3C89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789CC1-A34D-4590-A8E1-1112C5612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87B1C333-7FE4-4954-8603-D43D81EF3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1" y="4800600"/>
            <a:ext cx="2828925" cy="1528762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8BB50E90-2294-7D79-385F-626F5267F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713077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1DD66BD-3D50-4898-8B58-0B0C55221A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968" y="1812931"/>
            <a:ext cx="11811000" cy="31368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6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Physical Design </a:t>
            </a:r>
            <a:r>
              <a:rPr lang="en-IN" sz="2800" b="1" dirty="0">
                <a:latin typeface="Comic Sans MS"/>
                <a:cs typeface="Comic Sans MS"/>
              </a:rPr>
              <a:t>	</a:t>
            </a:r>
          </a:p>
          <a:p>
            <a:pPr marL="621665" marR="488950" indent="-609600" algn="just">
              <a:spcBef>
                <a:spcPts val="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circuit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representation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of each component</a:t>
            </a:r>
            <a:r>
              <a:rPr lang="en-US" sz="2000" spc="-17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converted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into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geometric</a:t>
            </a:r>
            <a:r>
              <a:rPr lang="en-US" sz="2000" spc="-1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representation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.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605155" marR="5080" indent="-605155" algn="just">
              <a:spcBef>
                <a:spcPts val="0"/>
              </a:spcBef>
              <a:buAutoNum type="arabicPeriod"/>
              <a:tabLst>
                <a:tab pos="605155" algn="l"/>
                <a:tab pos="60579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Convert the netlist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into a geometric</a:t>
            </a:r>
            <a:r>
              <a:rPr lang="en-US" sz="2000" spc="-1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representation. 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outcome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is called a</a:t>
            </a:r>
            <a:r>
              <a:rPr lang="en-US" sz="2000" spc="-14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layout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.</a:t>
            </a:r>
          </a:p>
          <a:p>
            <a:pPr marL="605155" marR="108585" indent="-605155" algn="just">
              <a:spcBef>
                <a:spcPts val="0"/>
              </a:spcBef>
              <a:buAutoNum type="arabicPeriod"/>
              <a:tabLst>
                <a:tab pos="605155" algn="l"/>
                <a:tab pos="605790" algn="l"/>
              </a:tabLst>
            </a:pP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Connections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between different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components are</a:t>
            </a:r>
            <a:r>
              <a:rPr lang="en-US" sz="2000" spc="-8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also  expressed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as a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geometric</a:t>
            </a:r>
            <a:r>
              <a:rPr lang="en-US" sz="2000" spc="-9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pattern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.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605155" indent="-593090" algn="just">
              <a:spcBef>
                <a:spcPts val="0"/>
              </a:spcBef>
              <a:buAutoNum type="arabicPeriod"/>
              <a:tabLst>
                <a:tab pos="605155" algn="l"/>
                <a:tab pos="605790" algn="l"/>
              </a:tabLst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Exact details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depends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upon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design</a:t>
            </a:r>
            <a:r>
              <a:rPr lang="en-US" sz="2000" spc="-10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rules</a:t>
            </a: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621665" marR="462280" indent="-621665" algn="just">
              <a:spcBef>
                <a:spcPts val="0"/>
              </a:spcBef>
              <a:buAutoNum type="arabicPeriod"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a complex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process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and usually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broken</a:t>
            </a:r>
            <a:r>
              <a:rPr lang="en-US" sz="2000" spc="-15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down 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into</a:t>
            </a:r>
            <a:r>
              <a:rPr lang="en-US" sz="2000" spc="-2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sub-steps.</a:t>
            </a: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558165" marR="817244" indent="-546100" algn="just">
              <a:spcBef>
                <a:spcPts val="0"/>
              </a:spcBef>
              <a:buFont typeface="Comic Sans MS"/>
              <a:buAutoNum type="arabicPeriod"/>
              <a:tabLst>
                <a:tab pos="621665" algn="l"/>
                <a:tab pos="62230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Various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verification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Comic Sans MS"/>
              </a:rPr>
              <a:t>validation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checks</a:t>
            </a:r>
            <a:r>
              <a:rPr lang="en-US" sz="2000" spc="-19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are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performed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on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the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layout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during physical  design.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12065" marR="212090" indent="0" algn="just"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endParaRPr lang="en-IN" sz="24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3A6B2A-6A79-43B5-9E92-9BB1BC840D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45D9E76-2ACC-4D12-BDA4-900FE134368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5EC1D06-B29D-41B4-9ECB-6D7A3C8962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789CC1-A34D-4590-A8E1-1112C56120C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grpSp>
        <p:nvGrpSpPr>
          <p:cNvPr id="8" name="object 12">
            <a:extLst>
              <a:ext uri="{FF2B5EF4-FFF2-40B4-BE49-F238E27FC236}">
                <a16:creationId xmlns="" xmlns:a16="http://schemas.microsoft.com/office/drawing/2014/main" id="{853077F2-CBA6-4756-8F74-B7713A984079}"/>
              </a:ext>
            </a:extLst>
          </p:cNvPr>
          <p:cNvGrpSpPr/>
          <p:nvPr/>
        </p:nvGrpSpPr>
        <p:grpSpPr>
          <a:xfrm>
            <a:off x="9220200" y="4648200"/>
            <a:ext cx="1765300" cy="1530350"/>
            <a:chOff x="7080250" y="4718050"/>
            <a:chExt cx="1765300" cy="1765300"/>
          </a:xfrm>
        </p:grpSpPr>
        <p:sp>
          <p:nvSpPr>
            <p:cNvPr id="9" name="object 13">
              <a:extLst>
                <a:ext uri="{FF2B5EF4-FFF2-40B4-BE49-F238E27FC236}">
                  <a16:creationId xmlns="" xmlns:a16="http://schemas.microsoft.com/office/drawing/2014/main" id="{3D25FAEB-E610-495C-A373-E60971433430}"/>
                </a:ext>
              </a:extLst>
            </p:cNvPr>
            <p:cNvSpPr/>
            <p:nvPr/>
          </p:nvSpPr>
          <p:spPr>
            <a:xfrm>
              <a:off x="7086600" y="4724400"/>
              <a:ext cx="1752600" cy="1752600"/>
            </a:xfrm>
            <a:custGeom>
              <a:avLst/>
              <a:gdLst/>
              <a:ahLst/>
              <a:cxnLst/>
              <a:rect l="l" t="t" r="r" b="b"/>
              <a:pathLst>
                <a:path w="1752600" h="1752600">
                  <a:moveTo>
                    <a:pt x="394334" y="223735"/>
                  </a:moveTo>
                  <a:lnTo>
                    <a:pt x="1139189" y="223735"/>
                  </a:lnTo>
                  <a:lnTo>
                    <a:pt x="1139189" y="410184"/>
                  </a:lnTo>
                  <a:lnTo>
                    <a:pt x="394334" y="410184"/>
                  </a:lnTo>
                  <a:lnTo>
                    <a:pt x="394334" y="223735"/>
                  </a:lnTo>
                  <a:close/>
                </a:path>
                <a:path w="1752600" h="1752600">
                  <a:moveTo>
                    <a:pt x="262890" y="447471"/>
                  </a:moveTo>
                  <a:lnTo>
                    <a:pt x="569595" y="447471"/>
                  </a:lnTo>
                  <a:lnTo>
                    <a:pt x="569595" y="969518"/>
                  </a:lnTo>
                  <a:lnTo>
                    <a:pt x="262890" y="969518"/>
                  </a:lnTo>
                  <a:lnTo>
                    <a:pt x="262890" y="447471"/>
                  </a:lnTo>
                  <a:close/>
                </a:path>
                <a:path w="1752600" h="1752600">
                  <a:moveTo>
                    <a:pt x="701040" y="596633"/>
                  </a:moveTo>
                  <a:lnTo>
                    <a:pt x="1183005" y="596633"/>
                  </a:lnTo>
                  <a:lnTo>
                    <a:pt x="1183005" y="894943"/>
                  </a:lnTo>
                  <a:lnTo>
                    <a:pt x="701040" y="894943"/>
                  </a:lnTo>
                  <a:lnTo>
                    <a:pt x="701040" y="596633"/>
                  </a:lnTo>
                  <a:close/>
                </a:path>
                <a:path w="1752600" h="1752600">
                  <a:moveTo>
                    <a:pt x="1270634" y="372897"/>
                  </a:moveTo>
                  <a:lnTo>
                    <a:pt x="1489709" y="372897"/>
                  </a:lnTo>
                  <a:lnTo>
                    <a:pt x="1489709" y="1305128"/>
                  </a:lnTo>
                  <a:lnTo>
                    <a:pt x="1270634" y="1305128"/>
                  </a:lnTo>
                  <a:lnTo>
                    <a:pt x="1270634" y="372897"/>
                  </a:lnTo>
                  <a:close/>
                </a:path>
                <a:path w="1752600" h="1752600">
                  <a:moveTo>
                    <a:pt x="438150" y="1044105"/>
                  </a:moveTo>
                  <a:lnTo>
                    <a:pt x="1183004" y="1044105"/>
                  </a:lnTo>
                  <a:lnTo>
                    <a:pt x="1183004" y="1528864"/>
                  </a:lnTo>
                  <a:lnTo>
                    <a:pt x="438150" y="1528864"/>
                  </a:lnTo>
                  <a:lnTo>
                    <a:pt x="438150" y="1044105"/>
                  </a:lnTo>
                  <a:close/>
                </a:path>
                <a:path w="1752600" h="1752600">
                  <a:moveTo>
                    <a:pt x="0" y="0"/>
                  </a:moveTo>
                  <a:lnTo>
                    <a:pt x="1752600" y="0"/>
                  </a:lnTo>
                  <a:lnTo>
                    <a:pt x="1752600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4">
              <a:extLst>
                <a:ext uri="{FF2B5EF4-FFF2-40B4-BE49-F238E27FC236}">
                  <a16:creationId xmlns="" xmlns:a16="http://schemas.microsoft.com/office/drawing/2014/main" id="{A41331AA-195C-4691-951B-46876AB63865}"/>
                </a:ext>
              </a:extLst>
            </p:cNvPr>
            <p:cNvSpPr/>
            <p:nvPr/>
          </p:nvSpPr>
          <p:spPr>
            <a:xfrm>
              <a:off x="7130415" y="4761687"/>
              <a:ext cx="1664970" cy="1678305"/>
            </a:xfrm>
            <a:custGeom>
              <a:avLst/>
              <a:gdLst/>
              <a:ahLst/>
              <a:cxnLst/>
              <a:rect l="l" t="t" r="r" b="b"/>
              <a:pathLst>
                <a:path w="1664970" h="1678304">
                  <a:moveTo>
                    <a:pt x="131445" y="1566151"/>
                  </a:moveTo>
                  <a:lnTo>
                    <a:pt x="0" y="1566151"/>
                  </a:lnTo>
                  <a:lnTo>
                    <a:pt x="0" y="1678025"/>
                  </a:lnTo>
                  <a:lnTo>
                    <a:pt x="131445" y="1678025"/>
                  </a:lnTo>
                  <a:lnTo>
                    <a:pt x="131445" y="1566151"/>
                  </a:lnTo>
                  <a:close/>
                </a:path>
                <a:path w="1664970" h="1678304">
                  <a:moveTo>
                    <a:pt x="131445" y="1044105"/>
                  </a:moveTo>
                  <a:lnTo>
                    <a:pt x="0" y="1044105"/>
                  </a:lnTo>
                  <a:lnTo>
                    <a:pt x="0" y="1155979"/>
                  </a:lnTo>
                  <a:lnTo>
                    <a:pt x="131445" y="1155979"/>
                  </a:lnTo>
                  <a:lnTo>
                    <a:pt x="131445" y="1044105"/>
                  </a:lnTo>
                  <a:close/>
                </a:path>
                <a:path w="1664970" h="1678304">
                  <a:moveTo>
                    <a:pt x="131445" y="522058"/>
                  </a:moveTo>
                  <a:lnTo>
                    <a:pt x="0" y="522058"/>
                  </a:lnTo>
                  <a:lnTo>
                    <a:pt x="0" y="633933"/>
                  </a:lnTo>
                  <a:lnTo>
                    <a:pt x="131445" y="633933"/>
                  </a:lnTo>
                  <a:lnTo>
                    <a:pt x="131445" y="522058"/>
                  </a:lnTo>
                  <a:close/>
                </a:path>
                <a:path w="1664970" h="1678304">
                  <a:moveTo>
                    <a:pt x="131445" y="0"/>
                  </a:moveTo>
                  <a:lnTo>
                    <a:pt x="0" y="0"/>
                  </a:lnTo>
                  <a:lnTo>
                    <a:pt x="0" y="111874"/>
                  </a:lnTo>
                  <a:lnTo>
                    <a:pt x="131445" y="111874"/>
                  </a:lnTo>
                  <a:lnTo>
                    <a:pt x="131445" y="0"/>
                  </a:lnTo>
                  <a:close/>
                </a:path>
                <a:path w="1664970" h="1678304">
                  <a:moveTo>
                    <a:pt x="876300" y="0"/>
                  </a:moveTo>
                  <a:lnTo>
                    <a:pt x="744855" y="0"/>
                  </a:lnTo>
                  <a:lnTo>
                    <a:pt x="744855" y="111874"/>
                  </a:lnTo>
                  <a:lnTo>
                    <a:pt x="876300" y="111874"/>
                  </a:lnTo>
                  <a:lnTo>
                    <a:pt x="876300" y="0"/>
                  </a:lnTo>
                  <a:close/>
                </a:path>
                <a:path w="1664970" h="1678304">
                  <a:moveTo>
                    <a:pt x="920115" y="1566151"/>
                  </a:moveTo>
                  <a:lnTo>
                    <a:pt x="788670" y="1566151"/>
                  </a:lnTo>
                  <a:lnTo>
                    <a:pt x="788670" y="1678025"/>
                  </a:lnTo>
                  <a:lnTo>
                    <a:pt x="920115" y="1678025"/>
                  </a:lnTo>
                  <a:lnTo>
                    <a:pt x="920115" y="1566151"/>
                  </a:lnTo>
                  <a:close/>
                </a:path>
                <a:path w="1664970" h="1678304">
                  <a:moveTo>
                    <a:pt x="1664970" y="1566151"/>
                  </a:moveTo>
                  <a:lnTo>
                    <a:pt x="1533525" y="1566151"/>
                  </a:lnTo>
                  <a:lnTo>
                    <a:pt x="1533525" y="1678025"/>
                  </a:lnTo>
                  <a:lnTo>
                    <a:pt x="1664970" y="1678025"/>
                  </a:lnTo>
                  <a:lnTo>
                    <a:pt x="1664970" y="1566151"/>
                  </a:lnTo>
                  <a:close/>
                </a:path>
                <a:path w="1664970" h="1678304">
                  <a:moveTo>
                    <a:pt x="1664970" y="1044105"/>
                  </a:moveTo>
                  <a:lnTo>
                    <a:pt x="1533525" y="1044105"/>
                  </a:lnTo>
                  <a:lnTo>
                    <a:pt x="1533525" y="1155979"/>
                  </a:lnTo>
                  <a:lnTo>
                    <a:pt x="1664970" y="1155979"/>
                  </a:lnTo>
                  <a:lnTo>
                    <a:pt x="1664970" y="1044105"/>
                  </a:lnTo>
                  <a:close/>
                </a:path>
                <a:path w="1664970" h="1678304">
                  <a:moveTo>
                    <a:pt x="1664970" y="522058"/>
                  </a:moveTo>
                  <a:lnTo>
                    <a:pt x="1533525" y="522058"/>
                  </a:lnTo>
                  <a:lnTo>
                    <a:pt x="1533525" y="633933"/>
                  </a:lnTo>
                  <a:lnTo>
                    <a:pt x="1664970" y="633933"/>
                  </a:lnTo>
                  <a:lnTo>
                    <a:pt x="1664970" y="522058"/>
                  </a:lnTo>
                  <a:close/>
                </a:path>
                <a:path w="1664970" h="1678304">
                  <a:moveTo>
                    <a:pt x="1664970" y="0"/>
                  </a:moveTo>
                  <a:lnTo>
                    <a:pt x="1533525" y="0"/>
                  </a:lnTo>
                  <a:lnTo>
                    <a:pt x="1533525" y="111874"/>
                  </a:lnTo>
                  <a:lnTo>
                    <a:pt x="1664970" y="111874"/>
                  </a:lnTo>
                  <a:lnTo>
                    <a:pt x="166497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5">
              <a:extLst>
                <a:ext uri="{FF2B5EF4-FFF2-40B4-BE49-F238E27FC236}">
                  <a16:creationId xmlns="" xmlns:a16="http://schemas.microsoft.com/office/drawing/2014/main" id="{8FE62657-585B-454A-B0F0-D79ADF2C7D8A}"/>
                </a:ext>
              </a:extLst>
            </p:cNvPr>
            <p:cNvSpPr/>
            <p:nvPr/>
          </p:nvSpPr>
          <p:spPr>
            <a:xfrm>
              <a:off x="7656194" y="5470182"/>
              <a:ext cx="131445" cy="1270"/>
            </a:xfrm>
            <a:custGeom>
              <a:avLst/>
              <a:gdLst/>
              <a:ahLst/>
              <a:cxnLst/>
              <a:rect l="l" t="t" r="r" b="b"/>
              <a:pathLst>
                <a:path w="131445" h="1270">
                  <a:moveTo>
                    <a:pt x="0" y="0"/>
                  </a:moveTo>
                  <a:lnTo>
                    <a:pt x="131445" y="7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6">
              <a:extLst>
                <a:ext uri="{FF2B5EF4-FFF2-40B4-BE49-F238E27FC236}">
                  <a16:creationId xmlns="" xmlns:a16="http://schemas.microsoft.com/office/drawing/2014/main" id="{FB5C7486-33BA-4B37-A0F1-A1E1307EE524}"/>
                </a:ext>
              </a:extLst>
            </p:cNvPr>
            <p:cNvSpPr/>
            <p:nvPr/>
          </p:nvSpPr>
          <p:spPr>
            <a:xfrm>
              <a:off x="7700009" y="5134584"/>
              <a:ext cx="0" cy="335915"/>
            </a:xfrm>
            <a:custGeom>
              <a:avLst/>
              <a:gdLst/>
              <a:ahLst/>
              <a:cxnLst/>
              <a:rect l="l" t="t" r="r" b="b"/>
              <a:pathLst>
                <a:path h="335914">
                  <a:moveTo>
                    <a:pt x="0" y="0"/>
                  </a:moveTo>
                  <a:lnTo>
                    <a:pt x="0" y="33561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7">
              <a:extLst>
                <a:ext uri="{FF2B5EF4-FFF2-40B4-BE49-F238E27FC236}">
                  <a16:creationId xmlns="" xmlns:a16="http://schemas.microsoft.com/office/drawing/2014/main" id="{A3888DC8-BE1C-4B5E-B93F-E185FA90C35E}"/>
                </a:ext>
              </a:extLst>
            </p:cNvPr>
            <p:cNvSpPr/>
            <p:nvPr/>
          </p:nvSpPr>
          <p:spPr>
            <a:xfrm>
              <a:off x="7700009" y="5246446"/>
              <a:ext cx="657225" cy="0"/>
            </a:xfrm>
            <a:custGeom>
              <a:avLst/>
              <a:gdLst/>
              <a:ahLst/>
              <a:cxnLst/>
              <a:rect l="l" t="t" r="r" b="b"/>
              <a:pathLst>
                <a:path w="657225">
                  <a:moveTo>
                    <a:pt x="0" y="0"/>
                  </a:moveTo>
                  <a:lnTo>
                    <a:pt x="65722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8">
              <a:extLst>
                <a:ext uri="{FF2B5EF4-FFF2-40B4-BE49-F238E27FC236}">
                  <a16:creationId xmlns="" xmlns:a16="http://schemas.microsoft.com/office/drawing/2014/main" id="{B4B28905-C342-4FA5-88E5-AA4E9787B6CE}"/>
                </a:ext>
              </a:extLst>
            </p:cNvPr>
            <p:cNvSpPr/>
            <p:nvPr/>
          </p:nvSpPr>
          <p:spPr>
            <a:xfrm>
              <a:off x="8269605" y="5507481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>
                  <a:moveTo>
                    <a:pt x="0" y="0"/>
                  </a:moveTo>
                  <a:lnTo>
                    <a:pt x="8763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9">
              <a:extLst>
                <a:ext uri="{FF2B5EF4-FFF2-40B4-BE49-F238E27FC236}">
                  <a16:creationId xmlns="" xmlns:a16="http://schemas.microsoft.com/office/drawing/2014/main" id="{A58A68E3-86B1-4CB4-9844-CCAEF31009BB}"/>
                </a:ext>
              </a:extLst>
            </p:cNvPr>
            <p:cNvSpPr/>
            <p:nvPr/>
          </p:nvSpPr>
          <p:spPr>
            <a:xfrm>
              <a:off x="8006714" y="5619344"/>
              <a:ext cx="0" cy="149225"/>
            </a:xfrm>
            <a:custGeom>
              <a:avLst/>
              <a:gdLst/>
              <a:ahLst/>
              <a:cxnLst/>
              <a:rect l="l" t="t" r="r" b="b"/>
              <a:pathLst>
                <a:path h="149225">
                  <a:moveTo>
                    <a:pt x="0" y="0"/>
                  </a:moveTo>
                  <a:lnTo>
                    <a:pt x="0" y="14916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20">
              <a:extLst>
                <a:ext uri="{FF2B5EF4-FFF2-40B4-BE49-F238E27FC236}">
                  <a16:creationId xmlns="" xmlns:a16="http://schemas.microsoft.com/office/drawing/2014/main" id="{F87B4453-876E-49ED-B399-C9A8E29D135D}"/>
                </a:ext>
              </a:extLst>
            </p:cNvPr>
            <p:cNvSpPr/>
            <p:nvPr/>
          </p:nvSpPr>
          <p:spPr>
            <a:xfrm>
              <a:off x="7962900" y="4873561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h="74929">
                  <a:moveTo>
                    <a:pt x="0" y="74574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21">
              <a:extLst>
                <a:ext uri="{FF2B5EF4-FFF2-40B4-BE49-F238E27FC236}">
                  <a16:creationId xmlns="" xmlns:a16="http://schemas.microsoft.com/office/drawing/2014/main" id="{A3C1AA3A-6652-4E21-B054-02DA392AD749}"/>
                </a:ext>
              </a:extLst>
            </p:cNvPr>
            <p:cNvSpPr/>
            <p:nvPr/>
          </p:nvSpPr>
          <p:spPr>
            <a:xfrm>
              <a:off x="8576310" y="5880370"/>
              <a:ext cx="131445" cy="0"/>
            </a:xfrm>
            <a:custGeom>
              <a:avLst/>
              <a:gdLst/>
              <a:ahLst/>
              <a:cxnLst/>
              <a:rect l="l" t="t" r="r" b="b"/>
              <a:pathLst>
                <a:path w="131445">
                  <a:moveTo>
                    <a:pt x="0" y="0"/>
                  </a:moveTo>
                  <a:lnTo>
                    <a:pt x="131445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22">
              <a:extLst>
                <a:ext uri="{FF2B5EF4-FFF2-40B4-BE49-F238E27FC236}">
                  <a16:creationId xmlns="" xmlns:a16="http://schemas.microsoft.com/office/drawing/2014/main" id="{DE25ADDB-2645-4C1F-95B8-F49A1B17C27A}"/>
                </a:ext>
              </a:extLst>
            </p:cNvPr>
            <p:cNvSpPr/>
            <p:nvPr/>
          </p:nvSpPr>
          <p:spPr>
            <a:xfrm>
              <a:off x="7962900" y="6253264"/>
              <a:ext cx="0" cy="74930"/>
            </a:xfrm>
            <a:custGeom>
              <a:avLst/>
              <a:gdLst/>
              <a:ahLst/>
              <a:cxnLst/>
              <a:rect l="l" t="t" r="r" b="b"/>
              <a:pathLst>
                <a:path h="74929">
                  <a:moveTo>
                    <a:pt x="0" y="0"/>
                  </a:moveTo>
                  <a:lnTo>
                    <a:pt x="0" y="74574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3">
              <a:extLst>
                <a:ext uri="{FF2B5EF4-FFF2-40B4-BE49-F238E27FC236}">
                  <a16:creationId xmlns="" xmlns:a16="http://schemas.microsoft.com/office/drawing/2014/main" id="{B9395786-746A-403D-90A6-93C5367A9FEB}"/>
                </a:ext>
              </a:extLst>
            </p:cNvPr>
            <p:cNvSpPr/>
            <p:nvPr/>
          </p:nvSpPr>
          <p:spPr>
            <a:xfrm>
              <a:off x="7437120" y="5693923"/>
              <a:ext cx="87630" cy="186690"/>
            </a:xfrm>
            <a:custGeom>
              <a:avLst/>
              <a:gdLst/>
              <a:ahLst/>
              <a:cxnLst/>
              <a:rect l="l" t="t" r="r" b="b"/>
              <a:pathLst>
                <a:path w="87629" h="186689">
                  <a:moveTo>
                    <a:pt x="0" y="0"/>
                  </a:moveTo>
                  <a:lnTo>
                    <a:pt x="0" y="186448"/>
                  </a:lnTo>
                  <a:lnTo>
                    <a:pt x="87630" y="186448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4">
              <a:extLst>
                <a:ext uri="{FF2B5EF4-FFF2-40B4-BE49-F238E27FC236}">
                  <a16:creationId xmlns="" xmlns:a16="http://schemas.microsoft.com/office/drawing/2014/main" id="{7AAC6BF3-2F40-4004-92AC-F2B9B4B424A2}"/>
                </a:ext>
              </a:extLst>
            </p:cNvPr>
            <p:cNvSpPr/>
            <p:nvPr/>
          </p:nvSpPr>
          <p:spPr>
            <a:xfrm>
              <a:off x="7261860" y="5358320"/>
              <a:ext cx="87630" cy="0"/>
            </a:xfrm>
            <a:custGeom>
              <a:avLst/>
              <a:gdLst/>
              <a:ahLst/>
              <a:cxnLst/>
              <a:rect l="l" t="t" r="r" b="b"/>
              <a:pathLst>
                <a:path w="87629">
                  <a:moveTo>
                    <a:pt x="0" y="0"/>
                  </a:moveTo>
                  <a:lnTo>
                    <a:pt x="8763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Title 1">
            <a:extLst>
              <a:ext uri="{FF2B5EF4-FFF2-40B4-BE49-F238E27FC236}">
                <a16:creationId xmlns="" xmlns:a16="http://schemas.microsoft.com/office/drawing/2014/main" id="{C8D270C3-EED2-C8A8-46B6-4F010956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007716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0CDF96D-B2FF-4D3C-8239-E712B24B793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600205"/>
            <a:ext cx="11430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Fabrication</a:t>
            </a:r>
          </a:p>
          <a:p>
            <a:pPr marL="12065" marR="5080" indent="0" algn="just"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dirty="0">
                <a:solidFill>
                  <a:srgbClr val="002060"/>
                </a:solidFill>
                <a:uFill>
                  <a:solidFill>
                    <a:srgbClr val="0000FF"/>
                  </a:solidFill>
                </a:uFill>
                <a:latin typeface="Bookman Old Style" panose="02050604050505020204" pitchFamily="18" charset="0"/>
                <a:cs typeface="Comic Sans MS"/>
              </a:rPr>
              <a:t>Fabrication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Process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includes, </a:t>
            </a:r>
          </a:p>
          <a:p>
            <a:pPr marL="12065" marR="5080" indent="0" algn="just">
              <a:lnSpc>
                <a:spcPct val="160000"/>
              </a:lnSpc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			-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lithography, </a:t>
            </a:r>
          </a:p>
          <a:p>
            <a:pPr marL="812165" marR="5080" lvl="2" indent="0" algn="just">
              <a:lnSpc>
                <a:spcPct val="160000"/>
              </a:lnSpc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	- polishing,  </a:t>
            </a:r>
          </a:p>
          <a:p>
            <a:pPr marL="812165" marR="5080" lvl="2" indent="0" algn="just">
              <a:lnSpc>
                <a:spcPct val="160000"/>
              </a:lnSpc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	- deposition, </a:t>
            </a:r>
          </a:p>
          <a:p>
            <a:pPr marL="812165" marR="5080" lvl="2" indent="0" algn="just">
              <a:lnSpc>
                <a:spcPct val="160000"/>
              </a:lnSpc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</a:rPr>
              <a:t>	- diffusion, etc., </a:t>
            </a:r>
          </a:p>
          <a:p>
            <a:pPr marL="12065" marR="5080" indent="0" algn="just">
              <a:spcBef>
                <a:spcPts val="105"/>
              </a:spcBef>
              <a:buNone/>
              <a:tabLst>
                <a:tab pos="621665" algn="l"/>
                <a:tab pos="62230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to produce a</a:t>
            </a:r>
            <a:r>
              <a:rPr lang="en-US" sz="2000" spc="-15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i="1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chip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.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265" marR="293370" indent="-457200" algn="just">
              <a:spcBef>
                <a:spcPts val="475"/>
              </a:spcBef>
              <a:buFont typeface="+mj-lt"/>
              <a:buAutoNum type="arabicPeriod"/>
              <a:tabLst>
                <a:tab pos="621665" algn="l"/>
                <a:tab pos="62230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Fabrication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process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consists of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several steps</a:t>
            </a:r>
            <a:r>
              <a:rPr lang="en-US" sz="2000" spc="-12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and  requires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various</a:t>
            </a:r>
            <a:r>
              <a:rPr lang="en-US" sz="2000" spc="-5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masks.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Comic Sans MS"/>
            </a:endParaRPr>
          </a:p>
          <a:p>
            <a:pPr marL="469265" marR="285115" indent="-457200" algn="just">
              <a:spcBef>
                <a:spcPts val="484"/>
              </a:spcBef>
              <a:buFont typeface="+mj-lt"/>
              <a:buAutoNum type="arabicPeriod"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Before the chip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mass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produced,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a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prototype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is  made and</a:t>
            </a:r>
            <a:r>
              <a:rPr lang="en-US" sz="2000" spc="-5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Comic Sans MS"/>
              </a:rPr>
              <a:t>tested</a:t>
            </a:r>
            <a:endParaRPr lang="en-IN" sz="2000" spc="-5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DB25262-7D4D-4580-B2AD-725FD66926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B65DF53-0670-4EBC-AB4D-839AE74A462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C5F973D-2A0B-4F36-A25C-D213C8833B0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472160A-C9AF-40E6-9923-7DDBA6D61F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object 3">
            <a:extLst>
              <a:ext uri="{FF2B5EF4-FFF2-40B4-BE49-F238E27FC236}">
                <a16:creationId xmlns="" xmlns:a16="http://schemas.microsoft.com/office/drawing/2014/main" id="{798957D3-F7D9-432A-BDAE-90ED71F9CE26}"/>
              </a:ext>
            </a:extLst>
          </p:cNvPr>
          <p:cNvSpPr/>
          <p:nvPr/>
        </p:nvSpPr>
        <p:spPr>
          <a:xfrm>
            <a:off x="8763000" y="1905000"/>
            <a:ext cx="2438401" cy="2461748"/>
          </a:xfrm>
          <a:custGeom>
            <a:avLst/>
            <a:gdLst/>
            <a:ahLst/>
            <a:cxnLst/>
            <a:rect l="l" t="t" r="r" b="b"/>
            <a:pathLst>
              <a:path w="2341245" h="2336165">
                <a:moveTo>
                  <a:pt x="1170539" y="2335889"/>
                </a:moveTo>
                <a:lnTo>
                  <a:pt x="1122016" y="2334922"/>
                </a:lnTo>
                <a:lnTo>
                  <a:pt x="1074018" y="2332045"/>
                </a:lnTo>
                <a:lnTo>
                  <a:pt x="1026580" y="2327294"/>
                </a:lnTo>
                <a:lnTo>
                  <a:pt x="979740" y="2320706"/>
                </a:lnTo>
                <a:lnTo>
                  <a:pt x="933534" y="2312318"/>
                </a:lnTo>
                <a:lnTo>
                  <a:pt x="887999" y="2302165"/>
                </a:lnTo>
                <a:lnTo>
                  <a:pt x="843170" y="2290285"/>
                </a:lnTo>
                <a:lnTo>
                  <a:pt x="799086" y="2276714"/>
                </a:lnTo>
                <a:lnTo>
                  <a:pt x="755782" y="2261488"/>
                </a:lnTo>
                <a:lnTo>
                  <a:pt x="713295" y="2244644"/>
                </a:lnTo>
                <a:lnTo>
                  <a:pt x="671662" y="2226219"/>
                </a:lnTo>
                <a:lnTo>
                  <a:pt x="630918" y="2206248"/>
                </a:lnTo>
                <a:lnTo>
                  <a:pt x="591102" y="2184769"/>
                </a:lnTo>
                <a:lnTo>
                  <a:pt x="552248" y="2161818"/>
                </a:lnTo>
                <a:lnTo>
                  <a:pt x="514395" y="2137431"/>
                </a:lnTo>
                <a:lnTo>
                  <a:pt x="477578" y="2111645"/>
                </a:lnTo>
                <a:lnTo>
                  <a:pt x="441834" y="2084497"/>
                </a:lnTo>
                <a:lnTo>
                  <a:pt x="407199" y="2056022"/>
                </a:lnTo>
                <a:lnTo>
                  <a:pt x="373711" y="2026258"/>
                </a:lnTo>
                <a:lnTo>
                  <a:pt x="341405" y="1995241"/>
                </a:lnTo>
                <a:lnTo>
                  <a:pt x="310319" y="1963007"/>
                </a:lnTo>
                <a:lnTo>
                  <a:pt x="280489" y="1929592"/>
                </a:lnTo>
                <a:lnTo>
                  <a:pt x="251951" y="1895035"/>
                </a:lnTo>
                <a:lnTo>
                  <a:pt x="224742" y="1859370"/>
                </a:lnTo>
                <a:lnTo>
                  <a:pt x="198899" y="1822634"/>
                </a:lnTo>
                <a:lnTo>
                  <a:pt x="174458" y="1784865"/>
                </a:lnTo>
                <a:lnTo>
                  <a:pt x="151455" y="1746098"/>
                </a:lnTo>
                <a:lnTo>
                  <a:pt x="129929" y="1706369"/>
                </a:lnTo>
                <a:lnTo>
                  <a:pt x="109914" y="1665716"/>
                </a:lnTo>
                <a:lnTo>
                  <a:pt x="91447" y="1624175"/>
                </a:lnTo>
                <a:lnTo>
                  <a:pt x="74566" y="1581782"/>
                </a:lnTo>
                <a:lnTo>
                  <a:pt x="59306" y="1538574"/>
                </a:lnTo>
                <a:lnTo>
                  <a:pt x="45705" y="1494587"/>
                </a:lnTo>
                <a:lnTo>
                  <a:pt x="33799" y="1449859"/>
                </a:lnTo>
                <a:lnTo>
                  <a:pt x="23623" y="1404424"/>
                </a:lnTo>
                <a:lnTo>
                  <a:pt x="15216" y="1358321"/>
                </a:lnTo>
                <a:lnTo>
                  <a:pt x="8614" y="1311584"/>
                </a:lnTo>
                <a:lnTo>
                  <a:pt x="3852" y="1264252"/>
                </a:lnTo>
                <a:lnTo>
                  <a:pt x="969" y="1216360"/>
                </a:lnTo>
                <a:lnTo>
                  <a:pt x="0" y="1167944"/>
                </a:lnTo>
                <a:lnTo>
                  <a:pt x="969" y="1119529"/>
                </a:lnTo>
                <a:lnTo>
                  <a:pt x="3852" y="1071637"/>
                </a:lnTo>
                <a:lnTo>
                  <a:pt x="8614" y="1024305"/>
                </a:lnTo>
                <a:lnTo>
                  <a:pt x="15216" y="977568"/>
                </a:lnTo>
                <a:lnTo>
                  <a:pt x="23623" y="931465"/>
                </a:lnTo>
                <a:lnTo>
                  <a:pt x="33799" y="886030"/>
                </a:lnTo>
                <a:lnTo>
                  <a:pt x="45705" y="841301"/>
                </a:lnTo>
                <a:lnTo>
                  <a:pt x="59306" y="797315"/>
                </a:lnTo>
                <a:lnTo>
                  <a:pt x="74566" y="754107"/>
                </a:lnTo>
                <a:lnTo>
                  <a:pt x="91447" y="711714"/>
                </a:lnTo>
                <a:lnTo>
                  <a:pt x="109914" y="670173"/>
                </a:lnTo>
                <a:lnTo>
                  <a:pt x="129929" y="629520"/>
                </a:lnTo>
                <a:lnTo>
                  <a:pt x="151455" y="589791"/>
                </a:lnTo>
                <a:lnTo>
                  <a:pt x="174458" y="551024"/>
                </a:lnTo>
                <a:lnTo>
                  <a:pt x="198899" y="513255"/>
                </a:lnTo>
                <a:lnTo>
                  <a:pt x="224742" y="476519"/>
                </a:lnTo>
                <a:lnTo>
                  <a:pt x="251951" y="440854"/>
                </a:lnTo>
                <a:lnTo>
                  <a:pt x="280489" y="406296"/>
                </a:lnTo>
                <a:lnTo>
                  <a:pt x="310319" y="372882"/>
                </a:lnTo>
                <a:lnTo>
                  <a:pt x="341405" y="340648"/>
                </a:lnTo>
                <a:lnTo>
                  <a:pt x="373711" y="309631"/>
                </a:lnTo>
                <a:lnTo>
                  <a:pt x="407199" y="279867"/>
                </a:lnTo>
                <a:lnTo>
                  <a:pt x="441834" y="251392"/>
                </a:lnTo>
                <a:lnTo>
                  <a:pt x="477578" y="224244"/>
                </a:lnTo>
                <a:lnTo>
                  <a:pt x="514395" y="198458"/>
                </a:lnTo>
                <a:lnTo>
                  <a:pt x="552248" y="174071"/>
                </a:lnTo>
                <a:lnTo>
                  <a:pt x="591102" y="151120"/>
                </a:lnTo>
                <a:lnTo>
                  <a:pt x="630918" y="129641"/>
                </a:lnTo>
                <a:lnTo>
                  <a:pt x="671662" y="109670"/>
                </a:lnTo>
                <a:lnTo>
                  <a:pt x="713295" y="91245"/>
                </a:lnTo>
                <a:lnTo>
                  <a:pt x="755782" y="74401"/>
                </a:lnTo>
                <a:lnTo>
                  <a:pt x="799086" y="59175"/>
                </a:lnTo>
                <a:lnTo>
                  <a:pt x="843170" y="45604"/>
                </a:lnTo>
                <a:lnTo>
                  <a:pt x="887999" y="33724"/>
                </a:lnTo>
                <a:lnTo>
                  <a:pt x="933534" y="23571"/>
                </a:lnTo>
                <a:lnTo>
                  <a:pt x="979740" y="15183"/>
                </a:lnTo>
                <a:lnTo>
                  <a:pt x="1026580" y="8595"/>
                </a:lnTo>
                <a:lnTo>
                  <a:pt x="1074018" y="3844"/>
                </a:lnTo>
                <a:lnTo>
                  <a:pt x="1122016" y="967"/>
                </a:lnTo>
                <a:lnTo>
                  <a:pt x="1170539" y="0"/>
                </a:lnTo>
                <a:lnTo>
                  <a:pt x="1219062" y="967"/>
                </a:lnTo>
                <a:lnTo>
                  <a:pt x="1267060" y="3844"/>
                </a:lnTo>
                <a:lnTo>
                  <a:pt x="1314498" y="8595"/>
                </a:lnTo>
                <a:lnTo>
                  <a:pt x="1361338" y="15183"/>
                </a:lnTo>
                <a:lnTo>
                  <a:pt x="1407544" y="23571"/>
                </a:lnTo>
                <a:lnTo>
                  <a:pt x="1453080" y="33724"/>
                </a:lnTo>
                <a:lnTo>
                  <a:pt x="1497908" y="45604"/>
                </a:lnTo>
                <a:lnTo>
                  <a:pt x="1541992" y="59175"/>
                </a:lnTo>
                <a:lnTo>
                  <a:pt x="1585296" y="74401"/>
                </a:lnTo>
                <a:lnTo>
                  <a:pt x="1627783" y="91245"/>
                </a:lnTo>
                <a:lnTo>
                  <a:pt x="1669417" y="109670"/>
                </a:lnTo>
                <a:lnTo>
                  <a:pt x="1710160" y="129641"/>
                </a:lnTo>
                <a:lnTo>
                  <a:pt x="1749977" y="151120"/>
                </a:lnTo>
                <a:lnTo>
                  <a:pt x="1788830" y="174071"/>
                </a:lnTo>
                <a:lnTo>
                  <a:pt x="1826683" y="198458"/>
                </a:lnTo>
                <a:lnTo>
                  <a:pt x="1863501" y="224244"/>
                </a:lnTo>
                <a:lnTo>
                  <a:pt x="1899245" y="251392"/>
                </a:lnTo>
                <a:lnTo>
                  <a:pt x="1933879" y="279867"/>
                </a:lnTo>
                <a:lnTo>
                  <a:pt x="1967367" y="309631"/>
                </a:lnTo>
                <a:lnTo>
                  <a:pt x="1999673" y="340648"/>
                </a:lnTo>
                <a:lnTo>
                  <a:pt x="2030759" y="372882"/>
                </a:lnTo>
                <a:lnTo>
                  <a:pt x="2060590" y="406296"/>
                </a:lnTo>
                <a:lnTo>
                  <a:pt x="2089128" y="440854"/>
                </a:lnTo>
                <a:lnTo>
                  <a:pt x="2116336" y="476519"/>
                </a:lnTo>
                <a:lnTo>
                  <a:pt x="2142180" y="513255"/>
                </a:lnTo>
                <a:lnTo>
                  <a:pt x="2166621" y="551024"/>
                </a:lnTo>
                <a:lnTo>
                  <a:pt x="2189623" y="589791"/>
                </a:lnTo>
                <a:lnTo>
                  <a:pt x="2211150" y="629520"/>
                </a:lnTo>
                <a:lnTo>
                  <a:pt x="2231165" y="670173"/>
                </a:lnTo>
                <a:lnTo>
                  <a:pt x="2249631" y="711714"/>
                </a:lnTo>
                <a:lnTo>
                  <a:pt x="2266512" y="754107"/>
                </a:lnTo>
                <a:lnTo>
                  <a:pt x="2281772" y="797315"/>
                </a:lnTo>
                <a:lnTo>
                  <a:pt x="2295373" y="841301"/>
                </a:lnTo>
                <a:lnTo>
                  <a:pt x="2307280" y="886030"/>
                </a:lnTo>
                <a:lnTo>
                  <a:pt x="2317455" y="931465"/>
                </a:lnTo>
                <a:lnTo>
                  <a:pt x="2325862" y="977568"/>
                </a:lnTo>
                <a:lnTo>
                  <a:pt x="2332464" y="1024305"/>
                </a:lnTo>
                <a:lnTo>
                  <a:pt x="2337226" y="1071637"/>
                </a:lnTo>
                <a:lnTo>
                  <a:pt x="2340109" y="1119529"/>
                </a:lnTo>
                <a:lnTo>
                  <a:pt x="2341079" y="1167944"/>
                </a:lnTo>
                <a:lnTo>
                  <a:pt x="2340109" y="1216360"/>
                </a:lnTo>
                <a:lnTo>
                  <a:pt x="2337226" y="1264252"/>
                </a:lnTo>
                <a:lnTo>
                  <a:pt x="2332464" y="1311584"/>
                </a:lnTo>
                <a:lnTo>
                  <a:pt x="2325862" y="1358321"/>
                </a:lnTo>
                <a:lnTo>
                  <a:pt x="2317455" y="1404424"/>
                </a:lnTo>
                <a:lnTo>
                  <a:pt x="2307280" y="1449859"/>
                </a:lnTo>
                <a:lnTo>
                  <a:pt x="2295373" y="1494587"/>
                </a:lnTo>
                <a:lnTo>
                  <a:pt x="2281772" y="1538574"/>
                </a:lnTo>
                <a:lnTo>
                  <a:pt x="2266512" y="1581782"/>
                </a:lnTo>
                <a:lnTo>
                  <a:pt x="2249631" y="1624175"/>
                </a:lnTo>
                <a:lnTo>
                  <a:pt x="2231165" y="1665716"/>
                </a:lnTo>
                <a:lnTo>
                  <a:pt x="2211150" y="1706369"/>
                </a:lnTo>
                <a:lnTo>
                  <a:pt x="2189623" y="1746098"/>
                </a:lnTo>
                <a:lnTo>
                  <a:pt x="2166621" y="1784865"/>
                </a:lnTo>
                <a:lnTo>
                  <a:pt x="2142180" y="1822634"/>
                </a:lnTo>
                <a:lnTo>
                  <a:pt x="2116336" y="1859370"/>
                </a:lnTo>
                <a:lnTo>
                  <a:pt x="2089128" y="1895035"/>
                </a:lnTo>
                <a:lnTo>
                  <a:pt x="2060590" y="1929592"/>
                </a:lnTo>
                <a:lnTo>
                  <a:pt x="2030759" y="1963007"/>
                </a:lnTo>
                <a:lnTo>
                  <a:pt x="1999673" y="1995241"/>
                </a:lnTo>
                <a:lnTo>
                  <a:pt x="1967367" y="2026258"/>
                </a:lnTo>
                <a:lnTo>
                  <a:pt x="1933879" y="2056022"/>
                </a:lnTo>
                <a:lnTo>
                  <a:pt x="1899245" y="2084497"/>
                </a:lnTo>
                <a:lnTo>
                  <a:pt x="1863501" y="2111645"/>
                </a:lnTo>
                <a:lnTo>
                  <a:pt x="1826683" y="2137431"/>
                </a:lnTo>
                <a:lnTo>
                  <a:pt x="1788830" y="2161818"/>
                </a:lnTo>
                <a:lnTo>
                  <a:pt x="1749977" y="2184769"/>
                </a:lnTo>
                <a:lnTo>
                  <a:pt x="1710160" y="2206248"/>
                </a:lnTo>
                <a:lnTo>
                  <a:pt x="1669417" y="2226219"/>
                </a:lnTo>
                <a:lnTo>
                  <a:pt x="1627783" y="2244644"/>
                </a:lnTo>
                <a:lnTo>
                  <a:pt x="1585296" y="2261488"/>
                </a:lnTo>
                <a:lnTo>
                  <a:pt x="1541992" y="2276714"/>
                </a:lnTo>
                <a:lnTo>
                  <a:pt x="1497908" y="2290285"/>
                </a:lnTo>
                <a:lnTo>
                  <a:pt x="1453080" y="2302165"/>
                </a:lnTo>
                <a:lnTo>
                  <a:pt x="1407544" y="2312318"/>
                </a:lnTo>
                <a:lnTo>
                  <a:pt x="1361338" y="2320706"/>
                </a:lnTo>
                <a:lnTo>
                  <a:pt x="1314498" y="2327294"/>
                </a:lnTo>
                <a:lnTo>
                  <a:pt x="1267060" y="2332045"/>
                </a:lnTo>
                <a:lnTo>
                  <a:pt x="1219062" y="2334922"/>
                </a:lnTo>
                <a:lnTo>
                  <a:pt x="1170539" y="233588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7">
            <a:extLst>
              <a:ext uri="{FF2B5EF4-FFF2-40B4-BE49-F238E27FC236}">
                <a16:creationId xmlns="" xmlns:a16="http://schemas.microsoft.com/office/drawing/2014/main" id="{0A3833AA-8EF0-404A-9330-96F96E366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537889"/>
              </p:ext>
            </p:extLst>
          </p:nvPr>
        </p:nvGraphicFramePr>
        <p:xfrm>
          <a:off x="8796433" y="2025788"/>
          <a:ext cx="2313932" cy="2198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494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5494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493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477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493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6001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5494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141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1846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154940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139700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160019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160019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549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  <a:gridCol w="154939">
                  <a:extLst>
                    <a:ext uri="{9D8B030D-6E8A-4147-A177-3AD203B41FA5}">
                      <a16:colId xmlns="" xmlns:a16="http://schemas.microsoft.com/office/drawing/2014/main" val="20014"/>
                    </a:ext>
                  </a:extLst>
                </a:gridCol>
              </a:tblGrid>
              <a:tr h="154352"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54346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44026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54344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9494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97373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595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543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54338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3890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59529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1543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59476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5435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="" xmlns:a16="http://schemas.microsoft.com/office/drawing/2014/main" id="{28D612CC-FA3A-CDEB-E930-2C70BA49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7049812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A37FF8BC-681E-40DC-91D5-303CCE7854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042" y="2133600"/>
            <a:ext cx="10820400" cy="24384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Packaging, Testing and Debugging</a:t>
            </a:r>
          </a:p>
          <a:p>
            <a:pPr marL="621665" marR="5080" indent="-609600" algn="just">
              <a:lnSpc>
                <a:spcPts val="2590"/>
              </a:lnSpc>
              <a:spcBef>
                <a:spcPts val="425"/>
              </a:spcBef>
              <a:buAutoNum type="arabicPeriod"/>
              <a:tabLst>
                <a:tab pos="621665" algn="l"/>
                <a:tab pos="622300" algn="l"/>
                <a:tab pos="2412365" algn="l"/>
                <a:tab pos="4096385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Packaging 	</a:t>
            </a:r>
          </a:p>
          <a:p>
            <a:pPr marL="869315" marR="5080" lvl="1" indent="-457200" algn="just">
              <a:lnSpc>
                <a:spcPts val="2590"/>
              </a:lnSpc>
              <a:spcBef>
                <a:spcPts val="425"/>
              </a:spcBef>
              <a:tabLst>
                <a:tab pos="621665" algn="l"/>
                <a:tab pos="622300" algn="l"/>
                <a:tab pos="2412365" algn="l"/>
                <a:tab pos="4096385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Put together the chips on a PCB  (Printed Circuit Board) or an MCM (Multi-Chip  Module)</a:t>
            </a:r>
          </a:p>
          <a:p>
            <a:pPr algn="just">
              <a:spcBef>
                <a:spcPts val="60"/>
              </a:spcBef>
              <a:buAutoNum type="arabicPeriod"/>
            </a:pPr>
            <a:endParaRPr lang="en-US" sz="2000" spc="-5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622300" marR="210820" indent="-609600" algn="just">
              <a:lnSpc>
                <a:spcPts val="2590"/>
              </a:lnSpc>
              <a:buAutoNum type="arabicPeriod"/>
              <a:tabLst>
                <a:tab pos="621665" algn="l"/>
                <a:tab pos="62230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</a:rPr>
              <a:t>Each chip is then packaged and tested to  ensure that it meets all the design  specifications and that it functions properly.</a:t>
            </a:r>
          </a:p>
          <a:p>
            <a:pPr marL="0" indent="0">
              <a:buNone/>
            </a:pPr>
            <a:endParaRPr lang="en-IN" sz="2400" b="1" spc="-5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3D2354A-EB09-4C3C-8CEF-163AFB3F8D5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2E3B10E-9A1D-461C-BB9A-4342FB194DF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61A4724-123D-4F4A-A7D1-D66376ED78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35D6EE-5C5E-409F-941D-6709E899C99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4104210A-816A-FA8C-54C9-04776BCB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326790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1D77F5D-4012-4764-BFE5-A0A06C0A9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1295400"/>
            <a:ext cx="10820400" cy="5029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2400" b="1" spc="-10" dirty="0" smtClean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ctr">
              <a:buNone/>
            </a:pPr>
            <a:r>
              <a:rPr lang="en-IN" sz="2400" b="1" spc="-10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</a:t>
            </a:r>
          </a:p>
          <a:p>
            <a:pPr marL="0" indent="0">
              <a:buNone/>
            </a:pPr>
            <a:r>
              <a:rPr lang="en-IN" sz="2400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Introduction</a:t>
            </a:r>
          </a:p>
          <a:p>
            <a:pPr marL="0" indent="0">
              <a:buNone/>
            </a:pPr>
            <a:r>
              <a:rPr lang="en-US" sz="2000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Silicon (Si),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A semiconductor, forms the basic starting material for most integrated circuits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Pure silicon consists of a three-dimensional lattice of atoms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Silicon is a Group IV element, so it forms covalent bonds with four adjacent atoms, as shown below</a:t>
            </a: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50F5733-6ECB-4C21-AA65-E90257C3C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1A0F457-905F-4934-9C96-6E9C9B264EF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AA1DFF-978C-4414-99AC-F44E036B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5BA757-A6A4-4E0D-9363-175EDD48E07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F11B3291-2552-4AF1-A50B-C237E0A97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419600"/>
            <a:ext cx="1981200" cy="1524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25D5F1E-37F0-4CBE-BF39-7F9AACAAB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1888" y="1676400"/>
            <a:ext cx="1145828" cy="115544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E65B7E7-5BBE-4D9B-B9A9-08E59377F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4902" y="4876801"/>
            <a:ext cx="1714499" cy="121443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2E516FF6-3BEB-2962-1B45-BBFBFA504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747182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1D77F5D-4012-4764-BFE5-A0A06C0A9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" y="1698656"/>
            <a:ext cx="11811002" cy="3505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Silicon valence electrons are involved in chemical bonds, pure silicon is a poor conductor.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The conductivity can  be raised by introducing small amounts of impurities, </a:t>
            </a:r>
            <a:r>
              <a:rPr lang="en-US" sz="20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called dopants</a:t>
            </a:r>
            <a:r>
              <a:rPr lang="en-US" sz="20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, into the silicon lattice.</a:t>
            </a:r>
          </a:p>
          <a:p>
            <a:pPr marL="685800" lvl="1" algn="just"/>
            <a:r>
              <a:rPr lang="en-US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A dopant from Group V of the periodic table, such as arsenic, has five valence electrons. It replaces a silicon atom in the lattice and still bonds to four neighbors, so the fifth valence electron is loosely bound to the arsenic atom, as shown below</a:t>
            </a:r>
            <a:endParaRPr lang="en-US" sz="2500" b="1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50F5733-6ECB-4C21-AA65-E90257C3C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F5008DA-285D-44C9-9C6D-C437B6D7430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AA1DFF-978C-4414-99AC-F44E036B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5BA757-A6A4-4E0D-9363-175EDD48E07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4A883ED-613A-448F-8184-AC18BEBB24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4419600"/>
            <a:ext cx="2590800" cy="1600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710C2705-AC7A-4FBA-9597-827747A275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90" y="4572000"/>
            <a:ext cx="1527110" cy="156246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2B4FD872-506C-C814-7AFB-0A790A93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046621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1D77F5D-4012-4764-BFE5-A0A06C0A987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600" y="1295400"/>
            <a:ext cx="11506200" cy="502920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buNone/>
            </a:pPr>
            <a:endParaRPr lang="en-IN" sz="3200" b="1" spc="-10" dirty="0" smtClean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ctr">
              <a:buNone/>
            </a:pPr>
            <a:r>
              <a:rPr lang="en-IN" sz="3200" b="1" spc="-10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32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Thermal vibration of the lattice at room temperature is enough to set the electron free to move, </a:t>
            </a:r>
          </a:p>
          <a:p>
            <a:pPr lvl="1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leaving a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positively charged 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As+ ion and a free electron. </a:t>
            </a:r>
          </a:p>
          <a:p>
            <a:pPr lvl="1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The free electron can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carry current 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so the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conductivity is higher</a:t>
            </a:r>
            <a:endParaRPr lang="en-US" sz="2900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lvl="1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this  is an </a:t>
            </a:r>
            <a:r>
              <a:rPr lang="en-US" sz="2900" b="1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n-type semiconductor 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because the free carriers are negatively charged electrons.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Group III dopant, such as boron, has three valence electrons, as shown below, </a:t>
            </a:r>
          </a:p>
          <a:p>
            <a:pPr algn="just"/>
            <a:endParaRPr lang="en-US" sz="2900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algn="just"/>
            <a:endParaRPr lang="en-US" sz="2900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just">
              <a:buNone/>
            </a:pPr>
            <a:endParaRPr lang="en-US" sz="2900" spc="-5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just">
              <a:buNone/>
            </a:pPr>
            <a:endParaRPr lang="en-US" sz="2900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just">
              <a:buNone/>
            </a:pPr>
            <a:endParaRPr lang="en-US" sz="2900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just">
              <a:buNone/>
            </a:pPr>
            <a:endParaRPr lang="en-US" sz="2900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857250" lvl="1" indent="-457200" algn="just"/>
            <a:endParaRPr lang="en-US" sz="2900" spc="-5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857250" lvl="1" indent="-457200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The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dopant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atom can borrow an electron from a neighboring silicon atom, which in turn becomes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short by one electron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. </a:t>
            </a:r>
          </a:p>
          <a:p>
            <a:pPr marL="857250" lvl="1" indent="-457200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That atom in turn can borrow an electron, and the missing electron, or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hole, can propagate about the lattice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. </a:t>
            </a:r>
          </a:p>
          <a:p>
            <a:pPr marL="857250" lvl="1" indent="-457200" algn="just"/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The hole acts as </a:t>
            </a:r>
            <a:r>
              <a:rPr lang="en-US" sz="29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a positive carrier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, call this a </a:t>
            </a:r>
            <a:r>
              <a:rPr lang="en-US" sz="2900" b="1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p-type semiconductor</a:t>
            </a:r>
            <a:r>
              <a:rPr lang="en-US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.</a:t>
            </a:r>
            <a:r>
              <a:rPr lang="en-IN" sz="29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50F5733-6ECB-4C21-AA65-E90257C3C1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B482783-B688-4DBD-8FC3-17AB8B48DBB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9AA1DFF-978C-4414-99AC-F44E036B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B5BA757-A6A4-4E0D-9363-175EDD48E07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C1B58CBA-F9C8-4909-A4F3-D6BDA5C17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1" y="3276600"/>
            <a:ext cx="1622201" cy="15766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74741688-0920-4BB6-93F8-2F2D7F85C9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8600" y="3429001"/>
            <a:ext cx="1622201" cy="126888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B0F0442-7F14-72B0-44D0-2D09F346F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1047337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09FC104-3BF4-4096-BD86-88F19AEDA1C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54994" y="1792037"/>
            <a:ext cx="6527006" cy="422776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A junction between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p-type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 and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n-type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 silicon is called a diode, as show.</a:t>
            </a:r>
          </a:p>
          <a:p>
            <a:pPr marL="0" indent="0" algn="just">
              <a:buNone/>
            </a:pP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When the voltage on the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p-type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 semiconductor, called the anode, is raised above the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n-type 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cathode, the diode is </a:t>
            </a:r>
            <a:r>
              <a:rPr lang="en-US" sz="3000" spc="-10" dirty="0">
                <a:solidFill>
                  <a:srgbClr val="FFC000"/>
                </a:solidFill>
                <a:latin typeface="Bookman Old Style" panose="02050604050505020204" pitchFamily="18" charset="0"/>
                <a:cs typeface="Arial"/>
              </a:rPr>
              <a:t>forward biased 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and </a:t>
            </a:r>
            <a:r>
              <a:rPr lang="en-US" sz="3000" u="sng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current flows. </a:t>
            </a:r>
          </a:p>
          <a:p>
            <a:pPr marL="0" indent="0" algn="just">
              <a:buNone/>
            </a:pPr>
            <a:endParaRPr lang="en-US" sz="3000" u="sng" spc="-10" dirty="0">
              <a:solidFill>
                <a:srgbClr val="00B0F0"/>
              </a:solidFill>
              <a:latin typeface="Bookman Old Style" panose="02050604050505020204" pitchFamily="18" charset="0"/>
              <a:cs typeface="Arial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When the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anode voltage 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is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less 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than or equal to the </a:t>
            </a:r>
            <a:r>
              <a:rPr lang="en-US" sz="3000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cathode voltage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, the diode is </a:t>
            </a:r>
            <a:r>
              <a:rPr lang="en-US" sz="3000" spc="-10" dirty="0">
                <a:solidFill>
                  <a:srgbClr val="FFC000"/>
                </a:solidFill>
                <a:latin typeface="Bookman Old Style" panose="02050604050505020204" pitchFamily="18" charset="0"/>
                <a:cs typeface="Arial"/>
              </a:rPr>
              <a:t>reverse biased </a:t>
            </a:r>
            <a:r>
              <a:rPr lang="en-US" sz="30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and </a:t>
            </a:r>
            <a:r>
              <a:rPr lang="en-US" sz="3000" u="sng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very little current flows.</a:t>
            </a:r>
            <a:endParaRPr lang="en-IN" sz="3000" u="sng" spc="-10" dirty="0">
              <a:solidFill>
                <a:srgbClr val="00B0F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2327162-5908-4BCD-B6FA-E431B930FF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3F3A2CE-B831-4D2C-9763-052C92973A8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02E380C-820E-4A47-9F35-679D960C2D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11E502A-519F-425D-8562-049833F182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16C5C97-7F00-40AA-AAE6-2FE6F71B2A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678" y="3822920"/>
            <a:ext cx="1852612" cy="157101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ADB33B0-2BA3-4B61-902B-3AB4BA8FA389}"/>
              </a:ext>
            </a:extLst>
          </p:cNvPr>
          <p:cNvSpPr/>
          <p:nvPr/>
        </p:nvSpPr>
        <p:spPr>
          <a:xfrm>
            <a:off x="4632298" y="1330373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40F14A95-E5EE-4A33-B7D7-6143CEC0F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801722">
            <a:off x="8441650" y="1746332"/>
            <a:ext cx="1764036" cy="13823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2895C775-9610-2DFC-D68D-99DF80A96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6735012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C58BF8C-AE36-47F3-A2D3-E735DA208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92038"/>
            <a:ext cx="8686800" cy="45325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Metal-Oxide-Semiconductor (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MOS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) structure,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Created by superimposing several layers of conducting and insulating materials to form a sandwich-like structure. </a:t>
            </a:r>
          </a:p>
          <a:p>
            <a:pPr lvl="1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Bookman Old Style" panose="02050604050505020204" pitchFamily="18" charset="0"/>
              </a:rPr>
              <a:t>structures are manufactured using a series of chemical processing steps involving, 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Oxidation of the silicon,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selective introduction of dopants, 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and deposition and etching of metal wires and contacts.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93BA9C9-D034-4F21-98E3-0CA3AD41BD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BB7B2B0-73D1-4FAB-8C34-FBE4EFA08EE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A0353F9-D84A-433D-A1D3-E8E25EC3F94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25A66C-FCCB-4F39-8584-1E066019FD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B3744B4-685C-4CD0-994F-5EEA284331D5}"/>
              </a:ext>
            </a:extLst>
          </p:cNvPr>
          <p:cNvSpPr/>
          <p:nvPr/>
        </p:nvSpPr>
        <p:spPr>
          <a:xfrm>
            <a:off x="4632298" y="1292273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F7A2C8B-C506-E95B-2606-06CBD50AF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627387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C58BF8C-AE36-47F3-A2D3-E735DA208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92038"/>
            <a:ext cx="8686800" cy="19417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Metal-Oxide-Semiconductor (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MOS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) structure,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CMOS technology provides two types of transistors, 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n-type transistor 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 </a:t>
            </a:r>
          </a:p>
          <a:p>
            <a:pPr lvl="2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p-type transistor 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</a:t>
            </a:r>
          </a:p>
          <a:p>
            <a:pPr marL="0" indent="0"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IN" sz="24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93BA9C9-D034-4F21-98E3-0CA3AD41BD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3A6DBAE-8A0E-4C4A-8A40-AE5B0463E72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A0353F9-D84A-433D-A1D3-E8E25EC3F94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25A66C-FCCB-4F39-8584-1E066019FD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B3744B4-685C-4CD0-994F-5EEA284331D5}"/>
              </a:ext>
            </a:extLst>
          </p:cNvPr>
          <p:cNvSpPr/>
          <p:nvPr/>
        </p:nvSpPr>
        <p:spPr>
          <a:xfrm>
            <a:off x="4632298" y="1292273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A31CD980-057A-4FB2-8B59-0739A51B4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819401"/>
            <a:ext cx="3581400" cy="289559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9B52DF0D-6DAC-4474-B33A-8B7B58AD4F59}"/>
              </a:ext>
            </a:extLst>
          </p:cNvPr>
          <p:cNvSpPr/>
          <p:nvPr/>
        </p:nvSpPr>
        <p:spPr>
          <a:xfrm>
            <a:off x="1752600" y="4170090"/>
            <a:ext cx="4800600" cy="1421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Transistor operation is controlled by electric fields so called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Metal Oxide Semiconductor Field Effect Transistors (MOSFETs)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or simply FETs.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7D07BE2-2B94-04F8-ECD5-ED55A24E5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647757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C58BF8C-AE36-47F3-A2D3-E735DA208E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92038"/>
            <a:ext cx="8686800" cy="1636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Metal-Oxide-Semiconductor (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MOS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) structure, </a:t>
            </a:r>
          </a:p>
          <a:p>
            <a:pPr algn="just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Cross-sections and symbols of these transistors are shown below. The n+ and p+ regions indicate heavily doped n- or p- type silicon.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93BA9C9-D034-4F21-98E3-0CA3AD41BD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705D8A9-F07A-4E4D-AFAD-4A5A6870C6F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A0353F9-D84A-433D-A1D3-E8E25EC3F94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25A66C-FCCB-4F39-8584-1E066019FD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B3744B4-685C-4CD0-994F-5EEA284331D5}"/>
              </a:ext>
            </a:extLst>
          </p:cNvPr>
          <p:cNvSpPr/>
          <p:nvPr/>
        </p:nvSpPr>
        <p:spPr>
          <a:xfrm>
            <a:off x="4632298" y="1292273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B519E74-4203-4F78-AB50-5F2A4E44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84795"/>
            <a:ext cx="8001000" cy="229552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67F11EF8-5F7B-46B1-AC06-DBCA5D0FAD1A}"/>
              </a:ext>
            </a:extLst>
          </p:cNvPr>
          <p:cNvSpPr/>
          <p:nvPr/>
        </p:nvSpPr>
        <p:spPr>
          <a:xfrm>
            <a:off x="2590800" y="5715001"/>
            <a:ext cx="746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a) n-MOS                                    b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) p-MOS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C496574B-B3B8-1D97-AD78-8896AF0FE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941389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1107662-67EB-49C2-8899-F8DA3EFBC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3938"/>
            <a:ext cx="8686800" cy="45706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Transistor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consists of,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 stack of the conducting gate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an insulating layer of silicon dioxide (SiO2, known as glass)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substrate (silicon wafer)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body, or bulk.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Gates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of early transistors, 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were built from metal, the stack was called 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metal oxide-semiconductor or MOS. </a:t>
            </a:r>
          </a:p>
          <a:p>
            <a:pPr lvl="1" algn="just"/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1970s,</a:t>
            </a: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the gate has been formed from polycrystalline silicon (polysilicon), but the name stuck. </a:t>
            </a:r>
          </a:p>
          <a:p>
            <a:pPr lvl="1" algn="just"/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metal gates reemerged in 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2007,</a:t>
            </a:r>
            <a:r>
              <a:rPr lang="en-US" sz="19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 to solve materials problems in advanced manufacturing processes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38EFC0-607A-4BB2-BCE0-843EA8F37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002AB27-B0E7-4339-B41B-C9C830F7431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56CE2E-1475-402A-880A-306E06AD56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3DB88EE-EB8B-4C54-B358-C24A103B4A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124686F-9348-4C56-A1B7-87B40D298DCB}"/>
              </a:ext>
            </a:extLst>
          </p:cNvPr>
          <p:cNvSpPr/>
          <p:nvPr/>
        </p:nvSpPr>
        <p:spPr>
          <a:xfrm>
            <a:off x="4632298" y="1281387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A4D0EB4B-19D9-10A1-C9A7-854E74C22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99863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1107662-67EB-49C2-8899-F8DA3EFBC3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3938"/>
            <a:ext cx="4495800" cy="45706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 </a:t>
            </a:r>
            <a:r>
              <a:rPr lang="en-US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is built with a p-type body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has regions of n-type semiconductor adjacent to the gate called the source and drain.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body is typically grounded.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 </a:t>
            </a:r>
            <a:r>
              <a:rPr lang="en-US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is just the opposite, consisting of p-type source and drain regions with an n-type body. 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138EFC0-607A-4BB2-BCE0-843EA8F37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8C9E6B7-1A57-4022-A79F-A3588B70FA9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756CE2E-1475-402A-880A-306E06AD56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3DB88EE-EB8B-4C54-B358-C24A103B4A2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124686F-9348-4C56-A1B7-87B40D298DCB}"/>
              </a:ext>
            </a:extLst>
          </p:cNvPr>
          <p:cNvSpPr/>
          <p:nvPr/>
        </p:nvSpPr>
        <p:spPr>
          <a:xfrm>
            <a:off x="4632298" y="1281387"/>
            <a:ext cx="29274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4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5A0CA5C2-FC38-42EF-94D8-44EEF2194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000250"/>
            <a:ext cx="3260698" cy="16573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42FB1EEF-34A7-4F68-876D-FCED2D726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286275"/>
            <a:ext cx="3767530" cy="165735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37664B0-17B5-B4B3-2A3E-072A42941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950625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9B18D80-C48F-4283-A799-1A09FEFD30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1" y="1502778"/>
            <a:ext cx="5029200" cy="223102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 </a:t>
            </a:r>
            <a:r>
              <a:rPr lang="en-US" sz="18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1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body is generally grounded so the p–n junctions of the source and drain to body are 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reverse-biased.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the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gate is also grounded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no current flows through the reverse-biased junctions, the </a:t>
            </a:r>
            <a:r>
              <a:rPr lang="en-US" sz="1800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</a:rPr>
              <a:t>transistor is OFF.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2417E76-F25E-4953-A37C-60DE96BE41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D71727C-CD52-4108-A7B5-C2611BC2B9B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599472-D296-417C-AB0B-CE439CEC35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77D0C06-96F7-4DF4-9298-F6F1597B3BC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94D79A7-1E60-499D-8201-250135E1BC90}"/>
              </a:ext>
            </a:extLst>
          </p:cNvPr>
          <p:cNvSpPr/>
          <p:nvPr/>
        </p:nvSpPr>
        <p:spPr>
          <a:xfrm>
            <a:off x="3832957" y="1102667"/>
            <a:ext cx="4227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As a Switch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277B5AD-CFF2-488B-80F8-9B7550C39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787626"/>
            <a:ext cx="2971800" cy="223102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AFCBB95C-5EFE-474E-85D4-178AD18F01A9}"/>
              </a:ext>
            </a:extLst>
          </p:cNvPr>
          <p:cNvSpPr/>
          <p:nvPr/>
        </p:nvSpPr>
        <p:spPr>
          <a:xfrm>
            <a:off x="1752602" y="3837992"/>
            <a:ext cx="86867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the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gate voltage is raised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it creates an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electric field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that starts to attract free electrons to the underside of the Si–SiO2 interface.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the 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voltage is raised enough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the electrons out number the holes and a thin region under the gate called the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channel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is inverted to act as an </a:t>
            </a:r>
            <a:r>
              <a:rPr lang="en-US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n-type semiconductor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 </a:t>
            </a:r>
          </a:p>
          <a:p>
            <a:pPr lvl="2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a conducting path of electron carriers is formed from source to drain and current can flow,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Bookman Old Style" panose="02050604050505020204" pitchFamily="18" charset="0"/>
              </a:rPr>
              <a:t>the transistor is ON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IN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5FE8CE4B-5B8A-E9F9-4AB1-79399F0FF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5927838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AC325B6-E8BA-4BC8-866F-DBFDF1CF46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502778"/>
            <a:ext cx="8686800" cy="2459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An </a:t>
            </a:r>
            <a:r>
              <a:rPr lang="en-US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the gate of an </a:t>
            </a:r>
            <a:r>
              <a:rPr lang="en-US" sz="20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is 0,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the transistor is 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OFF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and no current flows from source to drain</a:t>
            </a:r>
          </a:p>
          <a:p>
            <a:pPr marL="457200" lvl="1" indent="0" algn="just">
              <a:buNone/>
            </a:pPr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the gate of an </a:t>
            </a:r>
            <a:r>
              <a:rPr lang="en-US" sz="18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nMOS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is 1, </a:t>
            </a:r>
          </a:p>
          <a:p>
            <a:pPr lvl="1" algn="just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the transistor is</a:t>
            </a:r>
            <a:r>
              <a:rPr lang="en-US" sz="1800" b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ON </a:t>
            </a: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and there is a conducting path from source to drain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039944C-3A0C-45DC-B6B0-048CEAEF187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C28DE32-94FF-4F74-8A71-F78D83388EC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BD894E4-C908-4AFA-A197-B425EA9D41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105EE39-1CDB-403A-B1F3-1DC8D573AE1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C710390-B922-4A52-B570-DF4943326C74}"/>
              </a:ext>
            </a:extLst>
          </p:cNvPr>
          <p:cNvSpPr/>
          <p:nvPr/>
        </p:nvSpPr>
        <p:spPr>
          <a:xfrm>
            <a:off x="3832957" y="1102667"/>
            <a:ext cx="4227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As a Switch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BFC0093-113B-4DAB-89C9-4007BEF95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152" y="3810000"/>
            <a:ext cx="6743699" cy="2286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0C53512-C23C-A8EB-DD8E-973AE54EF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887541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4670687B-B0AD-4484-A32E-128D364DA9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502777"/>
            <a:ext cx="4876800" cy="260790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 </a:t>
            </a:r>
            <a:r>
              <a:rPr lang="en-US" sz="38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pMOS</a:t>
            </a:r>
            <a:r>
              <a:rPr lang="en-US" sz="38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situation is again reversed. The body is held at a positive voltage.</a:t>
            </a:r>
          </a:p>
          <a:p>
            <a:pPr marL="0" indent="0" algn="just">
              <a:buNone/>
            </a:pPr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33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the gate is also at a positive voltage, </a:t>
            </a:r>
          </a:p>
          <a:p>
            <a:pPr lvl="1" algn="just"/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source and drain junctions are reverse-biased and no current flows, the </a:t>
            </a:r>
            <a:r>
              <a:rPr lang="en-US" sz="3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transistor is OFF. </a:t>
            </a: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00BD3F-487F-4825-9C26-2089A2E88C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B1C0ABB-7ED0-4228-A7E3-353AFB00AB6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3E1EEE0-FC8F-4D5C-B296-9060C13B5D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347DACE-21CC-426E-A537-D1FE293C3D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5FEDFA8-A9E4-4AE6-891D-2C6950640B2E}"/>
              </a:ext>
            </a:extLst>
          </p:cNvPr>
          <p:cNvSpPr/>
          <p:nvPr/>
        </p:nvSpPr>
        <p:spPr>
          <a:xfrm>
            <a:off x="3832957" y="1102667"/>
            <a:ext cx="4227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As a Switch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CA352F1-E4D5-404D-B034-5321C8408A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1870" y="1462896"/>
            <a:ext cx="3767530" cy="26711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A6C87EE-7151-473D-A8C0-686BA864FB7D}"/>
              </a:ext>
            </a:extLst>
          </p:cNvPr>
          <p:cNvSpPr/>
          <p:nvPr/>
        </p:nvSpPr>
        <p:spPr>
          <a:xfrm>
            <a:off x="1752600" y="4110685"/>
            <a:ext cx="868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the gate voltage is lowered,</a:t>
            </a:r>
          </a:p>
          <a:p>
            <a:pPr marL="742950" lvl="1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positive charges are attracted to the underside of the Si–SiO2 interface. </a:t>
            </a:r>
          </a:p>
          <a:p>
            <a:pPr lvl="1" algn="just"/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A sufficiently low gate voltage,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 inverts the channel and a conducting path of positive carriers is formed from  source to drain,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transistor is ON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CEF6F81F-6943-8470-3673-B535938D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9539057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A7E5780F-73A5-467E-95E1-D76D1DA3F8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502778"/>
            <a:ext cx="8686800" cy="245962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 </a:t>
            </a:r>
            <a:r>
              <a:rPr lang="en-US" sz="22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2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the gate of an </a:t>
            </a:r>
            <a:r>
              <a:rPr lang="en-US" sz="22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200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is 0,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the transistor is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ON</a:t>
            </a: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and there is a conducting path from source to drain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2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the gate of an </a:t>
            </a:r>
            <a:r>
              <a:rPr lang="en-US" sz="22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200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is 1,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the transistor is </a:t>
            </a:r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OFF</a:t>
            </a: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and no current flows from source to drain</a:t>
            </a:r>
          </a:p>
          <a:p>
            <a:pPr marL="0" indent="0">
              <a:buNone/>
            </a:pPr>
            <a:endParaRPr lang="en-US" sz="2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7B9F4A9-C928-4855-A11F-22FA910C188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4DAF522-9D4C-4295-97D8-D8E088D3861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BEC2F60-F6CA-49AF-B161-553C9227FF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8AA03C-F42C-47EB-90E8-5AFC064B3B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50CAB1A9-0169-474F-A612-CE98C219D5E7}"/>
              </a:ext>
            </a:extLst>
          </p:cNvPr>
          <p:cNvSpPr/>
          <p:nvPr/>
        </p:nvSpPr>
        <p:spPr>
          <a:xfrm>
            <a:off x="1683982" y="5563345"/>
            <a:ext cx="875541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Notice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 : The symbol for the </a:t>
            </a:r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pMOS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has a bubble on the gate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 indicating that the transistor behavior is the opposite of the </a:t>
            </a:r>
            <a:r>
              <a:rPr lang="en-US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nMOS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. </a:t>
            </a: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53AB3104-3103-462F-B8B8-4964100A13D4}"/>
              </a:ext>
            </a:extLst>
          </p:cNvPr>
          <p:cNvSpPr/>
          <p:nvPr/>
        </p:nvSpPr>
        <p:spPr>
          <a:xfrm>
            <a:off x="3832957" y="1102667"/>
            <a:ext cx="42271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As a Switch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5CE498D-5356-434E-9E9E-F4ABAA409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810000"/>
            <a:ext cx="6324600" cy="1676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3562FB76-D3B4-4293-8C33-997B978A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1" y="3749625"/>
            <a:ext cx="2743199" cy="3714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DDFE09C9-6417-2CCA-B94B-C5D3D52EC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689290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131E4DB1-F3A3-49E1-B834-188F024F85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transistor: </a:t>
            </a:r>
          </a:p>
          <a:p>
            <a:pPr lvl="1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majority carriers are electrons(greater mobility)</a:t>
            </a:r>
          </a:p>
          <a:p>
            <a:pPr lvl="1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p-substrate doped (positively doped)</a:t>
            </a:r>
          </a:p>
          <a:p>
            <a:pPr marL="0" indent="0">
              <a:buNone/>
            </a:pP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pMOS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transistor: </a:t>
            </a:r>
          </a:p>
          <a:p>
            <a:pPr lvl="1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majority carriers are holes (less</a:t>
            </a:r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mobility),</a:t>
            </a:r>
          </a:p>
          <a:p>
            <a:pPr lvl="1"/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n-substrate (negatively doped)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Mode of operation depends on V</a:t>
            </a:r>
            <a:r>
              <a:rPr lang="en-US" sz="18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, V</a:t>
            </a:r>
            <a:r>
              <a:rPr lang="en-US" sz="18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, V</a:t>
            </a:r>
            <a:r>
              <a:rPr lang="en-US" sz="18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s</a:t>
            </a:r>
          </a:p>
          <a:p>
            <a:pPr marL="457200" lvl="1" indent="0">
              <a:buNone/>
            </a:pPr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EF7800B-FBE0-4AB9-BD8D-517489208AF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B6E31BF-1694-4C31-8964-4766DDC9F65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DC1C9B4-AF8A-421B-9B1C-8F26FF52AE0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6AF512-FF98-40F3-8DCE-3D45A27B045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35B6CD0-530F-427C-B380-516E40AA9C70}"/>
              </a:ext>
            </a:extLst>
          </p:cNvPr>
          <p:cNvSpPr/>
          <p:nvPr/>
        </p:nvSpPr>
        <p:spPr>
          <a:xfrm>
            <a:off x="2380966" y="1102668"/>
            <a:ext cx="713111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2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2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Theory &amp; Terminal Voltages </a:t>
            </a:r>
          </a:p>
        </p:txBody>
      </p:sp>
      <p:sp>
        <p:nvSpPr>
          <p:cNvPr id="11" name="object 8">
            <a:extLst>
              <a:ext uri="{FF2B5EF4-FFF2-40B4-BE49-F238E27FC236}">
                <a16:creationId xmlns="" xmlns:a16="http://schemas.microsoft.com/office/drawing/2014/main" id="{1E89ABBE-63C8-41CC-8FAB-1D1A1886E893}"/>
              </a:ext>
            </a:extLst>
          </p:cNvPr>
          <p:cNvSpPr txBox="1"/>
          <p:nvPr/>
        </p:nvSpPr>
        <p:spPr>
          <a:xfrm>
            <a:off x="3048001" y="3949371"/>
            <a:ext cx="2205135" cy="754053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0165">
              <a:spcBef>
                <a:spcPts val="580"/>
              </a:spcBef>
              <a:tabLst>
                <a:tab pos="337185" algn="l"/>
                <a:tab pos="337820" algn="l"/>
              </a:tabLst>
            </a:pP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gs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= </a:t>
            </a: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 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–</a:t>
            </a:r>
            <a:r>
              <a:rPr sz="2000" spc="-12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s</a:t>
            </a:r>
            <a:endParaRPr sz="2000" baseline="-21367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pPr marL="50165">
              <a:spcBef>
                <a:spcPts val="480"/>
              </a:spcBef>
              <a:tabLst>
                <a:tab pos="337185" algn="l"/>
                <a:tab pos="337820" algn="l"/>
              </a:tabLst>
            </a:pP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gd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= </a:t>
            </a: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 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–</a:t>
            </a:r>
            <a:r>
              <a:rPr sz="2000" spc="-12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2000" spc="5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</a:t>
            </a:r>
            <a:endParaRPr sz="2000" baseline="-21367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="" xmlns:a16="http://schemas.microsoft.com/office/drawing/2014/main" id="{155B4EC0-47EA-4CB3-AED2-B4975B33F6E0}"/>
              </a:ext>
            </a:extLst>
          </p:cNvPr>
          <p:cNvSpPr txBox="1"/>
          <p:nvPr/>
        </p:nvSpPr>
        <p:spPr>
          <a:xfrm>
            <a:off x="2812372" y="4770069"/>
            <a:ext cx="299279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spcBef>
                <a:spcPts val="105"/>
              </a:spcBef>
              <a:tabLst>
                <a:tab pos="337185" algn="l"/>
              </a:tabLst>
            </a:pPr>
            <a:r>
              <a:rPr sz="2000" spc="5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ds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= </a:t>
            </a: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– </a:t>
            </a:r>
            <a:r>
              <a:rPr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s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= </a:t>
            </a:r>
            <a:r>
              <a:rPr sz="2000" spc="1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sz="2000" spc="15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gs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-</a:t>
            </a:r>
            <a:r>
              <a:rPr sz="2000" spc="2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BD05D513-3E29-4B9B-861A-1A9B2EA195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9211" y="4125903"/>
            <a:ext cx="2000250" cy="1790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229B0953-EC23-4B61-B69A-83610F228CCE}"/>
              </a:ext>
            </a:extLst>
          </p:cNvPr>
          <p:cNvSpPr/>
          <p:nvPr/>
        </p:nvSpPr>
        <p:spPr>
          <a:xfrm>
            <a:off x="1752601" y="5118550"/>
            <a:ext cx="6234211" cy="1002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 Source and drain are symmetric diffusion terminals</a:t>
            </a:r>
          </a:p>
          <a:p>
            <a:pPr marL="894080" indent="-287020">
              <a:spcBef>
                <a:spcPts val="575"/>
              </a:spcBef>
              <a:buChar char="–"/>
              <a:tabLst>
                <a:tab pos="894080" algn="l"/>
                <a:tab pos="894715" algn="l"/>
              </a:tabLst>
            </a:pPr>
            <a:r>
              <a:rPr lang="en-US" sz="16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By convention,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source is </a:t>
            </a:r>
            <a:r>
              <a:rPr lang="en-US" sz="16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terminal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at lower</a:t>
            </a:r>
            <a:r>
              <a:rPr lang="en-US" sz="1600" spc="-10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16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voltage</a:t>
            </a:r>
            <a:endParaRPr lang="en-US" sz="1600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pPr marL="894080" indent="-287020">
              <a:spcBef>
                <a:spcPts val="480"/>
              </a:spcBef>
              <a:buChar char="–"/>
              <a:tabLst>
                <a:tab pos="894080" algn="l"/>
                <a:tab pos="894715" algn="l"/>
              </a:tabLst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Hence </a:t>
            </a:r>
            <a:r>
              <a:rPr lang="en-US" sz="1600" spc="10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lang="en-US" sz="1600" spc="15" baseline="-21367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ds</a:t>
            </a:r>
            <a:r>
              <a:rPr lang="en-US" sz="1600" spc="15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1600" dirty="0">
                <a:latin typeface="Symbol"/>
                <a:cs typeface="Symbol"/>
              </a:rPr>
              <a:t></a:t>
            </a:r>
            <a:r>
              <a:rPr lang="en-US" sz="1600" spc="-19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0</a:t>
            </a: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04C6F12-36FB-6ADA-045E-2B5D345E9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4109922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2F2AB830-32EA-40A1-9160-F575897C0A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1"/>
            <a:ext cx="8686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Simple MOS structure 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top layer of the structure is a good conductor called the </a:t>
            </a:r>
            <a:r>
              <a:rPr lang="en-US" sz="16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gate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Early transistors used metal gates.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Transistor gates soon changed to use polysilicon, i.e., silicon formed from many small crystals, although metal gates are making a resurgence at 65 nm and beyond.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middle layer is a very thin insulating film of SiO2 called the </a:t>
            </a:r>
            <a:r>
              <a:rPr lang="en-US" sz="16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gate oxide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bottom layer is the doped silicon body.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The figure shows a p-type body in which the carriers are holes. The body is grounded and a voltage is applied to the gate. The gate oxide is a good insulator so almost zero current flows from the gate to the body.</a:t>
            </a:r>
            <a:endParaRPr lang="en-IN" sz="1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5627B21-DA27-46F5-A318-AA34ACD8F56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6491435-BDDA-4DFE-9737-BAB0990A648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8767D9-11D3-4B1B-BA58-83EE25B9E0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27EE43E-2D42-415F-A849-66502A5AE82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97EF65A-356A-4107-B67B-BDE1530788B3}"/>
              </a:ext>
            </a:extLst>
          </p:cNvPr>
          <p:cNvSpPr/>
          <p:nvPr/>
        </p:nvSpPr>
        <p:spPr>
          <a:xfrm>
            <a:off x="3963611" y="1102668"/>
            <a:ext cx="396582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2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IN" sz="22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Theory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72EEBC2E-83DD-4D23-B124-82E9BF7EE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6" y="4619626"/>
            <a:ext cx="5248275" cy="17430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794AB14D-CAC9-4898-A918-E52DB2252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483" y="4686301"/>
            <a:ext cx="3260698" cy="165735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9F3FD7EF-DDB5-0CB5-350D-35E6FCAF7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5776310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6D8EE4B-523D-4FCC-B71E-8E23C4C2C4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0709BDE-F8E8-4C1F-8052-AF818199DEB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CCFA5F0-10B6-4BE7-9C3D-751EB5CEB3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A7F78E-BEDD-4D46-923A-8D7F24EDFE2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C628F48E-B7C4-4FF6-9033-F6F2F0CAA4E8}"/>
              </a:ext>
            </a:extLst>
          </p:cNvPr>
          <p:cNvSpPr/>
          <p:nvPr/>
        </p:nvSpPr>
        <p:spPr>
          <a:xfrm>
            <a:off x="3657600" y="942315"/>
            <a:ext cx="51207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- Operating Modes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96346723-F38A-4E81-973A-311F5B4DD5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6113" y="1752600"/>
            <a:ext cx="3962400" cy="4495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700" b="1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Gate Biasing : </a:t>
            </a:r>
          </a:p>
          <a:p>
            <a:pPr marL="0" indent="0" algn="just">
              <a:buNone/>
            </a:pPr>
            <a:r>
              <a:rPr lang="en-US" sz="17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Vgs</a:t>
            </a:r>
            <a:r>
              <a:rPr lang="en-US" sz="1700" dirty="0">
                <a:solidFill>
                  <a:srgbClr val="FF0000"/>
                </a:solidFill>
                <a:latin typeface="Bookman Old Style" panose="02050604050505020204" pitchFamily="18" charset="0"/>
              </a:rPr>
              <a:t>=0: </a:t>
            </a:r>
          </a:p>
          <a:p>
            <a:pPr algn="just"/>
            <a:r>
              <a:rPr lang="en-US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no current flows from source to drain (insulated by </a:t>
            </a:r>
            <a:r>
              <a:rPr lang="en-IN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two reverse biased </a:t>
            </a:r>
            <a:r>
              <a:rPr lang="en-IN" sz="17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pn</a:t>
            </a:r>
            <a:r>
              <a:rPr lang="en-IN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 junctions</a:t>
            </a:r>
          </a:p>
          <a:p>
            <a:pPr marL="0" indent="0">
              <a:buNone/>
            </a:pPr>
            <a:r>
              <a:rPr lang="en-US" sz="17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Vgs</a:t>
            </a:r>
            <a:r>
              <a:rPr lang="en-US" sz="1700" dirty="0">
                <a:solidFill>
                  <a:srgbClr val="FF0000"/>
                </a:solidFill>
                <a:latin typeface="Bookman Old Style" panose="02050604050505020204" pitchFamily="18" charset="0"/>
              </a:rPr>
              <a:t>&gt;0: </a:t>
            </a:r>
          </a:p>
          <a:p>
            <a:r>
              <a:rPr lang="en-US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electric field created </a:t>
            </a:r>
            <a:r>
              <a:rPr lang="en-IN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across substrate 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FF0000"/>
                </a:solidFill>
                <a:latin typeface="Bookman Old Style" panose="02050604050505020204" pitchFamily="18" charset="0"/>
              </a:rPr>
              <a:t>Electrons accumulate </a:t>
            </a:r>
            <a:r>
              <a:rPr lang="en-US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under gate: region changes from p-type </a:t>
            </a:r>
            <a:r>
              <a:rPr lang="en-IN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to n-type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700" dirty="0">
                <a:solidFill>
                  <a:srgbClr val="0070C0"/>
                </a:solidFill>
                <a:latin typeface="Bookman Old Style" panose="02050604050505020204" pitchFamily="18" charset="0"/>
              </a:rPr>
              <a:t>Conduction path between source and drain</a:t>
            </a:r>
            <a:endParaRPr lang="en-IN" sz="1700" b="1" spc="-5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FF0000"/>
                </a:solidFill>
                <a:latin typeface="Bookman Old Style" panose="02050604050505020204" pitchFamily="18" charset="0"/>
              </a:rPr>
              <a:t>Enhancement - mode transistor: </a:t>
            </a:r>
            <a:r>
              <a:rPr lang="en-US" sz="1700" dirty="0">
                <a:solidFill>
                  <a:srgbClr val="002060"/>
                </a:solidFill>
                <a:latin typeface="Bookman Old Style" panose="02050604050505020204" pitchFamily="18" charset="0"/>
              </a:rPr>
              <a:t>Conducts when gate bias </a:t>
            </a:r>
            <a:r>
              <a:rPr lang="en-IN" sz="17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Vgs</a:t>
            </a:r>
            <a:r>
              <a:rPr lang="en-IN" sz="1700" dirty="0">
                <a:solidFill>
                  <a:srgbClr val="002060"/>
                </a:solidFill>
                <a:latin typeface="Bookman Old Style" panose="02050604050505020204" pitchFamily="18" charset="0"/>
              </a:rPr>
              <a:t> &gt; Vt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700" dirty="0">
                <a:solidFill>
                  <a:srgbClr val="FF0000"/>
                </a:solidFill>
                <a:latin typeface="Bookman Old Style" panose="02050604050505020204" pitchFamily="18" charset="0"/>
              </a:rPr>
              <a:t>Depletion - mode transistor: </a:t>
            </a:r>
            <a:r>
              <a:rPr lang="en-US" sz="1700" dirty="0">
                <a:solidFill>
                  <a:srgbClr val="002060"/>
                </a:solidFill>
                <a:latin typeface="Bookman Old Style" panose="02050604050505020204" pitchFamily="18" charset="0"/>
              </a:rPr>
              <a:t>Conducts when gate bias is zero</a:t>
            </a:r>
            <a:endParaRPr lang="en-IN" sz="17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E739F4C9-DFAA-40D4-8A54-0AE6EEACB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10" y="1905000"/>
            <a:ext cx="4577076" cy="38862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556DD0D-9E15-D7D9-DEDB-65AE59381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610215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C44A52F-F56E-4550-82B6-509692223D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6ED9BE5-0631-458F-9A07-A32F8689761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D7E78E-1F1B-4296-AA3F-E0CA9A679B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655EDE-33F6-4713-B50B-7B64182A6C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2C169DA-4B19-42D0-8268-D67D9E5BD0DA}"/>
              </a:ext>
            </a:extLst>
          </p:cNvPr>
          <p:cNvSpPr/>
          <p:nvPr/>
        </p:nvSpPr>
        <p:spPr>
          <a:xfrm>
            <a:off x="3552088" y="972960"/>
            <a:ext cx="51207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- Operating Modes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65D0EDF-1FAA-4ECA-8A2A-629BB0D22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4437" y="1644812"/>
            <a:ext cx="3581400" cy="2152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0131BE9-8824-48C2-BB28-7A9EAD436EA5}"/>
              </a:ext>
            </a:extLst>
          </p:cNvPr>
          <p:cNvSpPr/>
          <p:nvPr/>
        </p:nvSpPr>
        <p:spPr>
          <a:xfrm>
            <a:off x="1845907" y="1731764"/>
            <a:ext cx="5029200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Accumulation Mode:</a:t>
            </a:r>
            <a:r>
              <a:rPr lang="en-US" sz="2000" b="1" dirty="0">
                <a:solidFill>
                  <a:srgbClr val="231F2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Figure (a)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 negative voltage is applied to the gate, so there is negative charge on the gate.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mobile positively charged holes are attracted to the region beneath the gate. This is called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accumulation mode.</a:t>
            </a:r>
          </a:p>
          <a:p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Depletion Mode :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Figure</a:t>
            </a:r>
            <a:r>
              <a:rPr lang="en-US" dirty="0"/>
              <a:t>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(b)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 small positive voltage is applied to the gate, resulting in some positive charge on the gate.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holes in the body are repelled from the region directly beneath the gate, resulting in a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depletion region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forming </a:t>
            </a:r>
            <a:r>
              <a:rPr lang="en-IN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below the gate.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55DF32CB-CCC3-433F-AB61-A09CBD763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201" y="3886200"/>
            <a:ext cx="3477208" cy="18478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52DFA315-FC08-78C2-4441-B0B77E68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4249654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C44A52F-F56E-4550-82B6-509692223D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E2C95C9-86FA-4500-B917-95675031F0E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2D7E78E-1F1B-4296-AA3F-E0CA9A679BD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7655EDE-33F6-4713-B50B-7B64182A6C3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D2C169DA-4B19-42D0-8268-D67D9E5BD0DA}"/>
              </a:ext>
            </a:extLst>
          </p:cNvPr>
          <p:cNvSpPr/>
          <p:nvPr/>
        </p:nvSpPr>
        <p:spPr>
          <a:xfrm>
            <a:off x="3583188" y="1102665"/>
            <a:ext cx="512071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- Operating Modes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40131BE9-8824-48C2-BB28-7A9EAD436EA5}"/>
              </a:ext>
            </a:extLst>
          </p:cNvPr>
          <p:cNvSpPr/>
          <p:nvPr/>
        </p:nvSpPr>
        <p:spPr>
          <a:xfrm>
            <a:off x="381000" y="1731764"/>
            <a:ext cx="7543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Inversion Mode:</a:t>
            </a:r>
            <a:r>
              <a:rPr lang="en-US" sz="2000" b="1" dirty="0">
                <a:solidFill>
                  <a:srgbClr val="231F2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Figure (c)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 higher positive potential exceeding acritical threshold voltage Vt is applied, attracting more positive charge to the gate. </a:t>
            </a:r>
          </a:p>
          <a:p>
            <a:pPr marL="285750" indent="-285750" algn="just"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holes are repelled further and some free electrons in the body are attracted to the region beneath the gate. This conductive layer of electrons in the p-type body is called the </a:t>
            </a:r>
            <a:r>
              <a:rPr lang="en-US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inversion layer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479B86B3-324D-4E38-9C02-9D7089C73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954846"/>
            <a:ext cx="4174319" cy="265638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501A063D-CFFE-963E-BB97-2100D2707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8809181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F3A5A4E9-C2DE-472E-A671-2F0742BACA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46368"/>
            <a:ext cx="3962400" cy="1477833"/>
          </a:xfrm>
        </p:spPr>
        <p:txBody>
          <a:bodyPr>
            <a:normAutofit lnSpcReduction="10000"/>
          </a:bodyPr>
          <a:lstStyle/>
          <a:p>
            <a:pPr marL="493395" indent="-455930">
              <a:spcBef>
                <a:spcPts val="480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Three regions of</a:t>
            </a:r>
            <a:r>
              <a:rPr lang="en-US" sz="2000" spc="-9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operation</a:t>
            </a:r>
          </a:p>
          <a:p>
            <a:pPr marL="894080" lvl="1" indent="-287020">
              <a:spcBef>
                <a:spcPts val="480"/>
              </a:spcBef>
              <a:buFont typeface="Arial"/>
              <a:buChar char="–"/>
              <a:tabLst>
                <a:tab pos="894080" algn="l"/>
                <a:tab pos="894715" algn="l"/>
              </a:tabLst>
            </a:pPr>
            <a:r>
              <a:rPr lang="en-US" sz="2000" i="1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Cutoff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pPr marL="894080" lvl="1" indent="-287020">
              <a:spcBef>
                <a:spcPts val="480"/>
              </a:spcBef>
              <a:buFont typeface="Arial"/>
              <a:buChar char="–"/>
              <a:tabLst>
                <a:tab pos="894080" algn="l"/>
                <a:tab pos="894715" algn="l"/>
              </a:tabLst>
            </a:pPr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Linear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pPr marL="894080" lvl="1" indent="-287020">
              <a:spcBef>
                <a:spcPts val="480"/>
              </a:spcBef>
              <a:buFont typeface="Arial"/>
              <a:buChar char="–"/>
              <a:tabLst>
                <a:tab pos="894080" algn="l"/>
                <a:tab pos="894715" algn="l"/>
              </a:tabLst>
            </a:pPr>
            <a:r>
              <a:rPr lang="en-US" sz="2000" i="1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Saturation</a:t>
            </a:r>
            <a:endParaRPr lang="en-IN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4606D6C-B841-4375-86E4-B16EA9EEF0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21B4A99-5CBA-49F4-B926-E2349E211BE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B26E449-4718-4551-AF4B-9BB7AA6E2E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9EF4963-4FE5-4FEA-A5FB-836D9351141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BEF48F9-8294-4D89-A440-E3F296EEBCED}"/>
              </a:ext>
            </a:extLst>
          </p:cNvPr>
          <p:cNvSpPr/>
          <p:nvPr/>
        </p:nvSpPr>
        <p:spPr>
          <a:xfrm>
            <a:off x="3002241" y="988444"/>
            <a:ext cx="61875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Regions of Operation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0734025E-8458-42ED-8692-D15475602264}"/>
              </a:ext>
            </a:extLst>
          </p:cNvPr>
          <p:cNvSpPr/>
          <p:nvPr/>
        </p:nvSpPr>
        <p:spPr>
          <a:xfrm>
            <a:off x="1766596" y="3429000"/>
            <a:ext cx="865880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The transistor consists of the MOS stack between two n-type regions called the </a:t>
            </a:r>
            <a:r>
              <a:rPr lang="en-US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source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and </a:t>
            </a:r>
            <a:r>
              <a:rPr lang="en-US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drain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. </a:t>
            </a:r>
          </a:p>
          <a:p>
            <a:pPr algn="just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In the above Figure,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The gate-to-source voltage </a:t>
            </a:r>
            <a:r>
              <a:rPr lang="en-US" i="1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Vgs</a:t>
            </a:r>
            <a:r>
              <a:rPr lang="en-US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is less than the threshold voltage </a:t>
            </a:r>
            <a:r>
              <a:rPr lang="en-US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V</a:t>
            </a:r>
            <a:r>
              <a:rPr lang="en-US" i="1" baseline="-25000" dirty="0">
                <a:solidFill>
                  <a:srgbClr val="002060"/>
                </a:solidFill>
                <a:latin typeface="Bookman Old Style" panose="02050604050505020204" pitchFamily="18" charset="0"/>
              </a:rPr>
              <a:t>t</a:t>
            </a:r>
            <a:endParaRPr lang="en-US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The source and drain have free electrons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body has free holes but no free electrons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If the source is grounded,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The junctions between the body and the source or drain are zero-biased or reverse-biased, little or no current flows, the transistor is OFF, and this mode of operation is called 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cutoff.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44D800BC-2B03-43B3-B492-E80B9F79D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1662633"/>
            <a:ext cx="4233865" cy="175010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92C3037D-65D4-5981-3897-E6188AF30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8199011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C6D764E-4B08-48F4-A117-964A1DF29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88028" y="1524000"/>
            <a:ext cx="5791199" cy="473845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In first figure,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voltage is greater than the threshold voltage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an inversion region of electrons (majority carriers) called the </a:t>
            </a:r>
            <a:r>
              <a:rPr lang="en-US" sz="16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channel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connects the source and drain, creating a conductive path and turning the transistor ON.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number of carriers and the conductivity increases with the gate voltage. The potential difference between drain and source is</a:t>
            </a:r>
          </a:p>
          <a:p>
            <a:endParaRPr lang="en-US" sz="16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there is no electric field tending to push current from drain to source.</a:t>
            </a:r>
            <a:endParaRPr lang="en-IN" sz="1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D5009A-2A71-41BC-8A61-5A3427E83C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E363CC8-1299-4E8A-B4F6-7A16DA35CB6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608A17C-7171-4BA0-8EAE-5597EB160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9D800A8-4E9D-4A4D-8425-01F007CE84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8CDB9B4-9EC6-4F47-9E23-5A51C806A70C}"/>
              </a:ext>
            </a:extLst>
          </p:cNvPr>
          <p:cNvSpPr/>
          <p:nvPr/>
        </p:nvSpPr>
        <p:spPr>
          <a:xfrm>
            <a:off x="0" y="1371600"/>
            <a:ext cx="58674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</a:t>
            </a:r>
          </a:p>
          <a:p>
            <a:pPr algn="ctr"/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Regions of Operation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753EA73D-687E-46DC-9E25-1F786D29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981205"/>
            <a:ext cx="4897016" cy="4419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FF208459-CF1D-4C0D-AD17-47FE2F15C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4953001"/>
            <a:ext cx="3238500" cy="2952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D771FF8F-D731-AF59-DF4B-85FCD7181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193494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C6D764E-4B08-48F4-A117-964A1DF29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179" y="1780702"/>
            <a:ext cx="3810000" cy="433360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In Second figure,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a small positive potential </a:t>
            </a:r>
            <a:r>
              <a:rPr lang="en-US" sz="18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</a:t>
            </a:r>
            <a:r>
              <a:rPr lang="en-US" sz="1800" baseline="-25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is applied to the drain 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current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I</a:t>
            </a:r>
            <a:r>
              <a:rPr lang="en-US" sz="1800" baseline="-25000" dirty="0">
                <a:solidFill>
                  <a:srgbClr val="C00000"/>
                </a:solidFill>
                <a:latin typeface="Bookman Old Style" panose="02050604050505020204" pitchFamily="18" charset="0"/>
              </a:rPr>
              <a:t>ds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flows through the channel from drain to source.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This mode of operation is termed 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linear,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resistive, triode, non-saturate or unsaturated   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current increases with both the drain voltage</a:t>
            </a:r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gate voltage</a:t>
            </a: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D5009A-2A71-41BC-8A61-5A3427E83C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65BB704-DE8A-4E96-A81F-E5669C2419F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608A17C-7171-4BA0-8EAE-5597EB160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9D800A8-4E9D-4A4D-8425-01F007CE84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8CDB9B4-9EC6-4F47-9E23-5A51C806A70C}"/>
              </a:ext>
            </a:extLst>
          </p:cNvPr>
          <p:cNvSpPr/>
          <p:nvPr/>
        </p:nvSpPr>
        <p:spPr>
          <a:xfrm>
            <a:off x="2362200" y="1422382"/>
            <a:ext cx="685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Regions of Operation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753EA73D-687E-46DC-9E25-1F786D29F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84" y="1694061"/>
            <a:ext cx="4897016" cy="456349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D9DC0D1-86DB-28FB-C607-5CCCA6B2B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820830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9C6D764E-4B08-48F4-A117-964A1DF29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3886207"/>
            <a:ext cx="10433180" cy="251459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If </a:t>
            </a:r>
            <a:r>
              <a:rPr lang="en-US" sz="1600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b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ecomes sufficiently large that </a:t>
            </a:r>
            <a:r>
              <a:rPr lang="en-US" sz="1600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gd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&lt; 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,</a:t>
            </a:r>
          </a:p>
          <a:p>
            <a:pPr lvl="1"/>
            <a:r>
              <a:rPr lang="en-US" sz="12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is no longer inverted near the drain and becomes 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pinched off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Conduction is still brought about by the drift of electrons under the influence of the positive drain voltage. 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As electrons reach the end of the channel, they are injected into the depletion region near the drain and accelerated toward the drain.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Above this drain voltage the current 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1600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controlled only by the gate voltage and ceases to be influenced by the drain. This 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mode is called </a:t>
            </a:r>
            <a:r>
              <a:rPr lang="en-IN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saturation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.</a:t>
            </a: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2D5009A-2A71-41BC-8A61-5A3427E83CB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994EC61-957C-4485-BF17-646A7F949A0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608A17C-7171-4BA0-8EAE-5597EB1600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9D800A8-4E9D-4A4D-8425-01F007CE84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8CDB9B4-9EC6-4F47-9E23-5A51C806A70C}"/>
              </a:ext>
            </a:extLst>
          </p:cNvPr>
          <p:cNvSpPr/>
          <p:nvPr/>
        </p:nvSpPr>
        <p:spPr>
          <a:xfrm>
            <a:off x="2533839" y="1447800"/>
            <a:ext cx="685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Regions of Operation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74B8ADA-5106-4286-AB94-EDBDE4752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00" y="1905000"/>
            <a:ext cx="8153400" cy="20574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917EE23F-425A-9CE8-EB38-5BA2E707C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431417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DEA8521-372B-4F0B-AA8E-424A4CAC2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547606"/>
            <a:ext cx="8686800" cy="47769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Summary: 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dirty="0" err="1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 transistor has three modes of operation</a:t>
            </a:r>
            <a:endParaRPr lang="en-US" sz="2000" dirty="0"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If </a:t>
            </a:r>
            <a:r>
              <a:rPr lang="en-US" sz="20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&lt; 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the transistor is cutoff (OFF).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</a:t>
            </a:r>
            <a:r>
              <a:rPr lang="en-US" sz="20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&gt; 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16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the transistor turns ON. </a:t>
            </a:r>
            <a:endParaRPr lang="en-US" sz="1600" dirty="0">
              <a:solidFill>
                <a:srgbClr val="7030A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</a:t>
            </a:r>
            <a:r>
              <a:rPr lang="en-US" sz="20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is small,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the transistor acts as a linear resistor in which the current flow is proportional to </a:t>
            </a:r>
            <a:r>
              <a:rPr lang="en-US" sz="2000" i="1" dirty="0" err="1">
                <a:solidFill>
                  <a:srgbClr val="7030A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</a:t>
            </a:r>
            <a:r>
              <a:rPr lang="en-US" sz="20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&gt; 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and </a:t>
            </a:r>
            <a:r>
              <a:rPr lang="en-US" sz="20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is large,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the transistor acts as a current source in which the current flow becomes independent of </a:t>
            </a:r>
            <a:r>
              <a:rPr lang="en-US" sz="2000" i="1" dirty="0" err="1">
                <a:solidFill>
                  <a:srgbClr val="7030A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rgbClr val="7030A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.</a:t>
            </a:r>
            <a:endParaRPr lang="en-IN" sz="2000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81FECC4-0E50-46E3-80AC-B048E5361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8186779-A35C-407D-BBC6-E2922E2FE96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0E22DD-8381-4B3C-8780-BF73C91E01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C84A041-9A0D-4C91-9617-866EECA856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1E8C6B6-0025-4A13-848B-D0D9C7FBC3DA}"/>
              </a:ext>
            </a:extLst>
          </p:cNvPr>
          <p:cNvSpPr/>
          <p:nvPr/>
        </p:nvSpPr>
        <p:spPr>
          <a:xfrm>
            <a:off x="2971800" y="1471401"/>
            <a:ext cx="685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nMOS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Regions of Operation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797FA547-D6BC-F5C6-9FCA-1EAC84271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8088981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DEA8521-372B-4F0B-AA8E-424A4CAC27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544915"/>
            <a:ext cx="5257800" cy="477699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pMOS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transistor,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7030A0"/>
                </a:solidFill>
                <a:latin typeface="Bookman Old Style" panose="02050604050505020204" pitchFamily="18" charset="0"/>
              </a:rPr>
              <a:t>Operates in just the opposite fashion to </a:t>
            </a:r>
            <a:r>
              <a:rPr lang="en-US" sz="1800" dirty="0" err="1">
                <a:solidFill>
                  <a:srgbClr val="7030A0"/>
                </a:solidFill>
                <a:latin typeface="Bookman Old Style" panose="02050604050505020204" pitchFamily="18" charset="0"/>
              </a:rPr>
              <a:t>nMOS</a:t>
            </a:r>
            <a:r>
              <a:rPr lang="en-US" sz="1800" dirty="0">
                <a:solidFill>
                  <a:srgbClr val="7030A0"/>
                </a:solidFill>
                <a:latin typeface="Bookman Old Style" panose="02050604050505020204" pitchFamily="18" charset="0"/>
              </a:rPr>
              <a:t> transistor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7030A0"/>
                </a:solidFill>
                <a:latin typeface="Bookman Old Style" panose="02050604050505020204" pitchFamily="18" charset="0"/>
              </a:rPr>
              <a:t>The n-type body is tied to a high potential so the junctions with the p-type source and drain are normally reverse-biased.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the gate is also at a high potential, </a:t>
            </a:r>
          </a:p>
          <a:p>
            <a:pPr lvl="1" algn="just"/>
            <a:r>
              <a:rPr lang="en-US" sz="1800" dirty="0">
                <a:solidFill>
                  <a:srgbClr val="7030A0"/>
                </a:solidFill>
                <a:latin typeface="Bookman Old Style" panose="02050604050505020204" pitchFamily="18" charset="0"/>
              </a:rPr>
              <a:t>no current flows between drain and source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the gate voltage is lowered by a threshold </a:t>
            </a:r>
            <a:r>
              <a:rPr lang="en-US" sz="18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Vt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</a:t>
            </a:r>
          </a:p>
          <a:p>
            <a:pPr lvl="1" algn="just"/>
            <a:r>
              <a:rPr lang="en-US" sz="1800" dirty="0">
                <a:latin typeface="Bookman Old Style" panose="02050604050505020204" pitchFamily="18" charset="0"/>
              </a:rPr>
              <a:t> </a:t>
            </a:r>
            <a:r>
              <a:rPr lang="en-US" sz="1800" dirty="0">
                <a:solidFill>
                  <a:srgbClr val="7030A0"/>
                </a:solidFill>
                <a:latin typeface="Bookman Old Style" panose="02050604050505020204" pitchFamily="18" charset="0"/>
              </a:rPr>
              <a:t>holes are attracted to form a p-type channel immediately beneath the gate, allowing current to flow between drain and source</a:t>
            </a:r>
            <a:endParaRPr lang="en-IN" sz="1800" dirty="0">
              <a:solidFill>
                <a:srgbClr val="7030A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81FECC4-0E50-46E3-80AC-B048E53611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FAE6830-334B-47C2-B71A-493FE3FC1E2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E0E22DD-8381-4B3C-8780-BF73C91E01B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C84A041-9A0D-4C91-9617-866EECA856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1E8C6B6-0025-4A13-848B-D0D9C7FBC3DA}"/>
              </a:ext>
            </a:extLst>
          </p:cNvPr>
          <p:cNvSpPr/>
          <p:nvPr/>
        </p:nvSpPr>
        <p:spPr>
          <a:xfrm>
            <a:off x="2286000" y="977131"/>
            <a:ext cx="68580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pMOS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Operation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26F2B8D9-127E-444C-8FEA-9B4C5599E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0400" y="1547606"/>
            <a:ext cx="3074048" cy="1981200"/>
          </a:xfrm>
          <a:prstGeom prst="rect">
            <a:avLst/>
          </a:prstGeom>
        </p:spPr>
      </p:pic>
      <p:sp>
        <p:nvSpPr>
          <p:cNvPr id="11" name="object 2">
            <a:extLst>
              <a:ext uri="{FF2B5EF4-FFF2-40B4-BE49-F238E27FC236}">
                <a16:creationId xmlns="" xmlns:a16="http://schemas.microsoft.com/office/drawing/2014/main" id="{3B92D21B-04BF-4571-ACB9-BC8F8B4BC24B}"/>
              </a:ext>
            </a:extLst>
          </p:cNvPr>
          <p:cNvSpPr/>
          <p:nvPr/>
        </p:nvSpPr>
        <p:spPr>
          <a:xfrm>
            <a:off x="7105650" y="3679651"/>
            <a:ext cx="3257550" cy="238580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35A34625-2808-42EE-547B-40525BCCB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2341502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CA9E684-776D-4890-A4B6-BADF6B4F88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CA750C0-87F8-4F4B-82E7-F7CD9BE3C5D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8279E4-5FE3-4EDC-9727-D9662BC275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08C68D-1869-4B68-A50A-B81555E1FE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B19D95D-98E4-4DF9-812F-3DB7A60FAA49}"/>
              </a:ext>
            </a:extLst>
          </p:cNvPr>
          <p:cNvSpPr/>
          <p:nvPr/>
        </p:nvSpPr>
        <p:spPr>
          <a:xfrm>
            <a:off x="2438400" y="1147496"/>
            <a:ext cx="6869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pMOS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Operation </a:t>
            </a:r>
          </a:p>
        </p:txBody>
      </p:sp>
      <p:sp>
        <p:nvSpPr>
          <p:cNvPr id="11" name="object 2">
            <a:extLst>
              <a:ext uri="{FF2B5EF4-FFF2-40B4-BE49-F238E27FC236}">
                <a16:creationId xmlns="" xmlns:a16="http://schemas.microsoft.com/office/drawing/2014/main" id="{25BB7E9D-679F-408A-8478-ED2E2D91E4A4}"/>
              </a:ext>
            </a:extLst>
          </p:cNvPr>
          <p:cNvSpPr txBox="1"/>
          <p:nvPr/>
        </p:nvSpPr>
        <p:spPr>
          <a:xfrm>
            <a:off x="1638300" y="1547607"/>
            <a:ext cx="6324601" cy="4934043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12115" indent="-287655">
              <a:spcBef>
                <a:spcPts val="480"/>
              </a:spcBef>
              <a:buFont typeface="Wingdings" panose="05000000000000000000" pitchFamily="2" charset="2"/>
              <a:buChar char="ü"/>
              <a:tabLst>
                <a:tab pos="869315" algn="l"/>
                <a:tab pos="869950" algn="l"/>
              </a:tabLst>
            </a:pPr>
            <a:r>
              <a:rPr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Vgs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&gt;&gt; </a:t>
            </a:r>
            <a:r>
              <a:rPr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Vt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: Transistor</a:t>
            </a:r>
            <a:r>
              <a:rPr spc="-13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OFF</a:t>
            </a:r>
          </a:p>
          <a:p>
            <a:pPr marL="1211580" lvl="2" indent="-228600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Majority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carrier in channel</a:t>
            </a:r>
            <a:r>
              <a:rPr spc="-11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(electrons)</a:t>
            </a:r>
          </a:p>
          <a:p>
            <a:pPr marL="1211580" lvl="2" indent="-228600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No current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from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source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to</a:t>
            </a:r>
            <a:r>
              <a:rPr spc="-17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drain</a:t>
            </a:r>
          </a:p>
          <a:p>
            <a:pPr marL="412115" indent="-287655">
              <a:spcBef>
                <a:spcPts val="480"/>
              </a:spcBef>
              <a:buFont typeface="Wingdings" panose="05000000000000000000" pitchFamily="2" charset="2"/>
              <a:buChar char="ü"/>
              <a:tabLst>
                <a:tab pos="869315" algn="l"/>
                <a:tab pos="869950" algn="l"/>
                <a:tab pos="2091055" algn="l"/>
              </a:tabLst>
            </a:pP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0 &gt;</a:t>
            </a:r>
            <a:r>
              <a:rPr spc="-4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Vgs</a:t>
            </a:r>
            <a:r>
              <a:rPr spc="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&gt;</a:t>
            </a:r>
            <a:r>
              <a:rPr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Vt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: </a:t>
            </a:r>
            <a:r>
              <a:rPr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Depletion</a:t>
            </a:r>
            <a:r>
              <a:rPr spc="-4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region</a:t>
            </a:r>
          </a:p>
          <a:p>
            <a:pPr marL="1211580" lvl="2" indent="-228600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Electric field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repels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majority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carriers</a:t>
            </a:r>
            <a:r>
              <a:rPr spc="-10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(electrons)</a:t>
            </a:r>
          </a:p>
          <a:p>
            <a:pPr marL="1211580" lvl="2" indent="-228600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Depletion region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forms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- no carriers in</a:t>
            </a:r>
            <a:r>
              <a:rPr spc="-18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channel</a:t>
            </a:r>
          </a:p>
          <a:p>
            <a:pPr marL="1211580" lvl="2" indent="-228600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No current flows (except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for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leakage</a:t>
            </a:r>
            <a:r>
              <a:rPr spc="-20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current)</a:t>
            </a:r>
          </a:p>
          <a:p>
            <a:pPr marL="467995" indent="-455930">
              <a:spcBef>
                <a:spcPts val="480"/>
              </a:spcBef>
              <a:buFont typeface="Wingdings" panose="05000000000000000000" pitchFamily="2" charset="2"/>
              <a:buChar char="ü"/>
              <a:tabLst>
                <a:tab pos="467995" algn="l"/>
                <a:tab pos="468630" algn="l"/>
                <a:tab pos="2663825" algn="l"/>
              </a:tabLst>
            </a:pP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Vgs &lt; </a:t>
            </a:r>
            <a:r>
              <a:rPr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Vt</a:t>
            </a:r>
            <a:r>
              <a:rPr spc="-4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,</a:t>
            </a:r>
            <a:r>
              <a:rPr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VDS=0: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Transistor</a:t>
            </a:r>
            <a:r>
              <a:rPr spc="-5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ON</a:t>
            </a:r>
          </a:p>
          <a:p>
            <a:pPr marL="1211580" indent="-229235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Electric field attracts minority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carriers</a:t>
            </a:r>
            <a:r>
              <a:rPr spc="-11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(holes)</a:t>
            </a:r>
          </a:p>
          <a:p>
            <a:pPr marL="1211580" indent="-229235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Inversion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region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forms in</a:t>
            </a:r>
            <a:r>
              <a:rPr spc="-9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channel</a:t>
            </a:r>
          </a:p>
          <a:p>
            <a:pPr marL="1211580" indent="-229235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Depletion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layer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insulates channel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from</a:t>
            </a:r>
            <a:r>
              <a:rPr spc="-15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substrate</a:t>
            </a:r>
          </a:p>
          <a:p>
            <a:pPr marL="1211580" indent="-229235">
              <a:spcBef>
                <a:spcPts val="480"/>
              </a:spcBef>
              <a:buChar char="•"/>
              <a:tabLst>
                <a:tab pos="1211580" algn="l"/>
                <a:tab pos="12122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Current can now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flow from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source </a:t>
            </a:r>
            <a:r>
              <a:rPr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to</a:t>
            </a:r>
            <a:r>
              <a:rPr spc="-18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drain!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="" xmlns:a16="http://schemas.microsoft.com/office/drawing/2014/main" id="{59E5E1AF-15FD-4F64-A8E2-FC67489E654A}"/>
              </a:ext>
            </a:extLst>
          </p:cNvPr>
          <p:cNvSpPr/>
          <p:nvPr/>
        </p:nvSpPr>
        <p:spPr>
          <a:xfrm>
            <a:off x="7319478" y="1652148"/>
            <a:ext cx="3257550" cy="23858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BFBB1E1F-995E-9DA7-2DC5-30E4376C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5892530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CA9E684-776D-4890-A4B6-BADF6B4F88A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30373DDA-1830-4809-9D3D-2D374FBD6BA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88279E4-5FE3-4EDC-9727-D9662BC275A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08C68D-1869-4B68-A50A-B81555E1FE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3BA5A36-2F21-48AF-81AF-D099F6BAE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B19D95D-98E4-4DF9-812F-3DB7A60FAA49}"/>
              </a:ext>
            </a:extLst>
          </p:cNvPr>
          <p:cNvSpPr/>
          <p:nvPr/>
        </p:nvSpPr>
        <p:spPr>
          <a:xfrm>
            <a:off x="2209569" y="1647735"/>
            <a:ext cx="686904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2000" b="1" spc="-10" dirty="0" err="1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pMOS</a:t>
            </a:r>
            <a:r>
              <a:rPr lang="en-IN" sz="20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Transistors – Operation </a:t>
            </a:r>
          </a:p>
        </p:txBody>
      </p:sp>
      <p:sp>
        <p:nvSpPr>
          <p:cNvPr id="13" name="object 2">
            <a:extLst>
              <a:ext uri="{FF2B5EF4-FFF2-40B4-BE49-F238E27FC236}">
                <a16:creationId xmlns="" xmlns:a16="http://schemas.microsoft.com/office/drawing/2014/main" id="{59E5E1AF-15FD-4F64-A8E2-FC67489E654A}"/>
              </a:ext>
            </a:extLst>
          </p:cNvPr>
          <p:cNvSpPr/>
          <p:nvPr/>
        </p:nvSpPr>
        <p:spPr>
          <a:xfrm>
            <a:off x="7187565" y="3581400"/>
            <a:ext cx="3257550" cy="23858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>
            <a:extLst>
              <a:ext uri="{FF2B5EF4-FFF2-40B4-BE49-F238E27FC236}">
                <a16:creationId xmlns="" xmlns:a16="http://schemas.microsoft.com/office/drawing/2014/main" id="{7B011643-BCB8-48D8-A03E-02FD0667CD7F}"/>
              </a:ext>
            </a:extLst>
          </p:cNvPr>
          <p:cNvSpPr txBox="1"/>
          <p:nvPr/>
        </p:nvSpPr>
        <p:spPr>
          <a:xfrm>
            <a:off x="1371600" y="2667000"/>
            <a:ext cx="7063740" cy="28693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467995" indent="-455930">
              <a:spcBef>
                <a:spcPts val="675"/>
              </a:spcBef>
              <a:buFont typeface="Wingdings" panose="05000000000000000000" pitchFamily="2" charset="2"/>
              <a:buChar char="ü"/>
              <a:tabLst>
                <a:tab pos="467995" algn="l"/>
                <a:tab pos="468630" algn="l"/>
                <a:tab pos="4238625" algn="l"/>
              </a:tabLst>
            </a:pP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Vgs &lt;Vt , VDS &gt;VGS -VT :Linear (Active) mode</a:t>
            </a:r>
          </a:p>
          <a:p>
            <a:pPr marL="868680" marR="559435" lvl="1" indent="-287020">
              <a:spcBef>
                <a:spcPts val="575"/>
              </a:spcBef>
              <a:buChar char="–"/>
              <a:tabLst>
                <a:tab pos="8693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Combined electric fields shift channel and  depletion region</a:t>
            </a:r>
          </a:p>
          <a:p>
            <a:pPr marL="868680" lvl="1" indent="-287020">
              <a:spcBef>
                <a:spcPts val="575"/>
              </a:spcBef>
              <a:buChar char="–"/>
              <a:tabLst>
                <a:tab pos="8693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Current flow dependent on VGS, VDS</a:t>
            </a:r>
          </a:p>
          <a:p>
            <a:pPr marL="467995" indent="-455930">
              <a:spcBef>
                <a:spcPts val="675"/>
              </a:spcBef>
              <a:buFont typeface="Wingdings" panose="05000000000000000000" pitchFamily="2" charset="2"/>
              <a:buChar char="ü"/>
              <a:tabLst>
                <a:tab pos="467995" algn="l"/>
                <a:tab pos="468630" algn="l"/>
                <a:tab pos="4238625" algn="l"/>
              </a:tabLst>
            </a:pPr>
            <a:r>
              <a:rPr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Vgs &lt; Vt , VDS &lt;VGS -VT :Saturation mode</a:t>
            </a:r>
          </a:p>
          <a:p>
            <a:pPr marL="868680" lvl="1" indent="-287020">
              <a:spcBef>
                <a:spcPts val="575"/>
              </a:spcBef>
              <a:buChar char="–"/>
              <a:tabLst>
                <a:tab pos="8693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Channel “pinched off”</a:t>
            </a:r>
          </a:p>
          <a:p>
            <a:pPr marL="868680" lvl="1" indent="-287020">
              <a:spcBef>
                <a:spcPts val="575"/>
              </a:spcBef>
              <a:buChar char="–"/>
              <a:tabLst>
                <a:tab pos="8693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Current still flows due to hole drift</a:t>
            </a:r>
          </a:p>
          <a:p>
            <a:pPr marL="868680" lvl="1" indent="-287020">
              <a:spcBef>
                <a:spcPts val="575"/>
              </a:spcBef>
              <a:buChar char="–"/>
              <a:tabLst>
                <a:tab pos="869315" algn="l"/>
              </a:tabLst>
            </a:pPr>
            <a:r>
              <a:rPr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Current flow dependent on VGS</a:t>
            </a:r>
          </a:p>
        </p:txBody>
      </p:sp>
    </p:spTree>
    <p:extLst>
      <p:ext uri="{BB962C8B-B14F-4D97-AF65-F5344CB8AC3E}">
        <p14:creationId xmlns:p14="http://schemas.microsoft.com/office/powerpoint/2010/main" val="24676009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5C12777-E11A-4CFB-9292-4B8EEF6CD4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11125200" cy="5105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spc="-10" dirty="0" smtClean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ctr">
              <a:buNone/>
            </a:pPr>
            <a:r>
              <a:rPr lang="en-US" sz="2400" b="1" spc="-10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Device Design Equation –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</a:rPr>
              <a:t>MOS transistors have three regions of operation:</a:t>
            </a:r>
          </a:p>
          <a:p>
            <a:pPr marL="1428750" lvl="3" indent="-171450"/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Cut-off or subthreshold region</a:t>
            </a:r>
          </a:p>
          <a:p>
            <a:pPr marL="1428750" lvl="3" indent="-171450"/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Linear region</a:t>
            </a:r>
          </a:p>
          <a:p>
            <a:pPr marL="1428750" lvl="3" indent="-171450"/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Saturation region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To derive a model relating the current and voltage(I-V) for an </a:t>
            </a:r>
            <a:r>
              <a:rPr lang="en-US" sz="2400" dirty="0" err="1">
                <a:solidFill>
                  <a:srgbClr val="FFC00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400" dirty="0">
                <a:solidFill>
                  <a:srgbClr val="FFC000"/>
                </a:solidFill>
                <a:latin typeface="Bookman Old Style" panose="02050604050505020204" pitchFamily="18" charset="0"/>
              </a:rPr>
              <a:t> transistor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 in each of these regions.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model assumes that,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channel length is long enough that the electric field (the field between source and drain) is relatively low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This model is variously known as the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long-channel, ideal, first-order, or Shockley model. </a:t>
            </a:r>
            <a:endParaRPr lang="en-IN" sz="2000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86966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676400"/>
            <a:ext cx="7534539" cy="360095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7424" y="5410200"/>
            <a:ext cx="2333951" cy="3620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392" y="1951831"/>
            <a:ext cx="4353533" cy="7621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0171" y="2714634"/>
            <a:ext cx="4001058" cy="99073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3892" y="4019465"/>
            <a:ext cx="1095528" cy="485843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7716" y="4756585"/>
            <a:ext cx="3686689" cy="933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13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130518"/>
            <a:ext cx="5229955" cy="257210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746" y="2071408"/>
            <a:ext cx="1743318" cy="80973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7477" y="3352800"/>
            <a:ext cx="4829849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606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65" y="1752600"/>
            <a:ext cx="2286319" cy="2953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414" y="2828292"/>
            <a:ext cx="1695687" cy="3334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786" y="3343998"/>
            <a:ext cx="2495898" cy="34294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869" y="2191851"/>
            <a:ext cx="6173061" cy="31436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576" y="3945578"/>
            <a:ext cx="3562847" cy="36200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295" y="4615755"/>
            <a:ext cx="8306959" cy="5715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865" y="5542121"/>
            <a:ext cx="4753638" cy="40963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9202" y="1772403"/>
            <a:ext cx="5849166" cy="67636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9400" y="2676490"/>
            <a:ext cx="4058216" cy="1714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1467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36223" y="2433319"/>
            <a:ext cx="40325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V</a:t>
            </a:r>
            <a:r>
              <a:rPr lang="en-US" sz="1000" dirty="0" err="1"/>
              <a:t>effective</a:t>
            </a:r>
            <a:r>
              <a:rPr lang="en-US" dirty="0"/>
              <a:t>​ = gate voltage </a:t>
            </a:r>
            <a:r>
              <a:rPr lang="en-US" i="1" dirty="0"/>
              <a:t>seen by the channel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999982"/>
            <a:ext cx="2762636" cy="4382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709695"/>
            <a:ext cx="1409897" cy="61921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223" y="3572054"/>
            <a:ext cx="2705478" cy="4763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170" y="4342378"/>
            <a:ext cx="2915057" cy="61921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1494" y="1874931"/>
            <a:ext cx="1848108" cy="74305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5704" y="2905211"/>
            <a:ext cx="2419688" cy="90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031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5000"/>
            <a:ext cx="4706007" cy="9240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068" y="2971800"/>
            <a:ext cx="971686" cy="6382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3847985"/>
            <a:ext cx="1276528" cy="231489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6200" y="3544358"/>
            <a:ext cx="22545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Electron drift velocity: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2849" y="2602287"/>
            <a:ext cx="1688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Drain current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1728794"/>
            <a:ext cx="2372056" cy="7144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9600" y="2430813"/>
            <a:ext cx="3038899" cy="34294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82282" y="3122417"/>
            <a:ext cx="4353533" cy="60015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5999" y="4070357"/>
            <a:ext cx="2372056" cy="809738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47046" y="4384921"/>
            <a:ext cx="1314633" cy="476316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3813" y="4929018"/>
            <a:ext cx="4363059" cy="108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2961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5452"/>
            <a:ext cx="6687483" cy="3905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2457452"/>
            <a:ext cx="3105583" cy="13908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4114800"/>
            <a:ext cx="4353533" cy="895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019" y="2433636"/>
            <a:ext cx="5487166" cy="86689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7800" y="3860816"/>
            <a:ext cx="5115639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8830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49" y="2209800"/>
            <a:ext cx="5525271" cy="119079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15" y="1613148"/>
            <a:ext cx="1991003" cy="3620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394" y="3635242"/>
            <a:ext cx="4601217" cy="10764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84" y="4906642"/>
            <a:ext cx="2114845" cy="33342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5600" y="2056265"/>
            <a:ext cx="4410691" cy="79068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94479" y="2971906"/>
            <a:ext cx="2295845" cy="8573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91739" y="4003876"/>
            <a:ext cx="1257475" cy="76210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96369" y="4958689"/>
            <a:ext cx="2248214" cy="800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996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260" y="914400"/>
            <a:ext cx="3791479" cy="40963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72" y="1676400"/>
            <a:ext cx="1648055" cy="24673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579633"/>
            <a:ext cx="3943900" cy="274358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0659" y="4392253"/>
            <a:ext cx="6411220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933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709" y="930244"/>
            <a:ext cx="1838582" cy="209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943400"/>
            <a:ext cx="840650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682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3814" y="1066800"/>
            <a:ext cx="2124371" cy="20957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1748304"/>
            <a:ext cx="8718238" cy="3777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4145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6500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C937EAA-99CB-4EC9-A630-891732B31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2000" y="1295400"/>
            <a:ext cx="11049000" cy="502920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endParaRPr lang="en-US" sz="2800" b="1" spc="-10" dirty="0" smtClean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ctr">
              <a:buNone/>
            </a:pPr>
            <a:r>
              <a:rPr lang="en-US" sz="2800" b="1" spc="-10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US" sz="28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Device Design Equation - </a:t>
            </a:r>
            <a:r>
              <a:rPr lang="en-US" sz="28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  <a:endParaRPr lang="en-US" sz="28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long-channel model assumes,</a:t>
            </a:r>
          </a:p>
          <a:p>
            <a:pPr lvl="1"/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current through an OFF transistor is 0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a transistor turns ON,  (</a:t>
            </a:r>
            <a:r>
              <a:rPr lang="en-US" sz="2800" i="1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Vgs</a:t>
            </a:r>
            <a:r>
              <a:rPr lang="en-US" sz="28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&gt; </a:t>
            </a:r>
            <a:r>
              <a:rPr lang="en-US" sz="28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Vt</a:t>
            </a: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),</a:t>
            </a:r>
          </a:p>
          <a:p>
            <a:pPr lvl="1" algn="just"/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gate attracts carriers (electrons) to form a channel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lvl="1" algn="just"/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electrons drift from source to drain at a rate proportional to the electric field between these regions. </a:t>
            </a:r>
          </a:p>
          <a:p>
            <a:pPr lvl="1" algn="just"/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We can compute currents if we know the amount of </a:t>
            </a:r>
            <a:r>
              <a:rPr lang="en-US" sz="2800" dirty="0">
                <a:solidFill>
                  <a:srgbClr val="FF0000"/>
                </a:solidFill>
                <a:latin typeface="Bookman Old Style" panose="02050604050505020204" pitchFamily="18" charset="0"/>
              </a:rPr>
              <a:t>charge</a:t>
            </a:r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 in the channel and the rate at which it moves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charge on each plate of a capacitor is</a:t>
            </a:r>
          </a:p>
          <a:p>
            <a:pPr marL="0" indent="0" algn="ctr">
              <a:buNone/>
            </a:pPr>
            <a:r>
              <a:rPr lang="en-US" sz="2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	 </a:t>
            </a:r>
            <a:r>
              <a:rPr lang="en-US" sz="28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Q </a:t>
            </a:r>
            <a:r>
              <a:rPr lang="en-US" sz="2800" dirty="0">
                <a:solidFill>
                  <a:srgbClr val="FF0000"/>
                </a:solidFill>
                <a:latin typeface="Bookman Old Style" panose="02050604050505020204" pitchFamily="18" charset="0"/>
              </a:rPr>
              <a:t>= </a:t>
            </a:r>
            <a:r>
              <a:rPr lang="en-US" sz="28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CV</a:t>
            </a:r>
            <a:endParaRPr lang="en-US" sz="28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FFA4789-B8F4-4A78-B0E2-3B2264AF9E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ED4231E-AA8D-4BED-95FF-C5F42F8638D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C6FAA7-0B26-440E-BD56-AD853B5BE9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E8D7C1-F760-4167-B7DD-1236EF73C5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111B0529-DFF7-5B6C-C95C-9FF0A5E31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59760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C937EAA-99CB-4EC9-A630-891732B31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295400"/>
            <a:ext cx="86868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2400" b="1" spc="-10" dirty="0" smtClean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 algn="ctr">
              <a:buNone/>
            </a:pPr>
            <a:r>
              <a:rPr lang="en-US" sz="2400" b="1" spc="-10" dirty="0" smtClean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charge in the channel </a:t>
            </a:r>
            <a:r>
              <a:rPr lang="en-US" sz="2400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Q</a:t>
            </a:r>
            <a:r>
              <a:rPr lang="en-US" sz="24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channel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is, </a:t>
            </a:r>
          </a:p>
          <a:p>
            <a:pPr marL="0" indent="0">
              <a:buNone/>
            </a:pPr>
            <a:endParaRPr lang="en-IN" sz="24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FFA4789-B8F4-4A78-B0E2-3B2264AF9E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344D91F2-81BD-46FA-B9D8-713CC6F0604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C6FAA7-0B26-440E-BD56-AD853B5BE9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E8D7C1-F760-4167-B7DD-1236EF73C5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C2980217-3EF2-463D-8E61-8F4E8A412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802" y="2639360"/>
            <a:ext cx="3098798" cy="86584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6760B6DD-DCBB-472F-8697-2FD01540B806}"/>
              </a:ext>
            </a:extLst>
          </p:cNvPr>
          <p:cNvSpPr/>
          <p:nvPr/>
        </p:nvSpPr>
        <p:spPr>
          <a:xfrm>
            <a:off x="1882806" y="3072081"/>
            <a:ext cx="8534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where, </a:t>
            </a:r>
          </a:p>
          <a:p>
            <a:pPr algn="just"/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i="1" baseline="-25000" dirty="0">
                <a:solidFill>
                  <a:srgbClr val="00206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,</a:t>
            </a:r>
            <a:r>
              <a:rPr lang="en-US" sz="2000" i="1" dirty="0"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is the capacitance of the gate to the channel </a:t>
            </a:r>
          </a:p>
          <a:p>
            <a:pPr algn="just"/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(</a:t>
            </a:r>
            <a:r>
              <a:rPr lang="en-US" sz="2000" i="1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gc</a:t>
            </a:r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– </a:t>
            </a:r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rgbClr val="00206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),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is the amount of voltage attracting charge to the channel beyond the minimum required to invert from p to n.</a:t>
            </a:r>
          </a:p>
          <a:p>
            <a:pPr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voltage is referenced to the channel, which is not grounded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94419432-A99A-4300-AFF2-60885DEB781A}"/>
              </a:ext>
            </a:extLst>
          </p:cNvPr>
          <p:cNvSpPr/>
          <p:nvPr/>
        </p:nvSpPr>
        <p:spPr>
          <a:xfrm>
            <a:off x="1774794" y="4998051"/>
            <a:ext cx="8686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If the source is at V</a:t>
            </a:r>
            <a:r>
              <a:rPr lang="en-US" sz="2400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s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 and the drain is at </a:t>
            </a:r>
            <a:r>
              <a:rPr lang="en-US" sz="24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V</a:t>
            </a:r>
            <a:r>
              <a:rPr lang="en-US" sz="2400" baseline="-25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d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 , the  </a:t>
            </a:r>
            <a:r>
              <a:rPr lang="en-IN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average is</a:t>
            </a:r>
            <a:r>
              <a:rPr lang="en-IN" i="1" dirty="0"/>
              <a:t> </a:t>
            </a:r>
          </a:p>
          <a:p>
            <a:pPr algn="ctr"/>
            <a:r>
              <a:rPr lang="en-IN" sz="24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IN" sz="24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c</a:t>
            </a:r>
            <a:r>
              <a:rPr lang="en-IN" sz="24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= (</a:t>
            </a:r>
            <a:r>
              <a:rPr lang="en-IN" sz="24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IN" sz="2400" i="1" baseline="-250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s</a:t>
            </a:r>
            <a:r>
              <a:rPr lang="en-IN" sz="24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+ </a:t>
            </a:r>
            <a:r>
              <a:rPr lang="en-IN" sz="24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IN" sz="24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d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)/2 = </a:t>
            </a:r>
            <a:r>
              <a:rPr lang="en-IN" sz="24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IN" sz="2400" i="1" baseline="-250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s 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+ </a:t>
            </a:r>
            <a:r>
              <a:rPr lang="en-IN" sz="24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V</a:t>
            </a:r>
            <a:r>
              <a:rPr lang="en-IN" sz="24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ds</a:t>
            </a:r>
            <a:r>
              <a:rPr lang="en-IN" sz="24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</a:rPr>
              <a:t>/2</a:t>
            </a:r>
            <a:endParaRPr lang="en-IN" sz="2400" dirty="0">
              <a:solidFill>
                <a:schemeClr val="bg2">
                  <a:lumMod val="10000"/>
                </a:schemeClr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444F5FEF-28B4-F4F8-568C-496D255A1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9893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8C937EAA-99CB-4EC9-A630-891732B319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295400"/>
            <a:ext cx="8686800" cy="182880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6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 - </a:t>
            </a:r>
            <a:r>
              <a:rPr lang="en-US" sz="28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  <a:endParaRPr lang="en-US" sz="26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mean difference </a:t>
            </a:r>
            <a:r>
              <a:rPr lang="en-US" sz="2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between the gate and channel potentials </a:t>
            </a:r>
            <a:r>
              <a:rPr lang="en-US" sz="26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6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gc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 is, </a:t>
            </a:r>
          </a:p>
          <a:p>
            <a:pPr marL="0" indent="0" algn="ctr">
              <a:buNone/>
            </a:pPr>
            <a:r>
              <a:rPr lang="en-US" dirty="0"/>
              <a:t> 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600" i="1" baseline="-2500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g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 – </a:t>
            </a:r>
            <a:r>
              <a:rPr lang="en-US" sz="26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6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c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 = </a:t>
            </a:r>
            <a:r>
              <a:rPr lang="en-US" sz="26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6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gs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 – </a:t>
            </a:r>
            <a:r>
              <a:rPr lang="en-US" sz="2600" i="1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600" i="1" baseline="-25000" dirty="0" err="1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ds</a:t>
            </a:r>
            <a:r>
              <a:rPr lang="en-US" sz="2600" i="1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+mn-cs"/>
              </a:rPr>
              <a:t> /2</a:t>
            </a:r>
          </a:p>
          <a:p>
            <a:pPr marL="0" indent="0">
              <a:buNone/>
            </a:pPr>
            <a:endParaRPr lang="en-IN" sz="24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FFA4789-B8F4-4A78-B0E2-3B2264AF9E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C6A1743-FC0B-401D-9170-24360B6F8CF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3C6FAA7-0B26-440E-BD56-AD853B5BE93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AE8D7C1-F760-4167-B7DD-1236EF73C53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85EB8803-A456-4D04-AFB8-7F3399C5F8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133850" y="3048000"/>
            <a:ext cx="3924300" cy="27270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AA8C4AF-447F-49A9-B503-E87632BBD5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572000" y="5968325"/>
            <a:ext cx="3124200" cy="33337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6F1DB059-E6B0-886D-6CAB-298A3A18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2580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FB55ECB-3ABD-4C6C-B860-E1CCFA1A8A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24799"/>
            <a:ext cx="8686800" cy="4419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Model the gate as a parallel plate capacitor with capacitance proportional to area over thickness.</a:t>
            </a:r>
          </a:p>
          <a:p>
            <a:pPr algn="just"/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If the gate has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length </a:t>
            </a:r>
            <a:r>
              <a:rPr lang="en-US" sz="2400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L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and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width </a:t>
            </a:r>
            <a:r>
              <a:rPr lang="en-US" sz="2400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W</a:t>
            </a:r>
            <a:r>
              <a:rPr lang="en-US" sz="24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and the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oxide thickness is </a:t>
            </a:r>
            <a:r>
              <a:rPr lang="en-US" sz="2400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r>
              <a:rPr lang="en-US" sz="24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ox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as shown in the figure the capacitance is, </a:t>
            </a:r>
            <a:endParaRPr lang="en-IN" sz="24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6B1E9CA-3F91-4F9D-8F89-8BD5113BEE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555CFC5-314D-47D1-8043-73E9F9A8E5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CE60FE8-9698-452C-84B1-E4DB3CEFA9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B4D826-3A95-4C6E-8C64-AC95879FD6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E123E2-AF1B-4F40-8D5D-51F70A93DD77}"/>
              </a:ext>
            </a:extLst>
          </p:cNvPr>
          <p:cNvSpPr/>
          <p:nvPr/>
        </p:nvSpPr>
        <p:spPr>
          <a:xfrm>
            <a:off x="2016156" y="976550"/>
            <a:ext cx="8278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  <a:endParaRPr lang="en-US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66E3CEF0-678E-41BF-8A7B-1E150E2B8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1" y="3352800"/>
            <a:ext cx="5486400" cy="2895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7CBB5D5-8A59-452D-BE1C-645CE2C40D8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676400" y="4114800"/>
            <a:ext cx="3810000" cy="9144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A56C470C-3BB6-50A1-0C56-7EA43778A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755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6B1E9CA-3F91-4F9D-8F89-8BD5113BEEC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0F91EC1-AD87-4866-BB00-0C21C0CD368F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CE60FE8-9698-452C-84B1-E4DB3CEFA9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B4D826-3A95-4C6E-8C64-AC95879FD60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AE123E2-AF1B-4F40-8D5D-51F70A93DD77}"/>
              </a:ext>
            </a:extLst>
          </p:cNvPr>
          <p:cNvSpPr/>
          <p:nvPr/>
        </p:nvSpPr>
        <p:spPr>
          <a:xfrm>
            <a:off x="2032000" y="942315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  <a:endParaRPr lang="en-US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7CBB5D5-8A59-452D-BE1C-645CE2C40D8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543300" y="1918317"/>
            <a:ext cx="5105400" cy="1205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DACCA8E-574D-45C0-AC2D-1C55CC5F363A}"/>
              </a:ext>
            </a:extLst>
          </p:cNvPr>
          <p:cNvSpPr/>
          <p:nvPr/>
        </p:nvSpPr>
        <p:spPr>
          <a:xfrm>
            <a:off x="2805530" y="4624981"/>
            <a:ext cx="76338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term is called C</a:t>
            </a:r>
            <a:r>
              <a:rPr lang="en-US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ox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, the capacitance per unit area of the gate oxide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1CBDEE68-7B6C-4B6E-9405-1BB00ACB1894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arker/>
                    </a14:imgEffect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1200" y="3049628"/>
            <a:ext cx="576262" cy="59931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7C47B0D9-28E5-455D-89A3-64EACEB841BA}"/>
              </a:ext>
            </a:extLst>
          </p:cNvPr>
          <p:cNvSpPr/>
          <p:nvPr/>
        </p:nvSpPr>
        <p:spPr>
          <a:xfrm>
            <a:off x="2667000" y="3218495"/>
            <a:ext cx="6324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is the permittivity of free space, 8.85 × 10</a:t>
            </a:r>
            <a:r>
              <a:rPr lang="en-US" baseline="30000" dirty="0">
                <a:solidFill>
                  <a:srgbClr val="FF0000"/>
                </a:solidFill>
                <a:latin typeface="Bookman Old Style" panose="02050604050505020204" pitchFamily="18" charset="0"/>
              </a:rPr>
              <a:t>–14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F/cm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="" xmlns:a16="http://schemas.microsoft.com/office/drawing/2014/main" id="{4D5DA8CB-2827-40CD-9899-8AFD5D355940}"/>
              </a:ext>
            </a:extLst>
          </p:cNvPr>
          <p:cNvPicPr>
            <a:picLocks noChangeAspect="1"/>
          </p:cNvPicPr>
          <p:nvPr/>
        </p:nvPicPr>
        <p:blipFill>
          <a:blip r:embed="rId6">
            <a:biLevel thresh="75000"/>
          </a:blip>
          <a:stretch>
            <a:fillRect/>
          </a:stretch>
        </p:blipFill>
        <p:spPr>
          <a:xfrm>
            <a:off x="2019300" y="3811293"/>
            <a:ext cx="647700" cy="5810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56B43675-8370-44AD-9DB3-3D535F08FFA8}"/>
              </a:ext>
            </a:extLst>
          </p:cNvPr>
          <p:cNvSpPr/>
          <p:nvPr/>
        </p:nvSpPr>
        <p:spPr>
          <a:xfrm>
            <a:off x="2675138" y="3917138"/>
            <a:ext cx="60741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the permittivity of SiO2 is </a:t>
            </a:r>
            <a:r>
              <a:rPr lang="en-US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kox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= 3.9 times as great</a:t>
            </a:r>
            <a:endParaRPr lang="en-IN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EEEA71DA-00D4-4FD3-B1F2-387B11335FF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7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3580" y="4537924"/>
            <a:ext cx="817880" cy="51750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586DC6B9-BC10-4BC6-BAFE-3668084E15C9}"/>
              </a:ext>
            </a:extLst>
          </p:cNvPr>
          <p:cNvSpPr/>
          <p:nvPr/>
        </p:nvSpPr>
        <p:spPr>
          <a:xfrm>
            <a:off x="1752600" y="5075971"/>
            <a:ext cx="8686800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Gate Dielectric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with a higher dielectric constant,  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r>
              <a:rPr lang="en-US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ox</a:t>
            </a: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  is called the </a:t>
            </a:r>
            <a:r>
              <a:rPr lang="en-US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equivalent oxide thickness </a:t>
            </a: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(EOT)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thickness of a layer of SiO</a:t>
            </a:r>
            <a:r>
              <a:rPr lang="en-US" sz="2000" b="1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2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,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that has the same C</a:t>
            </a:r>
            <a:r>
              <a:rPr lang="en-US" sz="2000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ox</a:t>
            </a:r>
          </a:p>
          <a:p>
            <a:pPr marL="800100" lvl="1" indent="-342900" algn="just">
              <a:buFont typeface="Wingdings" panose="05000000000000000000" pitchFamily="2" charset="2"/>
              <a:buChar char="ü"/>
            </a:pPr>
            <a:r>
              <a:rPr lang="en-US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ox is thinner than the actual dielectric</a:t>
            </a:r>
            <a:endParaRPr lang="en-IN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2C25672-F4E3-84BC-F054-97295B050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03968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CF7D4C62-EF6A-43F2-985E-BCC333CCD40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80866"/>
            <a:ext cx="8686800" cy="459980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Each carrier in the channel,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is accelerated to an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average velocity,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, proportional to the lateral electric field,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i.e., the field between source and drain.</a:t>
            </a:r>
          </a:p>
          <a:p>
            <a:pPr marL="40005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constant of proportionality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µ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is called the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mobility</a:t>
            </a:r>
          </a:p>
          <a:p>
            <a:pPr marL="57150" indent="0" algn="ctr">
              <a:buNone/>
            </a:pPr>
            <a:r>
              <a:rPr lang="en-IN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v </a:t>
            </a:r>
            <a:r>
              <a:rPr lang="en-I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</a:rPr>
              <a:t>=</a:t>
            </a:r>
            <a:r>
              <a:rPr lang="en-IN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µ</a:t>
            </a:r>
            <a:r>
              <a:rPr lang="en-IN" sz="2400" dirty="0">
                <a:solidFill>
                  <a:srgbClr val="FF0000"/>
                </a:solidFill>
                <a:latin typeface="Bookman Old Style" panose="02050604050505020204" pitchFamily="18" charset="0"/>
              </a:rPr>
              <a:t>E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A typical value of </a:t>
            </a:r>
            <a:r>
              <a:rPr lang="en-US" sz="2800" dirty="0">
                <a:solidFill>
                  <a:srgbClr val="0070C0"/>
                </a:solidFill>
                <a:latin typeface="Bookman Old Style" panose="02050604050505020204" pitchFamily="18" charset="0"/>
              </a:rPr>
              <a:t>µ </a:t>
            </a: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for electrons in an </a:t>
            </a:r>
            <a:r>
              <a:rPr lang="en-US" sz="21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nMOS</a:t>
            </a: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transistor with low electric fields is </a:t>
            </a:r>
            <a:r>
              <a:rPr lang="en-IN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500–700 cm2/V· 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electric field </a:t>
            </a:r>
            <a:r>
              <a:rPr lang="en-US" sz="21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E </a:t>
            </a: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is the voltage difference between drain and source </a:t>
            </a:r>
            <a:r>
              <a:rPr lang="en-US" sz="21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1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</a:t>
            </a:r>
            <a:r>
              <a:rPr lang="en-US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divided by </a:t>
            </a:r>
            <a:r>
              <a:rPr lang="en-IN" sz="21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channel length</a:t>
            </a:r>
          </a:p>
          <a:p>
            <a:pPr marL="0" indent="0">
              <a:buNone/>
            </a:pPr>
            <a:endParaRPr lang="en-IN" sz="21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5D58A070-E267-4DD4-A6F5-7D6244E1D62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56AAB17-2202-44F8-A2DF-39418B420CB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8B10C19-C554-423C-9E01-8C49B5F4451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5AF1087-93AD-41D6-B960-8EA1140871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0807E6E-8D87-4AE7-8801-4971A291DC9F}"/>
              </a:ext>
            </a:extLst>
          </p:cNvPr>
          <p:cNvSpPr/>
          <p:nvPr/>
        </p:nvSpPr>
        <p:spPr>
          <a:xfrm>
            <a:off x="1956886" y="978934"/>
            <a:ext cx="827822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 </a:t>
            </a:r>
            <a:endParaRPr lang="en-US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078946F-3392-4420-8BDF-759F27F99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53000" y="5522250"/>
            <a:ext cx="1752600" cy="8019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911D606-0A82-4A2A-CD52-F14503978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0405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B209A9C-4076-4B1B-9253-84E4DA3B181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time required for carriers to cross the channel is the channel length divided by the carrier velocity: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L/v</a:t>
            </a:r>
            <a:endParaRPr lang="en-US" sz="2000" dirty="0">
              <a:solidFill>
                <a:srgbClr val="0070C0"/>
              </a:solidFill>
              <a:latin typeface="Bookman Old Style" panose="02050604050505020204" pitchFamily="18" charset="0"/>
              <a:cs typeface="+mn-cs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current between source and drain is the total amount of charge in the channel divided by the time required to cross</a:t>
            </a:r>
          </a:p>
          <a:p>
            <a:pPr marL="0" indent="0" algn="just">
              <a:buNone/>
            </a:pP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F31BD66-3126-4B4A-8ABF-15A337B3AB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2C566D9-8997-488D-9D84-36A31534F0D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AA9E3B-78A0-426D-B68F-BC1F0BEEA8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9A2870-22B3-45FE-A11E-26C6D57877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18095049-CE46-4A74-A304-CD3A8169F0B1}"/>
              </a:ext>
            </a:extLst>
          </p:cNvPr>
          <p:cNvSpPr/>
          <p:nvPr/>
        </p:nvSpPr>
        <p:spPr>
          <a:xfrm>
            <a:off x="2032000" y="970006"/>
            <a:ext cx="80724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BA9950D-DA00-4231-88AF-20EEA458FA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48000" y="3271051"/>
            <a:ext cx="4191000" cy="1905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B8349A88-D630-4F00-85F1-7A3C526073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63445" y="5181601"/>
            <a:ext cx="4857750" cy="11811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2136C899-C61D-4A28-9CC7-3F07C4D36CE9}"/>
              </a:ext>
            </a:extLst>
          </p:cNvPr>
          <p:cNvSpPr/>
          <p:nvPr/>
        </p:nvSpPr>
        <p:spPr>
          <a:xfrm>
            <a:off x="6821196" y="5329536"/>
            <a:ext cx="373121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term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–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arises so often that it is convenient to abbreviate it as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GT</a:t>
            </a:r>
            <a:endParaRPr lang="en-IN" sz="2000" baseline="-25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767FDB01-4038-4782-96EC-187B622CA587}"/>
              </a:ext>
            </a:extLst>
          </p:cNvPr>
          <p:cNvSpPr/>
          <p:nvPr/>
        </p:nvSpPr>
        <p:spPr>
          <a:xfrm>
            <a:off x="6821196" y="3904531"/>
            <a:ext cx="36411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The  geometry and technology-dependent parameters are some times merged into a single factor -  </a:t>
            </a:r>
            <a:r>
              <a:rPr lang="el-GR" dirty="0">
                <a:solidFill>
                  <a:srgbClr val="0070C0"/>
                </a:solidFill>
                <a:latin typeface="Bookman Old Style" panose="02050604050505020204" pitchFamily="18" charset="0"/>
              </a:rPr>
              <a:t>β</a:t>
            </a:r>
            <a:endParaRPr lang="en-IN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8E7B6B9-D669-5262-49ED-03E8366C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8977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C94AEB1-C41F-4B45-BAF2-AAE1B905BC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86810"/>
            <a:ext cx="8686800" cy="47139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In the equation, 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0A9AFAA-386F-4D7C-834E-9A8BD0AF93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C06DAD4-157D-4D46-8A20-1FB8BE5B04F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3C46E3-3998-4D5B-B64B-49ED6865E4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0A8B40-CD30-401B-9014-40CC78540A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9FB5A34-A79C-41DB-910B-988B2FC5D019}"/>
              </a:ext>
            </a:extLst>
          </p:cNvPr>
          <p:cNvSpPr/>
          <p:nvPr/>
        </p:nvSpPr>
        <p:spPr>
          <a:xfrm>
            <a:off x="2008342" y="938543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188B04D-753E-4CDD-854C-19D3CC6A7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8200" y="1828800"/>
            <a:ext cx="4191000" cy="1905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29724C2-4533-49B6-872A-5EE40960A3B1}"/>
              </a:ext>
            </a:extLst>
          </p:cNvPr>
          <p:cNvSpPr/>
          <p:nvPr/>
        </p:nvSpPr>
        <p:spPr>
          <a:xfrm>
            <a:off x="1752601" y="3824743"/>
            <a:ext cx="853624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1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&gt; 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rgbClr val="00B0F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,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but </a:t>
            </a:r>
            <a:r>
              <a:rPr lang="en-US" sz="2000" i="1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relatively small, It is called </a:t>
            </a:r>
            <a:r>
              <a:rPr lang="en-US" sz="20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linear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or </a:t>
            </a:r>
            <a:r>
              <a:rPr lang="en-US" sz="20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resistive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because when </a:t>
            </a:r>
            <a:r>
              <a:rPr lang="en-US" sz="2000" i="1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&lt;&lt; </a:t>
            </a:r>
            <a:r>
              <a:rPr lang="en-US" sz="2000" i="1" dirty="0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>
                <a:solidFill>
                  <a:srgbClr val="00B0F0"/>
                </a:solidFill>
                <a:latin typeface="Bookman Old Style" panose="02050604050505020204" pitchFamily="18" charset="0"/>
              </a:rPr>
              <a:t>GT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, </a:t>
            </a:r>
            <a:r>
              <a:rPr lang="en-US" sz="20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increases almost linearly with </a:t>
            </a:r>
            <a:r>
              <a:rPr lang="en-US" sz="2000" i="1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i="1" baseline="-25000" dirty="0" err="1">
                <a:solidFill>
                  <a:srgbClr val="00B0F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just like an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ideal resistor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34500A2-F5D1-305F-5324-0C66EE52F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59655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C94AEB1-C41F-4B45-BAF2-AAE1B905BC0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86810"/>
            <a:ext cx="8686800" cy="47139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In the equation, 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0A9AFAA-386F-4D7C-834E-9A8BD0AF93E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FA106D0-DECA-46B6-9005-4AAB288F82F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03C46E3-3998-4D5B-B64B-49ED6865E4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30A8B40-CD30-401B-9014-40CC78540A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9FB5A34-A79C-41DB-910B-988B2FC5D019}"/>
              </a:ext>
            </a:extLst>
          </p:cNvPr>
          <p:cNvSpPr/>
          <p:nvPr/>
        </p:nvSpPr>
        <p:spPr>
          <a:xfrm>
            <a:off x="2133600" y="924058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188B04D-753E-4CDD-854C-19D3CC6A7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724400" y="1777313"/>
            <a:ext cx="4191000" cy="16002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E29724C2-4533-49B6-872A-5EE40960A3B1}"/>
              </a:ext>
            </a:extLst>
          </p:cNvPr>
          <p:cNvSpPr/>
          <p:nvPr/>
        </p:nvSpPr>
        <p:spPr>
          <a:xfrm>
            <a:off x="1752602" y="3370856"/>
            <a:ext cx="868679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If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&gt;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dsat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=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GT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the channel is no longer inverted in the vicinity of the drain,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say it is pinched off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Beyond this point, called the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drain saturation voltage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, increasing the drain voltage has no further effect on current.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Substituting,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=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dsat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at this point of maximum current into above equation, the  expression for the saturation current that is independent </a:t>
            </a:r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of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IN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5414A55-6ADE-411E-BBC6-75FD2FCB66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5410201"/>
            <a:ext cx="2057400" cy="90370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="" xmlns:a16="http://schemas.microsoft.com/office/drawing/2014/main" id="{0460CE9F-BEE6-7879-BEDE-251B05D21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0468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B31B526-2F71-44B8-83D5-0C7AF2AEDE7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above  expression is valid for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gs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&gt;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and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&gt;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dsat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Thus, long-channel MOS transistors are said to exhibit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  <a:cs typeface="+mn-cs"/>
              </a:rPr>
              <a:t>square-law behavior in saturation.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FFC000"/>
                </a:solidFill>
                <a:latin typeface="Bookman Old Style" panose="02050604050505020204" pitchFamily="18" charset="0"/>
                <a:cs typeface="+mn-cs"/>
              </a:rPr>
              <a:t>Two key figures of merit for a transistor are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I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on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 and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I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off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 I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on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(also called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I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dsa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)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is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ON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current,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I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</a:t>
            </a:r>
            <a:endParaRPr lang="en-US" sz="2000" baseline="-25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When, 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gs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=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 =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DD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I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off</a:t>
            </a:r>
            <a:r>
              <a:rPr lang="en-US" sz="2000" baseline="-25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is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OFF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current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when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  <a:cs typeface="+mn-cs"/>
              </a:rPr>
              <a:t>= 0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and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=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DD</a:t>
            </a:r>
            <a:endParaRPr lang="en-US" sz="2000" baseline="-25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According to the long-channel model,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4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4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off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= 0</a:t>
            </a:r>
            <a:r>
              <a:rPr lang="en-US" sz="24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and</a:t>
            </a:r>
          </a:p>
          <a:p>
            <a:pPr lvl="3">
              <a:buFont typeface="Courier New" panose="02070309020205020404" pitchFamily="49" charset="0"/>
              <a:buChar char="o"/>
            </a:pP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2317CE9-DAD8-4C26-9D44-BBE52C58596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80223D0-6C15-4B49-9EBD-AD916847369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7BFF926-B8D1-48B8-9478-705BF9E8FBA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98D6ED0-7818-469D-8616-CB632E459F1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26D7CC6-3418-42A5-8665-85F78B07A37F}"/>
              </a:ext>
            </a:extLst>
          </p:cNvPr>
          <p:cNvSpPr/>
          <p:nvPr/>
        </p:nvSpPr>
        <p:spPr>
          <a:xfrm>
            <a:off x="2045580" y="938543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4FB118-33F8-4079-A849-9CFBCAA20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626223"/>
            <a:ext cx="2032000" cy="6096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5DB1B35-BF72-7473-D76E-A64283064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0581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659FB45-A5D9-4C9A-A7AE-86898207BC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current in the three regions :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46E19D-05E8-4B0F-8D42-7E826E81AC1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AE844C8-528F-475B-99EF-46EC5241CF3F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66A0FAE-B641-4A8F-9A21-7A7066A62CE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C4852A-D002-4BAA-BA62-05F03F128D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5317644-EDFC-4AF2-B510-E5B96B6536B4}"/>
              </a:ext>
            </a:extLst>
          </p:cNvPr>
          <p:cNvSpPr/>
          <p:nvPr/>
        </p:nvSpPr>
        <p:spPr>
          <a:xfrm>
            <a:off x="2133600" y="986134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EEF43FC-499E-43CA-83B8-F1880E9E32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76602" y="2643188"/>
            <a:ext cx="5638799" cy="26146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E87F9D0-9E36-D0D8-FA18-70B8527E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2502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BBFC1B8-1B74-41A5-8E9F-AF9F31F5A4F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E5451CF-3099-45EA-BD02-A9CD55F4E5A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424637B-AE02-433E-9CFC-768FD2AF98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FD77A74-A20B-42A1-886F-A538EB93A59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3F42F456-5560-4782-84AC-88DF03C5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052" y="2183907"/>
            <a:ext cx="3710149" cy="406449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1595947-A39C-4828-AF65-2552C9DE8376}"/>
              </a:ext>
            </a:extLst>
          </p:cNvPr>
          <p:cNvSpPr/>
          <p:nvPr/>
        </p:nvSpPr>
        <p:spPr>
          <a:xfrm>
            <a:off x="2033509" y="957025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50D9B50-C7C4-4A46-827D-8827B6654E4F}"/>
              </a:ext>
            </a:extLst>
          </p:cNvPr>
          <p:cNvSpPr/>
          <p:nvPr/>
        </p:nvSpPr>
        <p:spPr>
          <a:xfrm>
            <a:off x="1678597" y="1657290"/>
            <a:ext cx="50946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I-V characteristics of ideal 4/2 </a:t>
            </a:r>
            <a:r>
              <a:rPr lang="el-GR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λ</a:t>
            </a:r>
            <a:endParaRPr lang="en-IN" sz="2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50797C64-C9B8-46A1-BCE8-FD4B2EA7B4BF}"/>
              </a:ext>
            </a:extLst>
          </p:cNvPr>
          <p:cNvSpPr/>
          <p:nvPr/>
        </p:nvSpPr>
        <p:spPr>
          <a:xfrm>
            <a:off x="5410200" y="2199443"/>
            <a:ext cx="502920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THE FIRST-ORDER MODEL, </a:t>
            </a:r>
          </a:p>
          <a:p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current is zero for gate voltages below </a:t>
            </a:r>
            <a:r>
              <a:rPr lang="en-US" sz="1600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endParaRPr lang="en-US" sz="1600" baseline="-25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For higher gate voltages, </a:t>
            </a:r>
          </a:p>
          <a:p>
            <a:pPr marL="742950" lvl="1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Current increases linearly with </a:t>
            </a:r>
            <a:r>
              <a:rPr lang="en-US" sz="1600" i="1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for small </a:t>
            </a:r>
            <a:r>
              <a:rPr lang="en-US" sz="1600" i="1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endParaRPr lang="en-US" sz="16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As </a:t>
            </a:r>
            <a:r>
              <a:rPr lang="en-US" sz="1600" i="1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reaches the saturation point</a:t>
            </a:r>
          </a:p>
          <a:p>
            <a:pPr algn="ctr"/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i="1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dsat</a:t>
            </a:r>
            <a:r>
              <a:rPr lang="en-US" sz="1600" dirty="0">
                <a:solidFill>
                  <a:srgbClr val="0070C0"/>
                </a:solidFill>
                <a:latin typeface="Bookman Old Style" panose="02050604050505020204" pitchFamily="18" charset="0"/>
              </a:rPr>
              <a:t> = </a:t>
            </a:r>
            <a:r>
              <a:rPr lang="en-US" sz="1600" i="1" dirty="0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GT</a:t>
            </a:r>
            <a:endParaRPr lang="en-US" sz="1600" baseline="-250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Current rolls off and eventually becomes independent of </a:t>
            </a:r>
            <a:r>
              <a:rPr lang="en-US" sz="1600" i="1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600" i="1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1600" i="1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when the transistor is saturated.</a:t>
            </a:r>
            <a:endParaRPr lang="en-US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THE SHOCKLEY MODEL, 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Over estimates current at high voltage because it does not account for mobility degradation and velocity saturation caused by the </a:t>
            </a:r>
            <a:r>
              <a:rPr lang="en-IN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high electric fields.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A7123AB2-393A-6557-ED37-E7B887F2F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992535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27EAE1B-36EE-463D-B27A-6B5BC7A17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5001" y="2016737"/>
            <a:ext cx="4699247" cy="4234622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pMOS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transistors behave in the same way, but with the 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  <a:cs typeface="+mn-cs"/>
              </a:rPr>
              <a:t>signs of all voltages and currents reversed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I-V characteristics are in the third quadrant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current flows from source to drain in a </a:t>
            </a: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pMOS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transistor.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The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mobility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of holes in silicon is typically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lower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than that of electrons.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This means that </a:t>
            </a: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pMOS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transistors provide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less current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than </a:t>
            </a:r>
            <a:r>
              <a:rPr lang="en-US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nMOS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 transistors of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  <a:cs typeface="+mn-cs"/>
              </a:rPr>
              <a:t>comparable size and hence are slower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+mn-cs"/>
              </a:rPr>
              <a:t>.</a:t>
            </a:r>
            <a:endParaRPr lang="en-IN" sz="18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+mn-cs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811006F-4EE2-4B9D-9399-762A0DCEC2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2E2CD40-2849-4569-9AB3-1F3D0CC40D3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8E1670C-1B1F-45C3-94F5-7E2B984A22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49E2CD3-A76E-411B-B147-04570946B3E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67663B8-7B24-4996-A97F-FD0BB4CBE23F}"/>
              </a:ext>
            </a:extLst>
          </p:cNvPr>
          <p:cNvSpPr/>
          <p:nvPr/>
        </p:nvSpPr>
        <p:spPr>
          <a:xfrm>
            <a:off x="2025210" y="975955"/>
            <a:ext cx="81753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MOS Device Design Equation - </a:t>
            </a:r>
            <a:r>
              <a:rPr lang="en-US" sz="2400" b="1" spc="-10" dirty="0">
                <a:solidFill>
                  <a:schemeClr val="bg2">
                    <a:lumMod val="10000"/>
                  </a:schemeClr>
                </a:solidFill>
                <a:latin typeface="Bookman Old Style" panose="02050604050505020204" pitchFamily="18" charset="0"/>
                <a:cs typeface="Arial"/>
              </a:rPr>
              <a:t>I V Characteristics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2C50DB04-0981-4F37-B7E8-FE71710C1332}"/>
              </a:ext>
            </a:extLst>
          </p:cNvPr>
          <p:cNvSpPr/>
          <p:nvPr/>
        </p:nvSpPr>
        <p:spPr>
          <a:xfrm>
            <a:off x="1678597" y="1657290"/>
            <a:ext cx="50946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pMOS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I-V characteristics of ideal 4/2 </a:t>
            </a:r>
            <a:r>
              <a:rPr lang="el-GR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λ</a:t>
            </a:r>
            <a:endParaRPr lang="en-IN" sz="2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67173641-0CD1-4CC4-9A15-84455B01C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754" y="2118955"/>
            <a:ext cx="3836633" cy="390531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4C93154-4C4E-C61A-DBA5-975A3C8B8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5144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DC7D44B-E57C-41B4-9106-E34AE2F187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Threshold</a:t>
            </a:r>
            <a:r>
              <a:rPr lang="en-IN" sz="2400" spc="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Voltage</a:t>
            </a:r>
            <a:endParaRPr lang="en-IN" sz="2400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Body</a:t>
            </a:r>
            <a:r>
              <a:rPr lang="en-IN" sz="2400" spc="-1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Effect</a:t>
            </a:r>
            <a:endParaRPr lang="en-IN" sz="2400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Sub-Threshold</a:t>
            </a:r>
            <a:r>
              <a:rPr lang="en-IN" sz="2400" spc="2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10" dirty="0">
                <a:solidFill>
                  <a:srgbClr val="00B0F0"/>
                </a:solidFill>
                <a:latin typeface="Bookman Old Style" panose="02050604050505020204" pitchFamily="18" charset="0"/>
                <a:cs typeface="Arial"/>
              </a:rPr>
              <a:t>Region</a:t>
            </a:r>
            <a:endParaRPr lang="en-IN" sz="2400" dirty="0">
              <a:solidFill>
                <a:srgbClr val="00B0F0"/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80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Channel-Length</a:t>
            </a:r>
            <a:r>
              <a:rPr lang="en-IN" sz="2400" spc="20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rgbClr val="7030A0"/>
                </a:solidFill>
                <a:latin typeface="Bookman Old Style" panose="02050604050505020204" pitchFamily="18" charset="0"/>
                <a:cs typeface="Arial"/>
              </a:rPr>
              <a:t>Modulation</a:t>
            </a:r>
            <a:endParaRPr lang="en-IN" sz="2400" dirty="0">
              <a:solidFill>
                <a:srgbClr val="7030A0"/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Mobility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Variation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Fowler-</a:t>
            </a:r>
            <a:r>
              <a:rPr lang="en-IN" sz="2400" spc="-5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Nordheim</a:t>
            </a:r>
            <a:r>
              <a:rPr lang="en-IN" sz="2400" spc="35" dirty="0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10" dirty="0" err="1">
                <a:solidFill>
                  <a:schemeClr val="tx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Tunneling</a:t>
            </a:r>
            <a:endParaRPr lang="en-IN" sz="2400" dirty="0">
              <a:solidFill>
                <a:schemeClr val="tx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Drain Punch</a:t>
            </a:r>
            <a:r>
              <a:rPr lang="en-IN" sz="2400" spc="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through</a:t>
            </a:r>
            <a:endParaRPr lang="en-IN" sz="240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868680" lvl="1" indent="-287020">
              <a:spcBef>
                <a:spcPts val="580"/>
              </a:spcBef>
              <a:tabLst>
                <a:tab pos="869315" algn="l"/>
              </a:tabLst>
            </a:pPr>
            <a:r>
              <a:rPr lang="en-IN" sz="24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Impact Ionization-Hot</a:t>
            </a:r>
            <a:r>
              <a:rPr lang="en-IN" sz="2400" spc="-3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electrons</a:t>
            </a:r>
            <a:endParaRPr lang="en-IN" sz="2400" dirty="0">
              <a:solidFill>
                <a:srgbClr val="0070C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1C43C99-0C7C-4255-8A97-4EBEEEAA4A9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F543FE9-29CF-4B23-8ACE-6E07B3C91BE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C2047B1-8CFE-4BDF-8C02-34AA185BDF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6A5B11F-FA8B-4CE0-8002-AE1BA1B1961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3B54AE87-C1AF-469F-A410-EFB74AF2C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FF9D68E9-C3F5-4E27-849D-C474662D3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3287" y="1533525"/>
            <a:ext cx="3048000" cy="13716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DBB3E7CC-3D8A-424E-BD38-E66E11B90D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337" y="2981326"/>
            <a:ext cx="2523663" cy="16668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C9A15FCA-38E5-43B2-B6FC-3B8DE31DA8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4876800"/>
            <a:ext cx="2914650" cy="131556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492F7B2-F4B3-A97D-78D7-F4ECABA0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6905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F7BEF86-C315-4AB8-9C7A-46D0647AEB7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B893A0-481B-446D-9212-3457CB0EADDC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50408864-0D7D-4139-9475-5DDE36FBAEE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0EB2A63-73D8-4687-9FCE-A0AF4A7D1E7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D7E0E192-6DDB-C970-D307-07A20218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76695" y="949859"/>
            <a:ext cx="1264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Body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0310" y="1676400"/>
            <a:ext cx="111744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threshold voltage </a:t>
            </a:r>
            <a:r>
              <a:rPr lang="en-US" dirty="0" smtClean="0"/>
              <a:t>V</a:t>
            </a:r>
            <a:r>
              <a:rPr lang="en-US" sz="1100" dirty="0" smtClean="0"/>
              <a:t>T</a:t>
            </a:r>
            <a:r>
              <a:rPr lang="en-US" dirty="0" smtClean="0"/>
              <a:t>​ </a:t>
            </a:r>
            <a:r>
              <a:rPr lang="en-US" dirty="0"/>
              <a:t>of a MOSFET increases when the source is at a higher potential than the substrate (body).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02888"/>
            <a:ext cx="3029373" cy="40010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8" y="2759396"/>
            <a:ext cx="2972215" cy="118126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10" y="4534468"/>
            <a:ext cx="3324689" cy="139084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15" y="4183541"/>
            <a:ext cx="1428949" cy="28579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0000" y="2355511"/>
            <a:ext cx="3860800" cy="31702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077200" y="2072695"/>
            <a:ext cx="3505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/>
              <a:t>The body effect is a second-order effect in MOSFETs where the threshold voltage increases when there is a </a:t>
            </a:r>
            <a:r>
              <a:rPr lang="en-US" b="1" dirty="0">
                <a:solidFill>
                  <a:srgbClr val="C00000"/>
                </a:solidFill>
              </a:rPr>
              <a:t>voltage difference between the source and substrate</a:t>
            </a:r>
            <a:r>
              <a:rPr lang="en-US" dirty="0"/>
              <a:t>. </a:t>
            </a:r>
            <a:r>
              <a:rPr lang="en-US" dirty="0">
                <a:solidFill>
                  <a:srgbClr val="0070C0"/>
                </a:solidFill>
              </a:rPr>
              <a:t>As the source-to-body voltage increases, the reverse bias of the source–body junction increases, widening the depletion region and increasing the depletion charge. </a:t>
            </a:r>
            <a:r>
              <a:rPr lang="en-US" dirty="0"/>
              <a:t>To maintain charge neutrality, the inversion charge must reduce, requiring a higher gate voltage to form the channel. This results in an increase in threshold </a:t>
            </a:r>
            <a:r>
              <a:rPr lang="en-US" dirty="0" smtClean="0"/>
              <a:t>voltage.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207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A2A3405-F55F-4219-ABEF-4CA9C5C40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4F21696-A1E8-42CD-A72A-F33BDA91548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EC47E5-F3FE-4CDD-B80F-4335569F3B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9B31E-382A-47F5-8C34-C6F1AD4AA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4FBB34F-CEC2-499A-9786-13A24C67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319D87-54C1-415F-BFDA-13C9A6379B42}"/>
              </a:ext>
            </a:extLst>
          </p:cNvPr>
          <p:cNvSpPr/>
          <p:nvPr/>
        </p:nvSpPr>
        <p:spPr>
          <a:xfrm>
            <a:off x="7924800" y="1286233"/>
            <a:ext cx="215143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Body</a:t>
            </a:r>
            <a:r>
              <a:rPr lang="en-IN" sz="24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Effect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="" xmlns:a16="http://schemas.microsoft.com/office/drawing/2014/main" id="{DBFF9E86-CAEF-4E77-BD18-76FEE82B03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92610"/>
            <a:ext cx="8686800" cy="123159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In arranging the devices to form gating functions it might be necessary to connect several devices in series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Effect of substrate bias on series connected n-transistor 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A58EEA1-4709-4BB3-B3C8-CA6CC502A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023" y="3124200"/>
            <a:ext cx="3289177" cy="2971800"/>
          </a:xfrm>
          <a:prstGeom prst="rect">
            <a:avLst/>
          </a:prstGeom>
        </p:spPr>
      </p:pic>
      <p:sp>
        <p:nvSpPr>
          <p:cNvPr id="18" name="Text Placeholder 1">
            <a:extLst>
              <a:ext uri="{FF2B5EF4-FFF2-40B4-BE49-F238E27FC236}">
                <a16:creationId xmlns="" xmlns:a16="http://schemas.microsoft.com/office/drawing/2014/main" id="{29D8B6C8-9CD8-4AF1-9873-CD5329838D66}"/>
              </a:ext>
            </a:extLst>
          </p:cNvPr>
          <p:cNvSpPr txBox="1">
            <a:spLocks/>
          </p:cNvSpPr>
          <p:nvPr/>
        </p:nvSpPr>
        <p:spPr>
          <a:xfrm>
            <a:off x="5169024" y="3038088"/>
            <a:ext cx="5270377" cy="320498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This results in an increase in source to substrate voltage, as vertically along series chain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(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sb1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=0,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sb2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≠ 0)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Under normal Conditions,                            When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&gt; V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depletion layer width remains constant and charge carriers are pulled into the channel from the source 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97BEC0BB-2FEB-20F9-4ADE-A7C165D5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97175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A2A3405-F55F-4219-ABEF-4CA9C5C40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3005852-25F0-4CF1-A19B-9F252998362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EC47E5-F3FE-4CDD-B80F-4335569F3B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9B31E-382A-47F5-8C34-C6F1AD4AA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4FBB34F-CEC2-499A-9786-13A24C67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319D87-54C1-415F-BFDA-13C9A6379B42}"/>
              </a:ext>
            </a:extLst>
          </p:cNvPr>
          <p:cNvSpPr/>
          <p:nvPr/>
        </p:nvSpPr>
        <p:spPr>
          <a:xfrm>
            <a:off x="7924800" y="1286233"/>
            <a:ext cx="215143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Body</a:t>
            </a:r>
            <a:r>
              <a:rPr lang="en-IN" sz="24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Effect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2" name="Text Placeholder 1">
            <a:extLst>
              <a:ext uri="{FF2B5EF4-FFF2-40B4-BE49-F238E27FC236}">
                <a16:creationId xmlns="" xmlns:a16="http://schemas.microsoft.com/office/drawing/2014/main" id="{97661045-C79F-4B0B-B6A4-5B9A0EE6092C}"/>
              </a:ext>
            </a:extLst>
          </p:cNvPr>
          <p:cNvSpPr txBox="1">
            <a:spLocks/>
          </p:cNvSpPr>
          <p:nvPr/>
        </p:nvSpPr>
        <p:spPr>
          <a:xfrm>
            <a:off x="1740024" y="2119729"/>
            <a:ext cx="8711953" cy="421403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0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6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800" kern="1200">
                <a:solidFill>
                  <a:schemeClr val="tx1"/>
                </a:solidFill>
                <a:latin typeface="Times New Roman" pitchFamily="18" charset="0"/>
                <a:ea typeface="+mn-ea"/>
                <a:cs typeface="Times New Roman" pitchFamily="18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As the substrate bias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sb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(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source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 – V 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substrate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)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is increased,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width of the channel substrate depletion layer also increases, resulting in an increase in the density of the trapped carriers in the depletion layer.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  </a:t>
            </a:r>
            <a:endParaRPr lang="en-IN" sz="2000" dirty="0">
              <a:solidFill>
                <a:srgbClr val="00B0F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For charge neutrality to hold, </a:t>
            </a:r>
          </a:p>
          <a:p>
            <a:pPr lvl="1" algn="just"/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channel charge must decrease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result effect is the substrate voltage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sb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adds to the channel substrate junction potential</a:t>
            </a:r>
          </a:p>
          <a:p>
            <a:pPr lvl="1" algn="just"/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This increase the gate channel voltage drop </a:t>
            </a:r>
          </a:p>
          <a:p>
            <a:pPr lvl="1" algn="just"/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overall effect is the increase of threshold voltage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(V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t2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&gt;V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t1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 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C7090972-7437-0164-18DB-1F0EC7337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9404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A2A3405-F55F-4219-ABEF-4CA9C5C40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BD16A43-DF83-423F-8F43-874FC8450BA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EC47E5-F3FE-4CDD-B80F-4335569F3B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9B31E-382A-47F5-8C34-C6F1AD4AA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4FBB34F-CEC2-499A-9786-13A24C67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AD319D87-54C1-415F-BFDA-13C9A6379B42}"/>
              </a:ext>
            </a:extLst>
          </p:cNvPr>
          <p:cNvSpPr/>
          <p:nvPr/>
        </p:nvSpPr>
        <p:spPr>
          <a:xfrm>
            <a:off x="7924800" y="1286233"/>
            <a:ext cx="2151438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Body</a:t>
            </a:r>
            <a:r>
              <a:rPr lang="en-IN" sz="2400" b="1" spc="-1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Effect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2" name="object 16">
            <a:extLst>
              <a:ext uri="{FF2B5EF4-FFF2-40B4-BE49-F238E27FC236}">
                <a16:creationId xmlns="" xmlns:a16="http://schemas.microsoft.com/office/drawing/2014/main" id="{DA8E637B-16F7-4937-B519-9025E7217FB7}"/>
              </a:ext>
            </a:extLst>
          </p:cNvPr>
          <p:cNvSpPr txBox="1"/>
          <p:nvPr/>
        </p:nvSpPr>
        <p:spPr>
          <a:xfrm>
            <a:off x="2057400" y="2119729"/>
            <a:ext cx="8018838" cy="2623154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493395" indent="-455930">
              <a:spcBef>
                <a:spcPts val="575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sz="20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</a:t>
            </a:r>
            <a:r>
              <a:rPr sz="1950" spc="15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sb </a:t>
            </a:r>
            <a:r>
              <a:rPr sz="20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affects the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charge required </a:t>
            </a:r>
            <a:r>
              <a:rPr sz="20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to invert the</a:t>
            </a:r>
            <a:r>
              <a:rPr sz="2000" spc="-3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channel</a:t>
            </a:r>
          </a:p>
          <a:p>
            <a:pPr marL="607695">
              <a:spcBef>
                <a:spcPts val="480"/>
              </a:spcBef>
              <a:tabLst>
                <a:tab pos="962660" algn="l"/>
              </a:tabLst>
            </a:pP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–	Increasing </a:t>
            </a:r>
            <a:r>
              <a:rPr sz="20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</a:t>
            </a:r>
            <a:r>
              <a:rPr sz="1950" spc="7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or decreasing </a:t>
            </a:r>
            <a:r>
              <a:rPr sz="20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</a:t>
            </a:r>
            <a:r>
              <a:rPr sz="1950" spc="7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increases</a:t>
            </a:r>
            <a:r>
              <a:rPr sz="2000" spc="19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V</a:t>
            </a:r>
            <a:r>
              <a:rPr sz="1950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</a:t>
            </a:r>
          </a:p>
          <a:p>
            <a:pPr>
              <a:spcBef>
                <a:spcPts val="25"/>
              </a:spcBef>
            </a:pPr>
            <a:endParaRPr sz="29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493395" indent="-455930">
              <a:spcBef>
                <a:spcPts val="5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sz="2000" spc="-15" dirty="0">
                <a:solidFill>
                  <a:schemeClr val="accent6">
                    <a:lumMod val="50000"/>
                  </a:schemeClr>
                </a:solidFill>
                <a:latin typeface="Symbol"/>
                <a:cs typeface="Symbol"/>
              </a:rPr>
              <a:t></a:t>
            </a:r>
            <a:r>
              <a:rPr sz="1950" spc="-22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= </a:t>
            </a:r>
            <a:r>
              <a:rPr sz="2000" i="1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surface </a:t>
            </a:r>
            <a:r>
              <a:rPr sz="2000" i="1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potential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at</a:t>
            </a:r>
            <a:r>
              <a:rPr sz="2000" spc="-229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threshold</a:t>
            </a:r>
          </a:p>
          <a:p>
            <a:pPr marL="631825">
              <a:spcBef>
                <a:spcPts val="475"/>
              </a:spcBef>
              <a:tabLst>
                <a:tab pos="924560" algn="l"/>
              </a:tabLst>
            </a:pP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-	Depends on doping </a:t>
            </a:r>
            <a:r>
              <a:rPr sz="20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level</a:t>
            </a:r>
            <a:r>
              <a:rPr sz="2000" spc="-6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spc="1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</a:t>
            </a:r>
            <a:r>
              <a:rPr sz="1950" spc="15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A</a:t>
            </a:r>
            <a:endParaRPr sz="1950" baseline="-21367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607695">
              <a:spcBef>
                <a:spcPts val="484"/>
              </a:spcBef>
              <a:tabLst>
                <a:tab pos="894080" algn="l"/>
              </a:tabLst>
            </a:pP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–	And </a:t>
            </a:r>
            <a:r>
              <a:rPr sz="2000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intrinsic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carrier concentration</a:t>
            </a:r>
            <a:r>
              <a:rPr sz="2000" spc="-14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spc="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n</a:t>
            </a:r>
            <a:r>
              <a:rPr sz="1950" spc="7" baseline="-21367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i</a:t>
            </a:r>
            <a:endParaRPr sz="1950" baseline="-21367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  <a:p>
            <a:pPr marL="106045">
              <a:spcBef>
                <a:spcPts val="480"/>
              </a:spcBef>
            </a:pP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Symbol"/>
                <a:cs typeface="Symbol"/>
              </a:rPr>
              <a:t>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= </a:t>
            </a:r>
            <a:r>
              <a:rPr sz="2000" i="1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body </a:t>
            </a:r>
            <a:r>
              <a:rPr sz="2000" i="1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effect</a:t>
            </a:r>
            <a:r>
              <a:rPr sz="2000" i="1" spc="-30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2000" i="1" spc="-5" dirty="0">
                <a:solidFill>
                  <a:schemeClr val="accent6">
                    <a:lumMod val="50000"/>
                  </a:schemeClr>
                </a:solidFill>
                <a:latin typeface="Arial"/>
                <a:cs typeface="Arial"/>
              </a:rPr>
              <a:t>coefficient</a:t>
            </a:r>
            <a:endParaRPr sz="2000" dirty="0">
              <a:solidFill>
                <a:schemeClr val="accent6">
                  <a:lumMod val="50000"/>
                </a:schemeClr>
              </a:solidFill>
              <a:latin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8D8F051E-13BD-41AC-AE4C-BCC8AA631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791200" y="4690066"/>
            <a:ext cx="3147042" cy="110113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8CBC159B-FA12-35A7-4C21-9620E190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556345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A2A3405-F55F-4219-ABEF-4CA9C5C40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BD16A43-DF83-423F-8F43-874FC8450BA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BEC47E5-F3FE-4CDD-B80F-4335569F3B3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6E9B31E-382A-47F5-8C34-C6F1AD4AA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D4FBB34F-CEC2-499A-9786-13A24C670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8CBC159B-FA12-35A7-4C21-9620E190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111643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14CFBE2-073E-47BD-92C2-9179E6230BE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6854A63-226E-4667-B7E2-B40CD0124D7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26B8320-8FFE-4940-B544-F3FA8EA563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B8F8CA5-4AB6-4B1F-B07B-A13402D179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674BB07F-F422-434E-8284-1C57B442C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B1F84CE-1FB8-4B9B-BDCA-AFF823A40AA0}"/>
              </a:ext>
            </a:extLst>
          </p:cNvPr>
          <p:cNvSpPr/>
          <p:nvPr/>
        </p:nvSpPr>
        <p:spPr>
          <a:xfrm>
            <a:off x="6553201" y="1286233"/>
            <a:ext cx="3817071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Sub-Threshold</a:t>
            </a:r>
            <a:r>
              <a:rPr lang="en-IN" sz="2400" b="1" spc="2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Region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="" xmlns:a16="http://schemas.microsoft.com/office/drawing/2014/main" id="{C7C94E37-75E7-4E4E-9EEA-F79F12FB5B2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2346325"/>
            <a:ext cx="8686800" cy="29718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cut off region is also referred to as the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sub- threshold region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Where, </a:t>
            </a:r>
          </a:p>
          <a:p>
            <a:pPr marL="457200" lvl="1" indent="0" algn="just">
              <a:buNone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	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, increases exponentially with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and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value of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is very small, 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finite value of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may be used as advantage to construct very low power circuits, </a:t>
            </a: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or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it may adversely affect circuits such as dynamic charge storage nodes</a:t>
            </a:r>
          </a:p>
          <a:p>
            <a:pPr marL="0" indent="0">
              <a:buNone/>
            </a:pPr>
            <a:endParaRPr lang="en-IN" sz="2000" dirty="0">
              <a:latin typeface="Bookman Old Style" panose="020506040505050202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B4867FDD-AB23-256A-8788-2E0A4879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5500275"/>
            <a:ext cx="3172268" cy="571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5439888"/>
            <a:ext cx="4982270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07571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81736FC-8025-4498-81B9-09FEAFC8E6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Gate-Induced  Drain</a:t>
            </a:r>
            <a:r>
              <a:rPr lang="en-IN" sz="2000" spc="-45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Leakage</a:t>
            </a:r>
          </a:p>
          <a:p>
            <a:pPr marL="480695" indent="-455930">
              <a:spcBef>
                <a:spcPts val="675"/>
              </a:spcBef>
              <a:buFont typeface="Wingdings"/>
              <a:buChar char=""/>
              <a:tabLst>
                <a:tab pos="480695" algn="l"/>
                <a:tab pos="481330" algn="l"/>
              </a:tabLst>
            </a:pP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Occurs at overlap between gate and</a:t>
            </a:r>
            <a:r>
              <a:rPr lang="en-US" sz="2000" spc="2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drain</a:t>
            </a: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881380" marR="17780" lvl="1" indent="-287020" algn="just">
              <a:spcBef>
                <a:spcPts val="575"/>
              </a:spcBef>
              <a:tabLst>
                <a:tab pos="882015" algn="l"/>
              </a:tabLst>
            </a:pP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when drain is at </a:t>
            </a:r>
            <a:r>
              <a:rPr lang="en-US" sz="2000" spc="-5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lang="en-US" sz="2000" spc="-7" baseline="-20833" dirty="0">
                <a:solidFill>
                  <a:srgbClr val="0070C0"/>
                </a:solidFill>
                <a:latin typeface="Bookman Old Style" panose="02050604050505020204" pitchFamily="18" charset="0"/>
                <a:cs typeface="Arial"/>
              </a:rPr>
              <a:t>DD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, gate is at  a negative</a:t>
            </a:r>
            <a:r>
              <a:rPr lang="en-US" sz="2000" spc="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voltage</a:t>
            </a: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881380" marR="228600" lvl="1" indent="-287020" algn="just">
              <a:spcBef>
                <a:spcPts val="575"/>
              </a:spcBef>
              <a:tabLst>
                <a:tab pos="882015" algn="l"/>
              </a:tabLst>
            </a:pPr>
            <a:r>
              <a:rPr lang="en-IN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Stops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efforts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to 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reduce subthreshold leakage  using a negative gate</a:t>
            </a:r>
            <a:r>
              <a:rPr lang="en-US" sz="2000" spc="2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voltage</a:t>
            </a: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8F0958D-8D24-48D6-B521-90E7E538C65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A62E2E6-4140-4592-A1F4-C02C14D1C5B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373C5157-E784-46FA-AED2-E5D96BE0C6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6F37706-13C9-42E4-8984-EDBFD7B39D0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8F6EC07-89B9-4277-A60A-740A90A5A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="" xmlns:a16="http://schemas.microsoft.com/office/drawing/2014/main" id="{EFA2FD5F-524E-4C2A-A372-C6AEB6BFB509}"/>
              </a:ext>
            </a:extLst>
          </p:cNvPr>
          <p:cNvSpPr/>
          <p:nvPr/>
        </p:nvSpPr>
        <p:spPr>
          <a:xfrm>
            <a:off x="5791200" y="3913573"/>
            <a:ext cx="3124200" cy="2438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E99E0EB-8E5F-B8EF-4C96-A231DB4F6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94026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C9C07C1-2A36-4E14-BF2B-2F8569570EB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5005E73-6238-4D31-AB86-E59F1B519E2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1BC17E2-8F62-4D08-928B-95078A195F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2CBAAC-81E3-4FF6-A24B-D57CC7A0F7C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0E5B389-D3A3-479B-AF81-494C91DDD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FA38EDBD-0369-4912-AB5B-90A4FC41FC5B}"/>
              </a:ext>
            </a:extLst>
          </p:cNvPr>
          <p:cNvSpPr/>
          <p:nvPr/>
        </p:nvSpPr>
        <p:spPr>
          <a:xfrm>
            <a:off x="6306105" y="1297900"/>
            <a:ext cx="4114801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80"/>
              </a:spcBef>
              <a:tabLst>
                <a:tab pos="869315" algn="l"/>
              </a:tabLst>
            </a:pPr>
            <a:r>
              <a:rPr lang="en-IN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Channel-Length Modulation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Text Placeholder 1">
            <a:extLst>
              <a:ext uri="{FF2B5EF4-FFF2-40B4-BE49-F238E27FC236}">
                <a16:creationId xmlns="" xmlns:a16="http://schemas.microsoft.com/office/drawing/2014/main" id="{627855DF-2424-47F2-ADDE-F1B21D2A49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981200"/>
            <a:ext cx="8686800" cy="434340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behavior of an MOS device assumes that the carrier mobility is constant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And does not take into account the variation in channel length due to the changes in drain to source voltages </a:t>
            </a:r>
            <a:r>
              <a:rPr lang="en-US" sz="2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endParaRPr lang="en-US" sz="2000" baseline="-25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For long channel length,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influence of channel variation is of little  </a:t>
            </a:r>
            <a:endParaRPr lang="en-IN" sz="20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When a MOS device is in saturation,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IN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The effective channel length is, </a:t>
            </a:r>
          </a:p>
          <a:p>
            <a:pPr marL="0" indent="0" algn="just">
              <a:buNone/>
            </a:pPr>
            <a:endParaRPr lang="en-US" sz="24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30F30213-914C-46CF-9B4E-9168F5AAF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4798100"/>
            <a:ext cx="5029200" cy="1524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28308F34-524E-7259-2402-6FFDEABC4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505817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118B6B17-86F5-4D5B-B3EA-241EAEE44F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reduction in channel length increases the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(W/L)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 ratio, there by increases </a:t>
            </a:r>
            <a:r>
              <a:rPr lang="el-GR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β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as the drain voltage increase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MOS device rather appearing as a constant current source with infinite output impedance it has a finite output impedance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above behavior is represented by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C053757-1458-410F-A77A-CA06E800E9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B41E94F-A85F-4F34-94EB-374CE738E6D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66ADB3B-9686-4A30-BF5C-A764886EDCA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371337F-D060-4B2F-B6B7-DE093F7EEA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B7843D3-85A1-4BDE-833E-AE5E11FCD6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EC8B8D6F-575E-40CD-A5D0-D225CD1E3433}"/>
              </a:ext>
            </a:extLst>
          </p:cNvPr>
          <p:cNvSpPr/>
          <p:nvPr/>
        </p:nvSpPr>
        <p:spPr>
          <a:xfrm>
            <a:off x="6306105" y="1297900"/>
            <a:ext cx="4114801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80"/>
              </a:spcBef>
              <a:tabLst>
                <a:tab pos="869315" algn="l"/>
              </a:tabLst>
            </a:pPr>
            <a:r>
              <a:rPr lang="en-IN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Channel-Length Modulation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6A1BF86-BBE6-4E14-918F-7C5DD2E85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1" y="3810000"/>
            <a:ext cx="4722181" cy="7476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C2034469-E53A-4BF5-ACE6-2C62E031D0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4664483"/>
            <a:ext cx="8153400" cy="155326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A761903-2A46-0188-956F-79BD569B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946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DCD96A4-7346-484C-A075-C809E7D06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5200" y="1968638"/>
            <a:ext cx="5181600" cy="58316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Gate Voltage and the Channel</a:t>
            </a:r>
            <a:endParaRPr lang="en-IN" sz="24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8FAD5A2-FEB7-41A2-B582-292D98AEBC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78EA7EA-2451-4BED-ACB0-96CECD04E57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428BA7D-8461-4EC4-9E8A-D3768DC4B4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C73FEB-58C7-4D01-B510-2771188E6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259D3B8-4C90-401B-A84E-79648CC5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19EC4551-4A48-4766-80EA-81C9BCDA3680}"/>
              </a:ext>
            </a:extLst>
          </p:cNvPr>
          <p:cNvSpPr/>
          <p:nvPr/>
        </p:nvSpPr>
        <p:spPr>
          <a:xfrm>
            <a:off x="6306105" y="1297900"/>
            <a:ext cx="4114801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80"/>
              </a:spcBef>
              <a:tabLst>
                <a:tab pos="869315" algn="l"/>
              </a:tabLst>
            </a:pPr>
            <a:r>
              <a:rPr lang="en-IN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Channel-Length Modulation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7FF02C3-47E0-4CAE-999E-DAB82B6EB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0" y="2438401"/>
            <a:ext cx="7391400" cy="37338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FCCB797C-82E8-FFBD-2F7F-0D652997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269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DCD96A4-7346-484C-A075-C809E7D067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37064" y="1814931"/>
            <a:ext cx="8656220" cy="4432163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Mobility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‘µ’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describes the ease with which carries drift in the substrate material. It is defined by,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If the velocity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is given by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cm/sec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, the electric field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E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in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v/cm,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mobility has the dimensions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cm</a:t>
            </a:r>
            <a:r>
              <a:rPr lang="en-US" sz="1800" baseline="30000" dirty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/v-sec</a:t>
            </a:r>
          </a:p>
          <a:p>
            <a:pPr marL="588645" indent="-538480">
              <a:spcBef>
                <a:spcPts val="575"/>
              </a:spcBef>
              <a:buFont typeface="Wingdings"/>
              <a:buChar char=""/>
              <a:tabLst>
                <a:tab pos="588645" algn="l"/>
                <a:tab pos="589280" algn="l"/>
              </a:tabLst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Mobility vary in number of ways</a:t>
            </a:r>
          </a:p>
          <a:p>
            <a:pPr marL="906780" marR="339090" lvl="1" indent="-287020" algn="just">
              <a:spcBef>
                <a:spcPts val="575"/>
              </a:spcBef>
              <a:buFont typeface="Arial"/>
              <a:buChar char="–"/>
              <a:tabLst>
                <a:tab pos="989330" algn="l"/>
                <a:tab pos="989965" algn="l"/>
              </a:tabLst>
            </a:pP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Negative charge carriers in silicon have much 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higher mobility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than positive charge carriers</a:t>
            </a:r>
          </a:p>
          <a:p>
            <a:pPr marL="906780" marR="17780" lvl="1" indent="-287020" algn="just">
              <a:spcBef>
                <a:spcPts val="580"/>
              </a:spcBef>
              <a:buFont typeface="Arial"/>
              <a:buChar char="–"/>
              <a:tabLst>
                <a:tab pos="989330" algn="l"/>
                <a:tab pos="989965" algn="l"/>
              </a:tabLst>
            </a:pP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Decreases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with increasing doping concentration and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increasing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temperature</a:t>
            </a:r>
          </a:p>
          <a:p>
            <a:pPr marL="906780" marR="527685" lvl="1" indent="-287020" algn="just">
              <a:spcBef>
                <a:spcPts val="575"/>
              </a:spcBef>
              <a:buFont typeface="Arial"/>
              <a:buChar char="–"/>
              <a:tabLst>
                <a:tab pos="989330" algn="l"/>
                <a:tab pos="989965" algn="l"/>
              </a:tabLst>
            </a:pP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Temperature variations 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becomes less pronounced as the doping density increases</a:t>
            </a:r>
          </a:p>
          <a:p>
            <a:pPr marL="906780" marR="527685" lvl="1" indent="-287020" algn="just">
              <a:spcBef>
                <a:spcPts val="575"/>
              </a:spcBef>
              <a:buFont typeface="Arial"/>
              <a:buChar char="–"/>
              <a:tabLst>
                <a:tab pos="989330" algn="l"/>
                <a:tab pos="989965" algn="l"/>
              </a:tabLst>
            </a:pPr>
            <a:endParaRPr lang="en-IN" sz="16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8FAD5A2-FEB7-41A2-B582-292D98AEBCC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EDDB592-D216-4764-8221-A56802B27EE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428BA7D-8461-4EC4-9E8A-D3768DC4B48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2C73FEB-58C7-4D01-B510-2771188E63D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8259D3B8-4C90-401B-A84E-79648CC58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024" y="1219200"/>
            <a:ext cx="4429125" cy="5957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527826B-4334-4AB0-B046-D243D8B6F0C0}"/>
              </a:ext>
            </a:extLst>
          </p:cNvPr>
          <p:cNvSpPr/>
          <p:nvPr/>
        </p:nvSpPr>
        <p:spPr>
          <a:xfrm>
            <a:off x="7190557" y="1286233"/>
            <a:ext cx="3205686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Mobility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4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Variation</a:t>
            </a: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D1865649-05F6-45FE-878E-37BE90DEC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5320" y="2464819"/>
            <a:ext cx="4961361" cy="88798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7DE5044F-E7C7-51AB-562A-D0D37DAB2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27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BEA1062-85E6-4C9B-BAC3-D9C31A0433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467995" marR="5080" indent="-455930" algn="just">
              <a:spcBef>
                <a:spcPts val="100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When gate oxide is very thin a current can flow from  the gate to source or drain by electron tunneling  through the gate oxide.</a:t>
            </a:r>
          </a:p>
          <a:p>
            <a:pPr marL="467995" marR="88900" indent="-455930"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Current is proportional to the area of the gate of the  transistor.</a:t>
            </a:r>
          </a:p>
          <a:p>
            <a:pPr marL="467995" marR="88900" indent="-455930"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467995" marR="88900" indent="-455930"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467995" marR="5080" indent="-455930">
              <a:spcBef>
                <a:spcPts val="100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Where, </a:t>
            </a:r>
          </a:p>
          <a:p>
            <a:pPr marL="868045" marR="5080" lvl="1" indent="-455930" algn="just">
              <a:spcBef>
                <a:spcPts val="100"/>
              </a:spcBef>
              <a:buFont typeface="Courier New" panose="02070309020205020404" pitchFamily="49" charset="0"/>
              <a:buChar char="o"/>
              <a:tabLst>
                <a:tab pos="467995" algn="l"/>
                <a:tab pos="468630" algn="l"/>
              </a:tabLst>
            </a:pPr>
            <a:r>
              <a:rPr lang="en-US" sz="18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</a:t>
            </a:r>
            <a:r>
              <a:rPr lang="en-US" sz="18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ox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is the electric field across the gate oxide and </a:t>
            </a:r>
            <a:r>
              <a:rPr lang="en-US" sz="18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</a:t>
            </a:r>
            <a:r>
              <a:rPr lang="en-US" sz="18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o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and </a:t>
            </a:r>
            <a:r>
              <a:rPr lang="en-US" sz="1800" dirty="0">
                <a:solidFill>
                  <a:srgbClr val="0070C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1</a:t>
            </a:r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 are constants.</a:t>
            </a:r>
            <a:endParaRPr lang="en-US" sz="24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412115" marR="5080" lvl="1" indent="0" algn="ctr">
              <a:spcBef>
                <a:spcPts val="100"/>
              </a:spcBef>
              <a:buNone/>
              <a:tabLst>
                <a:tab pos="467995" algn="l"/>
                <a:tab pos="468630" algn="l"/>
              </a:tabLst>
            </a:pPr>
            <a:r>
              <a:rPr lang="en-US" sz="24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</a:t>
            </a:r>
            <a:r>
              <a:rPr lang="en-US" sz="24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ox</a:t>
            </a:r>
            <a:r>
              <a:rPr lang="en-US" sz="24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=</a:t>
            </a:r>
            <a:r>
              <a:rPr lang="en-US" sz="24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US" sz="24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sz="2400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/T</a:t>
            </a:r>
            <a:r>
              <a:rPr lang="en-US" sz="2400" baseline="-25000" dirty="0">
                <a:solidFill>
                  <a:srgbClr val="0070C0"/>
                </a:solidFill>
                <a:latin typeface="Bookman Old Style" panose="02050604050505020204" pitchFamily="18" charset="0"/>
              </a:rPr>
              <a:t>ox</a:t>
            </a:r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</a:p>
          <a:p>
            <a:pPr marL="412115" marR="5080" lvl="1" indent="0">
              <a:spcBef>
                <a:spcPts val="100"/>
              </a:spcBef>
              <a:buNone/>
              <a:tabLst>
                <a:tab pos="467995" algn="l"/>
                <a:tab pos="468630" algn="l"/>
              </a:tabLst>
            </a:pPr>
            <a:endParaRPr lang="en-US" sz="2000" spc="-5" dirty="0">
              <a:solidFill>
                <a:srgbClr val="C00000"/>
              </a:solidFill>
              <a:latin typeface="Arial"/>
              <a:cs typeface="Arial"/>
            </a:endParaRPr>
          </a:p>
          <a:p>
            <a:pPr marL="412115" marR="5080" lvl="1" indent="0" algn="just">
              <a:spcBef>
                <a:spcPts val="100"/>
              </a:spcBef>
              <a:buNone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rgbClr val="C00000"/>
                </a:solidFill>
                <a:latin typeface="Arial"/>
                <a:cs typeface="Arial"/>
              </a:rPr>
              <a:t>– </a:t>
            </a:r>
            <a:r>
              <a:rPr lang="en-US" sz="2000" dirty="0">
                <a:solidFill>
                  <a:srgbClr val="7030A0"/>
                </a:solidFill>
                <a:latin typeface="Bookman Old Style" panose="02050604050505020204" pitchFamily="18" charset="0"/>
              </a:rPr>
              <a:t>This effect limits the thickness of the gate  oxide as processes are scaled.</a:t>
            </a:r>
          </a:p>
          <a:p>
            <a:pPr marL="467995" marR="88900" indent="-455930"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303C1F5-C5F0-494C-9092-0110EA7999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079C2F7-07B1-4605-8319-24F3D973B44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A92841-D107-4AED-B22B-F5F23848C2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9315F2-F914-44BA-BC5E-6C5A511571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EBBFFF5-3B0B-44A1-9B82-D29FC9C3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6" y="1249622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0625E3E-21E8-4E04-A7FE-A4C3F197CE7F}"/>
              </a:ext>
            </a:extLst>
          </p:cNvPr>
          <p:cNvSpPr/>
          <p:nvPr/>
        </p:nvSpPr>
        <p:spPr>
          <a:xfrm>
            <a:off x="6248401" y="1347432"/>
            <a:ext cx="4200525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000" b="1" spc="-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Fowler-</a:t>
            </a:r>
            <a:r>
              <a:rPr lang="en-IN" sz="2000" b="1" spc="-5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Nordheim</a:t>
            </a:r>
            <a:r>
              <a:rPr lang="en-IN" sz="2000" b="1" spc="3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IN" sz="2000" b="1" spc="-10" dirty="0" err="1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Tunneling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45166F58-FB01-4D82-A270-F4B317CE4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200400"/>
            <a:ext cx="2895600" cy="762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7C32517C-3545-AD8C-629D-8D6E373F7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334776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5BEA1062-85E6-4C9B-BAC3-D9C31A0433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981200"/>
            <a:ext cx="8686800" cy="1066800"/>
          </a:xfrm>
        </p:spPr>
        <p:txBody>
          <a:bodyPr>
            <a:normAutofit/>
          </a:bodyPr>
          <a:lstStyle/>
          <a:p>
            <a:pPr marL="467995" marR="88900" indent="-455930" algn="just"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When the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drain voltage is high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with respect to  source, the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depletion region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around the drain may 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extend to source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, causing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current to flow irrespective  of gate voltage.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303C1F5-C5F0-494C-9092-0110EA7999F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CDC0DD4-EF8C-4FBF-A9EA-73BDF43397A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AA92841-D107-4AED-B22B-F5F23848C29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9315F2-F914-44BA-BC5E-6C5A511571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EBBFFF5-3B0B-44A1-9B82-D29FC9C38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6" y="1249622"/>
            <a:ext cx="4429125" cy="59573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C0625E3E-21E8-4E04-A7FE-A4C3F197CE7F}"/>
              </a:ext>
            </a:extLst>
          </p:cNvPr>
          <p:cNvSpPr/>
          <p:nvPr/>
        </p:nvSpPr>
        <p:spPr>
          <a:xfrm>
            <a:off x="6681186" y="1316655"/>
            <a:ext cx="3733800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Drain Punch Through</a:t>
            </a:r>
            <a:r>
              <a:rPr lang="en-IN" sz="2000" b="1" spc="35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 </a:t>
            </a: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grpSp>
        <p:nvGrpSpPr>
          <p:cNvPr id="11" name="object 4">
            <a:extLst>
              <a:ext uri="{FF2B5EF4-FFF2-40B4-BE49-F238E27FC236}">
                <a16:creationId xmlns="" xmlns:a16="http://schemas.microsoft.com/office/drawing/2014/main" id="{89DEC802-3B1A-4B2C-BAB1-335872E2972E}"/>
              </a:ext>
            </a:extLst>
          </p:cNvPr>
          <p:cNvGrpSpPr/>
          <p:nvPr/>
        </p:nvGrpSpPr>
        <p:grpSpPr>
          <a:xfrm>
            <a:off x="6681186" y="3048001"/>
            <a:ext cx="3605814" cy="3170099"/>
            <a:chOff x="5739408" y="3634612"/>
            <a:chExt cx="2746277" cy="2062138"/>
          </a:xfrm>
        </p:grpSpPr>
        <p:sp>
          <p:nvSpPr>
            <p:cNvPr id="12" name="object 5">
              <a:extLst>
                <a:ext uri="{FF2B5EF4-FFF2-40B4-BE49-F238E27FC236}">
                  <a16:creationId xmlns="" xmlns:a16="http://schemas.microsoft.com/office/drawing/2014/main" id="{465A396E-6063-49B6-89CF-4B3F5FA362CE}"/>
                </a:ext>
              </a:extLst>
            </p:cNvPr>
            <p:cNvSpPr/>
            <p:nvPr/>
          </p:nvSpPr>
          <p:spPr>
            <a:xfrm>
              <a:off x="5739408" y="3634612"/>
              <a:ext cx="2746277" cy="2062138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6">
              <a:extLst>
                <a:ext uri="{FF2B5EF4-FFF2-40B4-BE49-F238E27FC236}">
                  <a16:creationId xmlns="" xmlns:a16="http://schemas.microsoft.com/office/drawing/2014/main" id="{2F33F865-009B-4879-A50D-9BAE45888CAD}"/>
                </a:ext>
              </a:extLst>
            </p:cNvPr>
            <p:cNvSpPr/>
            <p:nvPr/>
          </p:nvSpPr>
          <p:spPr>
            <a:xfrm>
              <a:off x="6324600" y="4525962"/>
              <a:ext cx="762000" cy="304800"/>
            </a:xfrm>
            <a:custGeom>
              <a:avLst/>
              <a:gdLst/>
              <a:ahLst/>
              <a:cxnLst/>
              <a:rect l="l" t="t" r="r" b="b"/>
              <a:pathLst>
                <a:path w="762000" h="304800">
                  <a:moveTo>
                    <a:pt x="762000" y="0"/>
                  </a:moveTo>
                  <a:lnTo>
                    <a:pt x="0" y="0"/>
                  </a:lnTo>
                  <a:lnTo>
                    <a:pt x="0" y="304800"/>
                  </a:lnTo>
                  <a:lnTo>
                    <a:pt x="762000" y="304800"/>
                  </a:lnTo>
                  <a:lnTo>
                    <a:pt x="762000" y="0"/>
                  </a:lnTo>
                  <a:close/>
                </a:path>
              </a:pathLst>
            </a:custGeom>
            <a:solidFill>
              <a:srgbClr val="FF0000">
                <a:alpha val="3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66F3BF19-27B6-4998-828A-F6281F23C3F3}"/>
              </a:ext>
            </a:extLst>
          </p:cNvPr>
          <p:cNvSpPr/>
          <p:nvPr/>
        </p:nvSpPr>
        <p:spPr>
          <a:xfrm>
            <a:off x="1752600" y="3048001"/>
            <a:ext cx="4928586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93395" indent="-455930" algn="just">
              <a:spcBef>
                <a:spcPts val="575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</a:rPr>
              <a:t>Electric field from drain affects channel</a:t>
            </a:r>
          </a:p>
          <a:p>
            <a:pPr marL="493395" marR="718820" indent="-455930" algn="just">
              <a:spcBef>
                <a:spcPts val="575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</a:rPr>
              <a:t>More pronounced in small transistors where the  drain is closer to the channel</a:t>
            </a:r>
          </a:p>
          <a:p>
            <a:pPr marL="493395" indent="-455930">
              <a:spcBef>
                <a:spcPts val="575"/>
              </a:spcBef>
              <a:buFont typeface="Wingdings"/>
              <a:buChar char=""/>
              <a:tabLst>
                <a:tab pos="493395" algn="l"/>
                <a:tab pos="494030" algn="l"/>
              </a:tabLst>
            </a:pPr>
            <a: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</a:rPr>
              <a:t>Drain-Induced Barrier Lowering</a:t>
            </a:r>
          </a:p>
          <a:p>
            <a:pPr marL="780415" lvl="1">
              <a:spcBef>
                <a:spcPts val="575"/>
              </a:spcBef>
              <a:buFont typeface="Wingdings" panose="05000000000000000000" pitchFamily="2" charset="2"/>
              <a:buChar char="ü"/>
              <a:tabLst>
                <a:tab pos="493395" algn="l"/>
                <a:tab pos="494030" algn="l"/>
              </a:tabLst>
            </a:pPr>
            <a:r>
              <a:rPr lang="en-US" dirty="0">
                <a:solidFill>
                  <a:srgbClr val="00B050"/>
                </a:solidFill>
                <a:latin typeface="Bookman Old Style" panose="02050604050505020204" pitchFamily="18" charset="0"/>
              </a:rPr>
              <a:t>Drain voltage also affect V</a:t>
            </a:r>
            <a:r>
              <a:rPr lang="en-US" baseline="-25000" dirty="0">
                <a:solidFill>
                  <a:srgbClr val="00B050"/>
                </a:solidFill>
                <a:latin typeface="Bookman Old Style" panose="02050604050505020204" pitchFamily="18" charset="0"/>
              </a:rPr>
              <a:t>t</a:t>
            </a:r>
          </a:p>
          <a:p>
            <a:pPr marL="494665" lvl="1" algn="ctr">
              <a:spcBef>
                <a:spcPts val="575"/>
              </a:spcBef>
              <a:tabLst>
                <a:tab pos="493395" algn="l"/>
                <a:tab pos="494030" algn="l"/>
              </a:tabLst>
            </a:pPr>
            <a:r>
              <a:rPr lang="en-IN" sz="2800" i="1" spc="-730" dirty="0">
                <a:solidFill>
                  <a:srgbClr val="00B0F0"/>
                </a:solidFill>
                <a:latin typeface="Times New Roman"/>
                <a:cs typeface="Times New Roman"/>
              </a:rPr>
              <a:t>V</a:t>
            </a:r>
            <a:r>
              <a:rPr lang="en-IN" sz="2800" i="1" spc="-1095" baseline="-25252" dirty="0">
                <a:solidFill>
                  <a:srgbClr val="00B0F0"/>
                </a:solidFill>
                <a:latin typeface="Times New Roman"/>
                <a:cs typeface="Times New Roman"/>
              </a:rPr>
              <a:t>t</a:t>
            </a:r>
            <a:r>
              <a:rPr lang="en-IN" sz="2800" spc="-1095" baseline="10721" dirty="0">
                <a:solidFill>
                  <a:srgbClr val="00B0F0"/>
                </a:solidFill>
                <a:latin typeface="Symbol"/>
                <a:cs typeface="Symbol"/>
              </a:rPr>
              <a:t></a:t>
            </a:r>
            <a:r>
              <a:rPr lang="en-IN" sz="3600" spc="104" baseline="10721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lang="en-IN" sz="2800" spc="-10" dirty="0">
                <a:solidFill>
                  <a:srgbClr val="00B0F0"/>
                </a:solidFill>
                <a:latin typeface="Symbol"/>
                <a:cs typeface="Symbol"/>
              </a:rPr>
              <a:t></a:t>
            </a:r>
            <a:r>
              <a:rPr lang="en-IN" sz="2800" spc="-10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lang="en-IN" sz="2800" i="1" spc="-60" dirty="0">
                <a:solidFill>
                  <a:srgbClr val="00B0F0"/>
                </a:solidFill>
                <a:latin typeface="Times New Roman"/>
                <a:cs typeface="Times New Roman"/>
              </a:rPr>
              <a:t>V</a:t>
            </a:r>
            <a:r>
              <a:rPr lang="en-IN" sz="2800" i="1" spc="-89" baseline="-25252" dirty="0">
                <a:solidFill>
                  <a:srgbClr val="00B0F0"/>
                </a:solidFill>
                <a:latin typeface="Times New Roman"/>
                <a:cs typeface="Times New Roman"/>
              </a:rPr>
              <a:t>t</a:t>
            </a:r>
            <a:r>
              <a:rPr lang="en-IN" sz="2800" i="1" spc="202" baseline="-25252" dirty="0">
                <a:solidFill>
                  <a:srgbClr val="00B0F0"/>
                </a:solidFill>
                <a:latin typeface="Times New Roman"/>
                <a:cs typeface="Times New Roman"/>
              </a:rPr>
              <a:t> </a:t>
            </a:r>
            <a:r>
              <a:rPr lang="en-IN" sz="2800" spc="-40" dirty="0">
                <a:solidFill>
                  <a:srgbClr val="00B0F0"/>
                </a:solidFill>
                <a:latin typeface="Symbol"/>
                <a:cs typeface="Symbol"/>
              </a:rPr>
              <a:t></a:t>
            </a:r>
            <a:r>
              <a:rPr lang="en-IN" sz="2800" i="1" spc="-40" dirty="0">
                <a:solidFill>
                  <a:srgbClr val="00B0F0"/>
                </a:solidFill>
                <a:latin typeface="Symbol"/>
                <a:cs typeface="Symbol"/>
              </a:rPr>
              <a:t></a:t>
            </a:r>
            <a:r>
              <a:rPr lang="en-IN" sz="2800" i="1" spc="-40" dirty="0" err="1">
                <a:solidFill>
                  <a:srgbClr val="00B0F0"/>
                </a:solidFill>
                <a:latin typeface="Times New Roman"/>
                <a:cs typeface="Times New Roman"/>
              </a:rPr>
              <a:t>V</a:t>
            </a:r>
            <a:r>
              <a:rPr lang="en-IN" sz="2800" i="1" spc="-60" baseline="-25252" dirty="0" err="1">
                <a:solidFill>
                  <a:srgbClr val="00B0F0"/>
                </a:solidFill>
                <a:latin typeface="Times New Roman"/>
                <a:cs typeface="Times New Roman"/>
              </a:rPr>
              <a:t>ds</a:t>
            </a:r>
            <a:endParaRPr lang="en-IN" sz="2800" baseline="-25252" dirty="0">
              <a:solidFill>
                <a:srgbClr val="00B0F0"/>
              </a:solidFill>
              <a:latin typeface="Times New Roman"/>
              <a:cs typeface="Times New Roman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C00000"/>
                </a:solidFill>
                <a:latin typeface="Bookman Old Style" panose="02050604050505020204" pitchFamily="18" charset="0"/>
              </a:rPr>
              <a:t> High drain voltage causes current to increase</a:t>
            </a:r>
            <a:endParaRPr lang="en-IN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="" xmlns:a16="http://schemas.microsoft.com/office/drawing/2014/main" id="{DC6D07A5-EEF7-1EF6-DC5D-39432743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596094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BF97981-FE82-457D-A343-4C18BF3795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As the length of the gate of a MOS transistor is reduced, the electric field at the drain of a transistor in saturation increases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For submicron gate lengths,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field can become so high that electrons are imparted with enough energy to become 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HOT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. </a:t>
            </a:r>
          </a:p>
          <a:p>
            <a:pPr marL="457200" lvl="1" indent="0" algn="just">
              <a:buNone/>
            </a:pPr>
            <a:r>
              <a:rPr lang="en-US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i.e. reaching a critical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high  </a:t>
            </a:r>
            <a:r>
              <a:rPr lang="en-US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level of energy, under intense electric field </a:t>
            </a:r>
            <a:r>
              <a:rPr lang="en-US"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which  </a:t>
            </a:r>
            <a:r>
              <a:rPr lang="en-US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occurs when the channel is short</a:t>
            </a:r>
            <a:r>
              <a:rPr lang="en-US" sz="2000" spc="40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Bookman Old Style" panose="02050604050505020204" pitchFamily="18" charset="0"/>
                <a:cs typeface="Arial"/>
              </a:rPr>
              <a:t>(saturation)</a:t>
            </a:r>
            <a:endParaRPr lang="en-IN" sz="2000" spc="-5" dirty="0">
              <a:solidFill>
                <a:schemeClr val="tx1">
                  <a:lumMod val="95000"/>
                  <a:lumOff val="5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0005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These hot electronics impact the drain, dislodging holes that are then swept towards the negatively charged substrate and appears as a substrate current </a:t>
            </a:r>
          </a:p>
          <a:p>
            <a:pPr marL="857250" lvl="1" indent="-342900" algn="just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This effect is known as Impact Ionization</a:t>
            </a:r>
            <a:r>
              <a:rPr lang="en-IN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endParaRPr lang="en-US" sz="2000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20A6005-C2D2-4489-A7B9-781A0D7702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1962A1A-16E0-4EC6-868A-F3955A34DD8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784C0E8-28A4-4598-9151-8CEF7B1DBD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C1A4970-9021-4AD9-AFF6-E519B045D2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B0FE7E1-33A0-4E63-BFBD-E4B7762F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6" y="1249622"/>
            <a:ext cx="4429125" cy="595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59A6C916-5429-4E17-999E-9D020A96BDB9}"/>
              </a:ext>
            </a:extLst>
          </p:cNvPr>
          <p:cNvSpPr/>
          <p:nvPr/>
        </p:nvSpPr>
        <p:spPr>
          <a:xfrm>
            <a:off x="7010400" y="1316655"/>
            <a:ext cx="322481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Impact Ionization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19D139C4-9F15-E740-794A-87F41696C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53280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BF97981-FE82-457D-A343-4C18BF3795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The electrons can penetrate the gate oxide, causing a gate current 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lead to degradation of the MOS device parameters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Which in turn can lead to the failure of circuits </a:t>
            </a:r>
          </a:p>
          <a:p>
            <a:pPr marL="4000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While the substrate current may be used in a positive manner to estimate the severity of the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Hot Electrons Effect, it can lead to poor refresh times in, </a:t>
            </a:r>
          </a:p>
          <a:p>
            <a:pPr marL="2114550" lvl="4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Dynamic Memories</a:t>
            </a:r>
          </a:p>
          <a:p>
            <a:pPr marL="2114550" lvl="4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Noise in Mixed Signals </a:t>
            </a:r>
          </a:p>
          <a:p>
            <a:pPr marL="2114550" lvl="4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 Possibility latch up </a:t>
            </a:r>
            <a:endParaRPr lang="en-US" sz="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  <a:p>
            <a:pPr marL="5143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Hot Holes do not normally present a problem because of their lower mobility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20A6005-C2D2-4489-A7B9-781A0D77023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ED8818B-AAE7-404A-87D2-F8B97346701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784C0E8-28A4-4598-9151-8CEF7B1DBD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C1A4970-9021-4AD9-AFF6-E519B045D2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B0FE7E1-33A0-4E63-BFBD-E4B7762F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876" y="1249622"/>
            <a:ext cx="4429125" cy="59573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59A6C916-5429-4E17-999E-9D020A96BDB9}"/>
              </a:ext>
            </a:extLst>
          </p:cNvPr>
          <p:cNvSpPr/>
          <p:nvPr/>
        </p:nvSpPr>
        <p:spPr>
          <a:xfrm>
            <a:off x="7010400" y="1316655"/>
            <a:ext cx="3224814" cy="46166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Impact Ionization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EC2AC757-70D9-0FA4-1377-14A7BDD82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1142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16B8E68-22F6-4349-AAA2-A40083157A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08087" y="1914160"/>
            <a:ext cx="8575829" cy="4343400"/>
          </a:xfrm>
        </p:spPr>
        <p:txBody>
          <a:bodyPr>
            <a:normAutofit fontScale="92500" lnSpcReduction="20000"/>
          </a:bodyPr>
          <a:lstStyle/>
          <a:p>
            <a:pPr marL="480695" marR="1031875" indent="-455930" algn="just">
              <a:lnSpc>
                <a:spcPct val="150000"/>
              </a:lnSpc>
              <a:spcBef>
                <a:spcPts val="95"/>
              </a:spcBef>
              <a:buFont typeface="Wingdings" panose="05000000000000000000" pitchFamily="2" charset="2"/>
              <a:buChar char="ü"/>
              <a:tabLst>
                <a:tab pos="480695" algn="l"/>
                <a:tab pos="48133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Modeling can be defined as,</a:t>
            </a:r>
          </a:p>
          <a:p>
            <a:pPr marL="24765" marR="1031875" indent="0" algn="ctr">
              <a:lnSpc>
                <a:spcPct val="150000"/>
              </a:lnSpc>
              <a:spcBef>
                <a:spcPts val="95"/>
              </a:spcBef>
              <a:buNone/>
              <a:tabLst>
                <a:tab pos="480695" algn="l"/>
                <a:tab pos="481330" algn="l"/>
              </a:tabLst>
            </a:pP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“The </a:t>
            </a:r>
            <a:r>
              <a:rPr lang="en-US" sz="2000" b="1" i="1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method </a:t>
            </a: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of </a:t>
            </a:r>
            <a:r>
              <a:rPr lang="en-US" sz="2000" b="1" i="1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finding</a:t>
            </a:r>
            <a:r>
              <a:rPr lang="en-US" sz="2000" b="1" i="1" spc="-17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b="1" i="1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the  parameter </a:t>
            </a: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values </a:t>
            </a:r>
            <a:r>
              <a:rPr lang="en-US" sz="2000" b="1" i="1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for fixed simulator model</a:t>
            </a:r>
            <a:r>
              <a:rPr lang="en-US" sz="2000" b="1" i="1" spc="-7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b="1" i="1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equations”</a:t>
            </a:r>
            <a:endParaRPr lang="en-US" sz="2000" b="1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80695" marR="17780" indent="-455930">
              <a:lnSpc>
                <a:spcPct val="150000"/>
              </a:lnSpc>
              <a:spcBef>
                <a:spcPts val="480"/>
              </a:spcBef>
              <a:buFont typeface="Wingdings" panose="05000000000000000000" pitchFamily="2" charset="2"/>
              <a:buChar char="ü"/>
              <a:tabLst>
                <a:tab pos="480695" algn="l"/>
                <a:tab pos="48133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MOS modeling -Writing a set of equations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that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link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voltages</a:t>
            </a:r>
            <a:r>
              <a:rPr lang="en-US" sz="2000" spc="-22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and  currents</a:t>
            </a:r>
          </a:p>
          <a:p>
            <a:pPr marL="480695" indent="-455930">
              <a:spcBef>
                <a:spcPts val="1680"/>
              </a:spcBef>
              <a:buFont typeface="Wingdings" panose="05000000000000000000" pitchFamily="2" charset="2"/>
              <a:buChar char="ü"/>
              <a:tabLst>
                <a:tab pos="480695" algn="l"/>
                <a:tab pos="481330" algn="l"/>
              </a:tabLst>
            </a:pP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Behavior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of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the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device can be simulated and</a:t>
            </a:r>
            <a:r>
              <a:rPr lang="en-US" sz="2000" spc="-15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predicted</a:t>
            </a:r>
          </a:p>
          <a:p>
            <a:pPr marL="480695" indent="-455930">
              <a:spcBef>
                <a:spcPts val="1680"/>
              </a:spcBef>
              <a:buFont typeface="Wingdings" panose="05000000000000000000" pitchFamily="2" charset="2"/>
              <a:buChar char="ü"/>
              <a:tabLst>
                <a:tab pos="480695" algn="l"/>
                <a:tab pos="481330" algn="l"/>
              </a:tabLst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Basic MOS model</a:t>
            </a:r>
            <a:r>
              <a:rPr lang="en-US" sz="2000" spc="-75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components</a:t>
            </a:r>
          </a:p>
          <a:p>
            <a:pPr marL="939165" lvl="1" indent="-459105">
              <a:spcBef>
                <a:spcPts val="1685"/>
              </a:spcBef>
              <a:buAutoNum type="arabicPeriod"/>
              <a:tabLst>
                <a:tab pos="939165" algn="l"/>
                <a:tab pos="939800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Equations describing </a:t>
            </a:r>
            <a:r>
              <a:rPr lang="en-US" sz="2000" spc="1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I</a:t>
            </a:r>
            <a:r>
              <a:rPr lang="en-US" sz="2000" spc="15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ds </a:t>
            </a:r>
            <a:r>
              <a:rPr lang="en-US"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(</a:t>
            </a:r>
            <a:r>
              <a:rPr lang="en-US" sz="2000" spc="5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lang="en-US" sz="2000" spc="7" baseline="-21367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ds</a:t>
            </a:r>
            <a:r>
              <a:rPr lang="en-US"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)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and </a:t>
            </a:r>
            <a:r>
              <a:rPr lang="en-US" sz="2000" spc="1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I</a:t>
            </a:r>
            <a:r>
              <a:rPr lang="en-US" sz="2000" spc="15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ds</a:t>
            </a:r>
            <a:r>
              <a:rPr lang="en-US" sz="2000" spc="-247" baseline="-21367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(</a:t>
            </a:r>
            <a:r>
              <a:rPr lang="en-US" sz="2000" spc="5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V</a:t>
            </a:r>
            <a:r>
              <a:rPr lang="en-US" sz="2000" spc="7" baseline="-21367" dirty="0" err="1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gs</a:t>
            </a:r>
            <a:r>
              <a:rPr lang="en-US" sz="2000" spc="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)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pPr marL="939800" marR="1054100" lvl="1" indent="-459105">
              <a:lnSpc>
                <a:spcPct val="150000"/>
              </a:lnSpc>
              <a:spcBef>
                <a:spcPts val="480"/>
              </a:spcBef>
              <a:buAutoNum type="arabicPeriod"/>
              <a:tabLst>
                <a:tab pos="939800" algn="l"/>
                <a:tab pos="940435" algn="l"/>
              </a:tabLst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Parameters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that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link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the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technology being used</a:t>
            </a:r>
            <a:r>
              <a:rPr lang="en-US" sz="2000" spc="-190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rgbClr val="002060"/>
                </a:solidFill>
                <a:latin typeface="Bookman Old Style" panose="02050604050505020204" pitchFamily="18" charset="0"/>
                <a:cs typeface="Arial"/>
              </a:rPr>
              <a:t>for  fabrication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  <a:cs typeface="Arial"/>
            </a:endParaRPr>
          </a:p>
          <a:p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298AF9-EDA2-4146-AC10-A1275C4049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A543B0C-C8AA-45FC-821A-4E8CBC0713B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072C38C-0518-4CC6-AC42-FD7A4E53EA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6FC351-BB38-4DE0-AE10-55519CDA4F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333BCF8-D191-4A6D-9D0D-5A6271C56C5E}"/>
              </a:ext>
            </a:extLst>
          </p:cNvPr>
          <p:cNvSpPr/>
          <p:nvPr/>
        </p:nvSpPr>
        <p:spPr>
          <a:xfrm>
            <a:off x="4718298" y="1316655"/>
            <a:ext cx="2755407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MOS Modelling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5D3CCE6-8F77-B185-F843-8EC44868B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53196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A298AF9-EDA2-4146-AC10-A1275C4049A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3E5128C-3434-431A-BFC3-AA65E13351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072C38C-0518-4CC6-AC42-FD7A4E53EA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96FC351-BB38-4DE0-AE10-55519CDA4F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333BCF8-D191-4A6D-9D0D-5A6271C56C5E}"/>
              </a:ext>
            </a:extLst>
          </p:cNvPr>
          <p:cNvSpPr/>
          <p:nvPr/>
        </p:nvSpPr>
        <p:spPr>
          <a:xfrm>
            <a:off x="3124201" y="1219201"/>
            <a:ext cx="5943599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Requirements of Good MOS Model</a:t>
            </a:r>
            <a:endParaRPr lang="en-IN" sz="2400" b="1" spc="-10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34858FA-3498-45C6-8D91-FFBEE5CDA209}"/>
              </a:ext>
            </a:extLst>
          </p:cNvPr>
          <p:cNvSpPr/>
          <p:nvPr/>
        </p:nvSpPr>
        <p:spPr>
          <a:xfrm>
            <a:off x="1981200" y="1828800"/>
            <a:ext cx="79248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67995" indent="-455930" algn="just">
              <a:spcBef>
                <a:spcPts val="100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Good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I-V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characteristic</a:t>
            </a:r>
            <a:r>
              <a:rPr lang="en-US" sz="2000" spc="-2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accuracy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67995" indent="-455930" algn="just">
              <a:spcBef>
                <a:spcPts val="2014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Meet charge conservation</a:t>
            </a:r>
            <a:r>
              <a:rPr lang="en-US" sz="2000" spc="1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requirement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67995" indent="-455930" algn="just">
              <a:spcBef>
                <a:spcPts val="2014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Correct values of small-signal</a:t>
            </a:r>
            <a:r>
              <a:rPr lang="en-US" sz="2000" spc="4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quantities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67995" indent="-455930" algn="just">
              <a:spcBef>
                <a:spcPts val="2014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Good prediction for white and 1/f</a:t>
            </a:r>
            <a:r>
              <a:rPr lang="en-US" sz="2000" spc="2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1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noise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67995" marR="5080" indent="-455930" algn="just">
              <a:lnSpc>
                <a:spcPct val="150000"/>
              </a:lnSpc>
              <a:spcBef>
                <a:spcPts val="575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Ability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to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provide results even when device operation  is quasi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static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  <a:p>
            <a:pPr marL="467995" marR="410845" indent="-455930" algn="just">
              <a:lnSpc>
                <a:spcPct val="150000"/>
              </a:lnSpc>
              <a:spcBef>
                <a:spcPts val="580"/>
              </a:spcBef>
              <a:buFont typeface="Wingdings"/>
              <a:buChar char=""/>
              <a:tabLst>
                <a:tab pos="467995" algn="l"/>
                <a:tab pos="468630" algn="l"/>
              </a:tabLst>
            </a:pP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Ability </a:t>
            </a:r>
            <a:r>
              <a:rPr lang="en-US" sz="20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to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include all physical mechanisms for sub-  micron</a:t>
            </a:r>
            <a:r>
              <a:rPr lang="en-US" sz="2000" spc="-1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 </a:t>
            </a:r>
            <a:r>
              <a:rPr lang="en-US" sz="2000" spc="-5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  <a:cs typeface="Arial"/>
              </a:rPr>
              <a:t>devices</a:t>
            </a:r>
            <a:endParaRPr lang="en-US" sz="20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D3615E94-896D-38BF-DF67-21A932F1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5140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1A880AE-89E1-4E18-B7F4-100E384C540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BF193FD-C425-4C5D-82F1-349353F8E2D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9E98810-A8BE-4D08-99A4-13EFC495D9B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EF5EA81-3E64-435E-A8F6-407BB3FD74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56DE2A63-D459-46F5-801E-47D41C3EF8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52601" y="1219201"/>
            <a:ext cx="8686799" cy="5029200"/>
          </a:xfrm>
          <a:prstGeom prst="rect">
            <a:avLst/>
          </a:prstGeom>
          <a:ln w="28575" cap="sq">
            <a:solidFill>
              <a:schemeClr val="tx1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DDAAF114-E579-5CFA-16BA-79C2A53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00071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E2915E3-6FD7-4217-AFC5-DE9D05120E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F8D4648-0D01-4253-9B49-7F53FA67C20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7514FBC-CA88-4DCD-A4D6-E2AEAE623C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E5B6466-DF12-4A3A-9CFA-38207EAAB5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E6D6CCC-478C-4588-B623-37207C85E5E2}"/>
              </a:ext>
            </a:extLst>
          </p:cNvPr>
          <p:cNvSpPr/>
          <p:nvPr/>
        </p:nvSpPr>
        <p:spPr>
          <a:xfrm>
            <a:off x="4610100" y="1219201"/>
            <a:ext cx="2971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FF0000"/>
                </a:solidFill>
                <a:latin typeface="Bookman Old Style" panose="02050604050505020204" pitchFamily="18" charset="0"/>
                <a:cs typeface="Arial"/>
              </a:rPr>
              <a:t>MOS Parameters</a:t>
            </a:r>
            <a:endParaRPr lang="en-IN" sz="2400" b="1" spc="-10" dirty="0">
              <a:solidFill>
                <a:srgbClr val="FF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3" name="object 2">
            <a:extLst>
              <a:ext uri="{FF2B5EF4-FFF2-40B4-BE49-F238E27FC236}">
                <a16:creationId xmlns="" xmlns:a16="http://schemas.microsoft.com/office/drawing/2014/main" id="{9CCE92C9-6BA8-4417-92BC-17C84E242B50}"/>
              </a:ext>
            </a:extLst>
          </p:cNvPr>
          <p:cNvSpPr/>
          <p:nvPr/>
        </p:nvSpPr>
        <p:spPr>
          <a:xfrm>
            <a:off x="2686050" y="1828801"/>
            <a:ext cx="6819900" cy="44957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40E91A6-D941-024A-9C69-DB4D0DE0E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227560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E2915E3-6FD7-4217-AFC5-DE9D05120E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8B0372A-AADD-46AA-8336-C972C567357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7514FBC-CA88-4DCD-A4D6-E2AEAE623C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E5B6466-DF12-4A3A-9CFA-38207EAAB5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E6D6CCC-478C-4588-B623-37207C85E5E2}"/>
              </a:ext>
            </a:extLst>
          </p:cNvPr>
          <p:cNvSpPr/>
          <p:nvPr/>
        </p:nvSpPr>
        <p:spPr>
          <a:xfrm>
            <a:off x="3276600" y="1219201"/>
            <a:ext cx="5638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Small Signal AC Characteristics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060F2080-1D5D-4498-9954-28744FA6A5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MOS transistor can be represented by the simplified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sb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=0)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small signal equivalent model as shown below, 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C0DAF13F-4502-4972-82C8-578E0D92AE6D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0800" y="2667000"/>
            <a:ext cx="6781800" cy="3429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440CF91C-9BA5-EF46-0EE1-DBDD4A8A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870753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403C54C-268B-4CFB-B926-0E8ED7B6503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MOS transistor is modeled as a voltage – controlled current source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(g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m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output conductance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interelectrode capacitance.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output conductance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the linear region can be obtained by differentiating, 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With respect to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results in an output drain,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				*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,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must be small compared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				to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for the MOS device to be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				in a linear region 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1E72DBB-FC42-4F5E-A526-6D28D385143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72ACC4E-37D4-4319-A168-DA3520E1073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D5FA93-32E6-43CD-94C4-C8C7939209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F8F5824-884B-44C9-8FE9-AD07824AFD3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57A6B78-BEEB-431D-A53B-720C56C13D28}"/>
              </a:ext>
            </a:extLst>
          </p:cNvPr>
          <p:cNvSpPr/>
          <p:nvPr/>
        </p:nvSpPr>
        <p:spPr>
          <a:xfrm>
            <a:off x="3276600" y="1219201"/>
            <a:ext cx="5638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Small Signal AC Characteristics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3CB05D8-0DC3-4B96-ACF6-4C715C8507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21079" y="3657601"/>
            <a:ext cx="3879542" cy="7245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63BACEE-8536-40D8-9FC9-84246F01B0A9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81200" y="4961774"/>
            <a:ext cx="3879542" cy="128662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201D05F-7964-5DA5-C5B7-72D8235E7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55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A7A3ABA6-2D4D-4E65-9F46-E238BDB208A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resistance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R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is approximated by,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R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it is controlled by the gate to source voltage</a:t>
            </a:r>
          </a:p>
          <a:p>
            <a:pPr lvl="1"/>
            <a:r>
              <a:rPr lang="en-US" sz="1800" dirty="0">
                <a:solidFill>
                  <a:srgbClr val="C00000"/>
                </a:solidFill>
                <a:latin typeface="Bookman Old Style" panose="02050604050505020204" pitchFamily="18" charset="0"/>
              </a:rPr>
              <a:t>it valid for gate to source voltage that maintain constant mobility in the channel </a:t>
            </a:r>
          </a:p>
          <a:p>
            <a:pPr marL="4000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saturation,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[</a:t>
            </a:r>
            <a:r>
              <a:rPr lang="en-US" sz="2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≥ (</a:t>
            </a:r>
            <a:r>
              <a:rPr lang="en-US" sz="2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– V</a:t>
            </a:r>
            <a:r>
              <a:rPr lang="en-US" sz="2000" baseline="-25000" dirty="0">
                <a:solidFill>
                  <a:srgbClr val="C0000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)],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MOS device behaves like a current source, the current being almost independent of </a:t>
            </a:r>
            <a:r>
              <a:rPr lang="en-US" sz="2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C0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,</a:t>
            </a:r>
            <a:r>
              <a:rPr lang="en-US" sz="2000" baseline="-25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is verified by, </a:t>
            </a:r>
          </a:p>
          <a:p>
            <a:pPr marL="57150" indent="0" algn="just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B24B1C7-F281-456C-A4D9-4D033270B6E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6CE156C-C068-4160-A664-EB22C40E0F7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3F0A460-CD9F-4F2E-BBD0-A1CD537554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2BE0EC-C47C-4E90-B440-EE54C799E76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E2E3B0DA-279D-4436-940F-802C26F955DC}"/>
              </a:ext>
            </a:extLst>
          </p:cNvPr>
          <p:cNvSpPr/>
          <p:nvPr/>
        </p:nvSpPr>
        <p:spPr>
          <a:xfrm>
            <a:off x="3276600" y="1219201"/>
            <a:ext cx="5638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Small Signal AC Characteristics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4AF811C4-1198-4C1E-B148-40F48A102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9601" y="2514600"/>
            <a:ext cx="2603003" cy="7099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7D8A0C49-F820-4909-915C-9BB542D858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01236" y="5105400"/>
            <a:ext cx="3048000" cy="106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609AB8FC-D03E-4F83-B4B6-0212A6AC0E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83618" y="5649527"/>
            <a:ext cx="3155783" cy="4572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E131792C-3B75-D17B-E9D6-478D13580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2802782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D874CA4-D8EB-4510-B3D5-5F608822C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Due to some channel shortening the drain current characteristics have some slope, This slope defines the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of the transistor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output conductance can be decreased by lengthening the channel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(L)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transconductance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m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express the relationship between output current,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and the input voltage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,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It is used to measure the gain of the MOS device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B94D57B7-9D44-4705-9337-4667802A5B0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C32B8591-16FC-498D-A2CA-11F5B327D21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3621A9C-1FEF-4A67-B6F2-02F5C486DE0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F6D0F1F-D987-4ECD-8562-E381BC89626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D19CB59-211A-40F5-ACB5-0B908D763920}"/>
              </a:ext>
            </a:extLst>
          </p:cNvPr>
          <p:cNvSpPr/>
          <p:nvPr/>
        </p:nvSpPr>
        <p:spPr>
          <a:xfrm>
            <a:off x="3276600" y="1219201"/>
            <a:ext cx="5638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Small Signal AC Characteristics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5EE6569-7615-402C-BF99-AB095F05D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090" y="4543426"/>
            <a:ext cx="5285820" cy="1095375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2270F742-40EB-98F2-07F4-0D6053703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425279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A7AD237-7907-4F8B-BE36-4B15F570F9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the linear region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m 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given by,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the Saturation region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m 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given by,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Transconductance must have a positive value, the absolute value is used for voltages applied to p-type devices. 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0740A20-9100-4FBC-B00D-A294DA99E9F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AC37961-C0D4-4B7D-A98B-7E2F68F0362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BAFEF9-F3B8-4B00-A397-9C31E4FAD62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D8FDD9E-C753-46F3-87CA-7425322A05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391A2141-972F-4F7F-9CBB-A9AF864507EA}"/>
              </a:ext>
            </a:extLst>
          </p:cNvPr>
          <p:cNvSpPr/>
          <p:nvPr/>
        </p:nvSpPr>
        <p:spPr>
          <a:xfrm>
            <a:off x="3276600" y="1219201"/>
            <a:ext cx="5638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>
              <a:spcBef>
                <a:spcPts val="575"/>
              </a:spcBef>
              <a:tabLst>
                <a:tab pos="869315" algn="l"/>
              </a:tabLst>
            </a:pP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Small Signal AC Characteristics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DD1FB652-5BE2-458D-BFAF-CD9D630EC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0" y="2590800"/>
            <a:ext cx="2628900" cy="75879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8DD1C0A-76E4-444B-873E-28667CE35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832" y="4026888"/>
            <a:ext cx="3400425" cy="81021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A694551A-5690-3127-7691-6194BF0F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4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  <a:endParaRPr lang="en-US" sz="24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0231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DB28B83-8C18-48EA-A47B-B734924F81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05000" y="3204509"/>
            <a:ext cx="8686800" cy="323032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Each terminal of an MOS transistor has capacitance to the other terminals.</a:t>
            </a:r>
          </a:p>
          <a:p>
            <a:pPr lvl="1" algn="just"/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these capacitances are nonlinear and voltage dependent (C-V)</a:t>
            </a:r>
          </a:p>
          <a:p>
            <a:pPr marL="400050"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They can be approximated as 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simple capacitors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</a:p>
          <a:p>
            <a:pPr marL="857250" lvl="1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when their behavior is averaged across the switching voltages of a logic gate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857250" lvl="1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simple models of each capacitance suitable for estimating delay and power consumption of transistors</a:t>
            </a:r>
          </a:p>
          <a:p>
            <a:pPr marL="857250" lvl="1" indent="-342900"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used for circuit simulation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5AABE0C-D671-4386-A160-A0DBE5ABFE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DF0366A-D4F5-4FA2-B651-AD12479E2B0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8BE6497-2F46-491C-B50F-098D88541FA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4876321-6148-4237-A592-176EAAAA512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50044974-2EA7-4CCD-8323-BFA7FDCC1A52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B9525108-E781-4984-A293-248392A2E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5001" y="1871695"/>
            <a:ext cx="2600325" cy="11419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B694E8D-AD8A-C738-1751-78290407E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79900312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DB9663BF-29B9-478F-A9A8-34E86018E8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9132"/>
            <a:ext cx="8686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of an MOS transistor is a good capacitor.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Its capacitance is necessary to </a:t>
            </a: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attract charge to invert the channel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so high gate capacitance is required to obtain high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I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capacitor can be viewed as a parallel plate capacitor with the gate on top and channel on bottom with the thin oxide dielectric between.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capacitance is,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031357CD-2166-4641-8D50-EF267973A5C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8A57CA-8097-472F-9E3B-6B3FAB5569A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260EEE9-E458-47F2-A6D1-9CF8CBAB8E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2D50D3-0CAC-4927-B884-57EE98A1749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17C5761-C58A-446E-B14A-94C32D3C99BF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B9274D13-66F9-42A7-A5E0-2D19440A0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0" y="3962400"/>
            <a:ext cx="3581400" cy="23444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3B4D7A09-0E67-4AFE-89B6-EFBEF4A339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26673" y="4835712"/>
            <a:ext cx="2514600" cy="80308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D7EE368-742C-22AC-8EC1-6B4652F4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98481052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EE78FC7B-236F-4F15-85E1-EB99AC21D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bottom plate of the capacitor is the channel, which is not one of the transistor’s terminals.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When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transistor is on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the channel extends from the source (and reaches the drain if the transistor is unsaturated, or stops short in saturation). </a:t>
            </a:r>
          </a:p>
          <a:p>
            <a:pPr lvl="1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capacitance as terminating at the source and call the capacitance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Transistors used in logic are of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minimum manufacturable length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results in, </a:t>
            </a:r>
          </a:p>
          <a:p>
            <a:pPr lvl="4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greatest speed and</a:t>
            </a:r>
          </a:p>
          <a:p>
            <a:pPr lvl="4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lowest dynamic power consumption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7E37234-81AB-4651-AAB7-B28705473D5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B354E5B-FD29-45FA-BA9C-57275481478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1108E7D-A374-4DC9-99EC-98084A7C27B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72BEB54-A967-433A-9308-44BE939F89D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3B453AA-98D8-4BF5-B8D8-237A4617C07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9651086C-E1CA-E123-C3FA-E22B458D0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5030914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62FA8642-6E7E-4B3F-917A-9329D70285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2600"/>
            <a:ext cx="8686800" cy="4572000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Taking this minimum </a:t>
            </a: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L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as a constant for a particular process, we define, </a:t>
            </a:r>
          </a:p>
          <a:p>
            <a:pPr marL="0" indent="0" algn="just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	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	where, </a:t>
            </a: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If a more advanced manufacturing process is developed, in which both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channel length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oxide thickness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are reduced by the same factor, </a:t>
            </a:r>
            <a:r>
              <a:rPr lang="en-US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permicron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remains unchanged</a:t>
            </a:r>
          </a:p>
          <a:p>
            <a:pPr algn="just"/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189733F-5C52-4F14-A8AD-1D83442A57B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60FAAE8-1C2E-4A48-A089-543959BCFB5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73E2AEC-1ADF-43DC-9A83-0445B8DC493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EFDD892-7E94-47D1-BD9A-A8C1A3AB120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9517BAB1-129B-4F28-A45F-6E6AD62804A9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8BC9220-B44E-4DDA-90A8-2BFCF8A8C5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1" y="2623484"/>
            <a:ext cx="2761695" cy="65311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61FD6349-D964-4580-B48C-9F9F46138E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419600" y="4050388"/>
            <a:ext cx="3886200" cy="75021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5557B09D-A4F5-1D64-2CA0-952CB4392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30089102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AB497A1-6DEC-4E78-9AC8-4F8EA66C3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5433"/>
            <a:ext cx="8686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Addition to the gate, the source and drain also have capacitances. </a:t>
            </a:r>
          </a:p>
          <a:p>
            <a:pPr marL="0" indent="0" algn="just">
              <a:buNone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These capacitances are not fundamental to operation of the devices, but do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impact circuit performance </a:t>
            </a: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and are called </a:t>
            </a:r>
            <a:r>
              <a:rPr lang="en-US" sz="20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Parasitic Capacitors</a:t>
            </a:r>
          </a:p>
          <a:p>
            <a:pPr marL="457200" lvl="1" indent="0" algn="just">
              <a:buNone/>
            </a:pPr>
            <a:endParaRPr lang="en-US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Bookman Old Style" panose="02050604050505020204" pitchFamily="18" charset="0"/>
              </a:rPr>
              <a:t>The source and drain capacitances arise from the p–n junctions between the source or drain diffusion and the body and are called </a:t>
            </a:r>
            <a:r>
              <a:rPr lang="fr-FR" sz="20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Diffusion Capacitance,  </a:t>
            </a:r>
            <a:r>
              <a:rPr lang="fr-FR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fr-FR" sz="20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sb</a:t>
            </a:r>
            <a:r>
              <a:rPr lang="fr-FR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and </a:t>
            </a:r>
            <a:r>
              <a:rPr lang="fr-FR" sz="20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fr-FR" sz="20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db</a:t>
            </a:r>
            <a:r>
              <a:rPr lang="fr-FR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fr-FR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.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EA154-4F4F-49E7-BE3F-10D1C181F8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D0A5880-3782-4895-AB5D-0C8A0236D98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B4127A-63DD-45B7-98BF-2F59F37159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2189C-E3A6-410D-A5E6-659CF6A8AE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35A9B7-4B29-4DAE-9A06-EF3DD4649CA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0ED13E58-393F-8963-24C6-C9F08602D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8028686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AB497A1-6DEC-4E78-9AC8-4F8EA66C3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5433"/>
            <a:ext cx="8686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A depletion region with no free carriers forms along the junction. 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depletion region </a:t>
            </a: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acts as an insulator 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between the conducting p- and n-type regions, creating capacitance across the junction.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capacitance of these junctions depends on, 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area 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perimeter of the source and drain diffusion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depth of the diffusion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doping levels</a:t>
            </a:r>
          </a:p>
          <a:p>
            <a:pPr lvl="2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and the voltage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 As </a:t>
            </a:r>
            <a:r>
              <a:rPr lang="en-US" sz="19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diffusion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 has both </a:t>
            </a: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high capacitance and high resistance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, it is generally made as small as possible in the layout.</a:t>
            </a:r>
            <a:endParaRPr lang="en-IN" sz="19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b="1" dirty="0">
              <a:solidFill>
                <a:srgbClr val="B70CC4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EA154-4F4F-49E7-BE3F-10D1C181F8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3D379131-7D11-4549-B6F5-C923563FFF5F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B4127A-63DD-45B7-98BF-2F59F37159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2189C-E3A6-410D-A5E6-659CF6A8AE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35A9B7-4B29-4DAE-9A06-EF3DD4649CA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3484E2D2-EDDB-8009-302E-FF4BE8021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92810898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AB497A1-6DEC-4E78-9AC8-4F8EA66C3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5433"/>
            <a:ext cx="8686800" cy="434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Three types of diffusion 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regions are frequently seen, illustrated by the two series transistors, </a:t>
            </a:r>
            <a:endParaRPr lang="en-IN" sz="19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457200" lvl="1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(a) Isolated Diffusion</a:t>
            </a:r>
          </a:p>
          <a:p>
            <a:pPr marL="457200" lvl="1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(b) Shared Diffusion</a:t>
            </a:r>
          </a:p>
          <a:p>
            <a:pPr marL="457200" lvl="1" indent="0">
              <a:buNone/>
            </a:pPr>
            <a:r>
              <a:rPr lang="en-IN" sz="2000" dirty="0">
                <a:solidFill>
                  <a:srgbClr val="FF0000"/>
                </a:solidFill>
              </a:rPr>
              <a:t>(c) Merged Diffusion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EA154-4F4F-49E7-BE3F-10D1C181F8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DBA8B29-8E1D-48F6-BB3A-4269F1344C21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B4127A-63DD-45B7-98BF-2F59F37159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2189C-E3A6-410D-A5E6-659CF6A8AE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35A9B7-4B29-4DAE-9A06-EF3DD4649CA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626FA5-D76A-4322-8B40-C9387419B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895601"/>
            <a:ext cx="5791200" cy="34978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D02B276F-2C67-4CD7-86A5-5229E2329F88}"/>
              </a:ext>
            </a:extLst>
          </p:cNvPr>
          <p:cNvSpPr/>
          <p:nvPr/>
        </p:nvSpPr>
        <p:spPr>
          <a:xfrm rot="20473250">
            <a:off x="2152835" y="4800601"/>
            <a:ext cx="2209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accent6">
                    <a:lumMod val="75000"/>
                  </a:schemeClr>
                </a:solidFill>
                <a:latin typeface="Bookman Old Style" panose="02050604050505020204" pitchFamily="18" charset="0"/>
              </a:rPr>
              <a:t>Diffusion Region Geometries</a:t>
            </a: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D6133A82-A949-1712-498E-D299D83A5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95466801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AB497A1-6DEC-4E78-9AC8-4F8EA66C3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5434"/>
            <a:ext cx="6019800" cy="4264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2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EA154-4F4F-49E7-BE3F-10D1C181F8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A9F93DAC-5E88-4704-B0D2-C4ECA6B5B01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B4127A-63DD-45B7-98BF-2F59F37159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2189C-E3A6-410D-A5E6-659CF6A8AE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35A9B7-4B29-4DAE-9A06-EF3DD4649CA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1933C77A-1388-4144-B07D-7D34EA22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437" y="2291932"/>
            <a:ext cx="5791200" cy="403266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3D529C19-CFB0-4C1E-8B7E-3B8524044F5D}"/>
              </a:ext>
            </a:extLst>
          </p:cNvPr>
          <p:cNvSpPr/>
          <p:nvPr/>
        </p:nvSpPr>
        <p:spPr>
          <a:xfrm>
            <a:off x="3466730" y="2234982"/>
            <a:ext cx="70488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Each source and drain has its own </a:t>
            </a:r>
            <a:r>
              <a:rPr lang="en-US" sz="16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isolated</a:t>
            </a:r>
            <a:r>
              <a:rPr lang="en-US" sz="16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 of contacted diffusion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D1D7F689-6C5C-4C98-98DA-23CD5E4B50A9}"/>
              </a:ext>
            </a:extLst>
          </p:cNvPr>
          <p:cNvSpPr/>
          <p:nvPr/>
        </p:nvSpPr>
        <p:spPr>
          <a:xfrm>
            <a:off x="5085425" y="2661480"/>
            <a:ext cx="53340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2"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drain of the bottom transistor and source of the top transistor form a shared 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contacted </a:t>
            </a:r>
            <a:r>
              <a:rPr lang="en-IN" sz="16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diffusion</a:t>
            </a:r>
            <a:r>
              <a:rPr lang="en-IN" sz="16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</a:t>
            </a:r>
            <a:r>
              <a:rPr lang="en-IN" dirty="0">
                <a:solidFill>
                  <a:srgbClr val="231F20"/>
                </a:solidFill>
                <a:latin typeface="ACaslon-Regular"/>
              </a:rPr>
              <a:t>.</a:t>
            </a:r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FB9910AC-6EF8-453F-A456-F52CD5CF52E8}"/>
              </a:ext>
            </a:extLst>
          </p:cNvPr>
          <p:cNvSpPr/>
          <p:nvPr/>
        </p:nvSpPr>
        <p:spPr>
          <a:xfrm>
            <a:off x="6991166" y="3428233"/>
            <a:ext cx="352443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3"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The source and drain are </a:t>
            </a:r>
            <a:r>
              <a:rPr lang="en-US" sz="16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merged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 into an 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uncontacted region.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26275475-9ADF-4778-871C-2345E43B2225}"/>
              </a:ext>
            </a:extLst>
          </p:cNvPr>
          <p:cNvSpPr/>
          <p:nvPr/>
        </p:nvSpPr>
        <p:spPr>
          <a:xfrm>
            <a:off x="7639605" y="4422073"/>
            <a:ext cx="274320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average capacitance of each of these types of regions can be calculated or measured from simulation as a transistor switches between </a:t>
            </a:r>
            <a:r>
              <a:rPr lang="en-US" sz="1600" b="1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VDD</a:t>
            </a:r>
            <a:r>
              <a:rPr lang="en-US" sz="1600" i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and </a:t>
            </a:r>
            <a:r>
              <a:rPr lang="en-US" sz="16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GND.</a:t>
            </a:r>
            <a:endParaRPr lang="en-IN" sz="1600" b="1" dirty="0">
              <a:solidFill>
                <a:schemeClr val="accent3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B2582C50-669A-0270-C3C5-AC7AB9A8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99845597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7AB497A1-6DEC-4E78-9AC8-4F8EA66C3E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5434"/>
            <a:ext cx="8610600" cy="4382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Simple MOS Capacitance Models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Manual Estimation,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can observe that the diffusion capacitance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sb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and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db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of contacted source and drain regions is comparable to the gate capacitance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Example: 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1–2 </a:t>
            </a:r>
            <a:r>
              <a:rPr lang="en-US" sz="20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fF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/µm of gate width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diffusion capacitance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of the uncontacted source or drain is somewhat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less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because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area is smaller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but the difference is usually unimportant </a:t>
            </a:r>
          </a:p>
          <a:p>
            <a:pPr marL="914400" lvl="2" indent="0">
              <a:buNone/>
            </a:pPr>
            <a:endParaRPr lang="en-US" sz="12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914400" lvl="2" indent="0" algn="ctr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Values of C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sb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db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 ≈ 1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fF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/µm will be used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B2EA154-4F4F-49E7-BE3F-10D1C181F83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B8D99CE-CB4B-44C3-A0E1-2E81671746E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5B4127A-63DD-45B7-98BF-2F59F37159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B42189C-E3A6-410D-A5E6-659CF6A8AE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F135A9B7-4B29-4DAE-9A06-EF3DD4649CA4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D55C305D-4AE0-F1EE-E780-22C62D77B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539918014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DC1D25A-78CC-40B6-8DBF-88B4C0E8D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MOS gate sits above the channel and may partially overlap the source and drain diffusion areas.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</a:rPr>
              <a:t>The gate capacitance has two components: 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intrinsic capacitance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gc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(over the channel) 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overlap capacitances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gol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(to the source and drain)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intrinsic capacitance was approximated as a simple parallel plate in, 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				with capacitance,  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IN" sz="24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</a:t>
            </a:r>
            <a:r>
              <a:rPr lang="en-IN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 = </a:t>
            </a:r>
            <a:r>
              <a:rPr lang="en-IN" sz="2400" b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WLC</a:t>
            </a:r>
            <a:r>
              <a:rPr lang="en-IN" sz="2400" b="1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ox</a:t>
            </a:r>
            <a:endParaRPr lang="en-IN" sz="1800" b="1" baseline="-250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bottom plate of the capacitor depends on the mode of operation of the transistor</a:t>
            </a:r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5277E6A-340B-4365-98F3-EF23C8EB3C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55A21AF-E20C-4E8D-B9D1-C1580594AE4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EDA6B1E-98C5-4D3B-A474-9818B4BF35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A0B39D4-DD87-439A-A7D9-10B1644539A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2C7E087-F328-46A4-A6E7-E26C0E6BFDED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95F51EE0-0927-437F-B9DF-19247BFD1A0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0400" y="4343401"/>
            <a:ext cx="2059989" cy="49939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120341D-19A7-F6F8-6DBC-E2422528F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14750401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3DC1D25A-78CC-40B6-8DBF-88B4C0E8D3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1524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intrinsic capacitance has three components representing the different terminals connected to the bottom plate, </a:t>
            </a:r>
          </a:p>
          <a:p>
            <a:pPr marL="457200" lvl="1" indent="0" algn="ctr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#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gb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(gate-to-body)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#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C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(gate-to-source) </a:t>
            </a:r>
            <a:r>
              <a:rPr lang="en-US" sz="2000" dirty="0">
                <a:solidFill>
                  <a:srgbClr val="00B0F0"/>
                </a:solidFill>
                <a:latin typeface="Bookman Old Style" panose="02050604050505020204" pitchFamily="18" charset="0"/>
              </a:rPr>
              <a:t>#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gd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(gate-to-drain)</a:t>
            </a: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5277E6A-340B-4365-98F3-EF23C8EB3C8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DE65F7A-7738-43BF-8D75-00C3657427C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EDA6B1E-98C5-4D3B-A474-9818B4BF35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A0B39D4-DD87-439A-A7D9-10B1644539A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2C7E087-F328-46A4-A6E7-E26C0E6BFDED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8BBED659-4CB0-4CB1-994D-ED2701085EF6}"/>
              </a:ext>
            </a:extLst>
          </p:cNvPr>
          <p:cNvSpPr/>
          <p:nvPr/>
        </p:nvSpPr>
        <p:spPr>
          <a:xfrm>
            <a:off x="6324601" y="5638800"/>
            <a:ext cx="40263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2"/>
            </a:pP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Capacitance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vs. </a:t>
            </a:r>
            <a:r>
              <a:rPr lang="en-US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in the linear and saturation </a:t>
            </a:r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E7CA935-12FA-495A-82B6-7ADB31B1C716}"/>
              </a:ext>
            </a:extLst>
          </p:cNvPr>
          <p:cNvSpPr/>
          <p:nvPr/>
        </p:nvSpPr>
        <p:spPr>
          <a:xfrm>
            <a:off x="1725228" y="5638801"/>
            <a:ext cx="43707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Capacitance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vs. </a:t>
            </a:r>
            <a:r>
              <a:rPr lang="en-US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in the cutoff  region and for small </a:t>
            </a:r>
            <a:r>
              <a:rPr lang="en-US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1434ED10-98E8-498A-8BBA-2A5410687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006" y="3285441"/>
            <a:ext cx="3111995" cy="22955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27E47A1B-0B24-4D01-BDA1-1096C04AAB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1" y="3421149"/>
            <a:ext cx="2807195" cy="21907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598BC94D-FB55-431B-8CEE-475CCBB0208A}"/>
              </a:ext>
            </a:extLst>
          </p:cNvPr>
          <p:cNvSpPr/>
          <p:nvPr/>
        </p:nvSpPr>
        <p:spPr>
          <a:xfrm>
            <a:off x="4953001" y="3771483"/>
            <a:ext cx="25023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0070C0"/>
                </a:solidFill>
                <a:latin typeface="Bookman Old Style" panose="02050604050505020204" pitchFamily="18" charset="0"/>
                <a:cs typeface="Times New Roman" pitchFamily="18" charset="0"/>
              </a:rPr>
              <a:t>Intrinsic Gate Capacitance : </a:t>
            </a:r>
          </a:p>
          <a:p>
            <a:pPr algn="just"/>
            <a:r>
              <a:rPr lang="en-IN" sz="16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C</a:t>
            </a:r>
            <a:r>
              <a:rPr lang="en-IN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gc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 = C</a:t>
            </a:r>
            <a:r>
              <a:rPr lang="en-IN" sz="2000" baseline="-25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gs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 + </a:t>
            </a:r>
            <a:r>
              <a:rPr lang="en-IN" sz="16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C</a:t>
            </a:r>
            <a:r>
              <a:rPr lang="en-IN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gd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 + </a:t>
            </a:r>
            <a:r>
              <a:rPr lang="en-IN" sz="16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C</a:t>
            </a:r>
            <a:r>
              <a:rPr lang="en-IN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gb</a:t>
            </a:r>
            <a:r>
              <a:rPr lang="en-IN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 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as a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function of </a:t>
            </a:r>
          </a:p>
          <a:p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(a) 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Vgs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 and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(b) 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Vds</a:t>
            </a:r>
            <a:endParaRPr lang="en-IN" sz="1600" dirty="0">
              <a:solidFill>
                <a:srgbClr val="002060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="" xmlns:a16="http://schemas.microsoft.com/office/drawing/2014/main" id="{070D337F-C7CE-9079-2D9A-EA9E445E9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42554342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F44C40E8-4F31-46B4-BAD3-86734149F15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E04930E-DAB6-4960-9DE1-454A90B1D38E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821058A-A246-46FB-B1D0-ECB24AF9D6B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42783F8-AA71-4311-8AB7-B7FD07B8BB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8466D194-F29F-4CF7-99A2-8EEC5F16ACD1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8EF7CE49-E3F4-4647-9D89-49DB841CB5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2600"/>
            <a:ext cx="5791200" cy="4648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Cutoff Region 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When the transistor is OFF (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&lt; V</a:t>
            </a:r>
            <a:r>
              <a:rPr lang="en-US" sz="20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), 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is not inverted and charge on the gate is matched with opposite charge from the body. This is called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gb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,                         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gate-to-body capacitance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For negative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20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,</a:t>
            </a:r>
            <a:r>
              <a:rPr lang="en-US" sz="24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transistor is in accumulation and                   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gb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C</a:t>
            </a:r>
            <a:r>
              <a:rPr lang="en-US" sz="18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As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 increases but remains below a threshold, a 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depletion region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forms at the surface. 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effectively moves the bottom plate downward from the oxide, reducing the capacitance, as shown in the plot. </a:t>
            </a: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80AA3BB5-6E23-480A-B6D7-660B373AF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987885"/>
            <a:ext cx="2384394" cy="229552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D2431B2-D3DF-4F62-9829-F6B36BFFD974}"/>
              </a:ext>
            </a:extLst>
          </p:cNvPr>
          <p:cNvSpPr/>
          <p:nvPr/>
        </p:nvSpPr>
        <p:spPr>
          <a:xfrm>
            <a:off x="7924800" y="4590429"/>
            <a:ext cx="2514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/>
            </a:pP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Capacitance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vs. </a:t>
            </a:r>
            <a:r>
              <a:rPr lang="en-US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gs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in the cutoff  region and for small </a:t>
            </a:r>
            <a:r>
              <a:rPr lang="en-US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286265FF-7985-BD76-82D7-1D3D9215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98030457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0605941-7842-41C9-8C8C-CB530FDACA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DF0AB77-56E7-4292-A15F-C2E1DD45F0E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DBA6CA-A301-4789-90D5-715A414F28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6AC9D7C-7ECE-4516-8745-4C27007518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D44AB02-B03D-41A5-866B-1B59FC961569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05F0460A-6547-425C-A8A4-25CDBC7F05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2600"/>
            <a:ext cx="6019800" cy="4495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32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Linear</a:t>
            </a:r>
            <a:r>
              <a:rPr lang="en-US" sz="32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 Region :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When </a:t>
            </a:r>
            <a:r>
              <a:rPr lang="en-US" sz="3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33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 &gt; V</a:t>
            </a:r>
            <a:r>
              <a:rPr lang="en-US" sz="33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/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inverts and again serves as a good conductive bottom plate.</a:t>
            </a:r>
          </a:p>
          <a:p>
            <a:pPr lvl="1" algn="just"/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is connected to the source and drain, rather than the body, so </a:t>
            </a:r>
            <a:r>
              <a:rPr lang="en-US" sz="3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33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gb</a:t>
            </a:r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 drops                   to 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0</a:t>
            </a:r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At low values of </a:t>
            </a:r>
            <a:r>
              <a:rPr lang="en-US" sz="3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33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/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channel charge is roughly shared between source and drain, so                                       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33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</a:t>
            </a:r>
            <a:r>
              <a:rPr lang="en-US" sz="3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33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gd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C</a:t>
            </a:r>
            <a:r>
              <a:rPr lang="en-US" sz="33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/2 </a:t>
            </a:r>
          </a:p>
          <a:p>
            <a:pPr marL="0" indent="0">
              <a:buNone/>
            </a:pP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As </a:t>
            </a:r>
            <a:r>
              <a:rPr lang="en-US" sz="3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</a:t>
            </a:r>
            <a:r>
              <a:rPr lang="en-US" sz="33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ds</a:t>
            </a:r>
            <a:r>
              <a:rPr lang="en-US" sz="3300" dirty="0">
                <a:solidFill>
                  <a:srgbClr val="FF0000"/>
                </a:solidFill>
                <a:latin typeface="Bookman Old Style" panose="02050604050505020204" pitchFamily="18" charset="0"/>
              </a:rPr>
              <a:t> increases, </a:t>
            </a:r>
          </a:p>
          <a:p>
            <a:pPr lvl="1" algn="just"/>
            <a:r>
              <a:rPr lang="en-US" sz="33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region near the drain becomes less inverted, so a greater fraction of the capacitance is attributed to the source and a smaller fraction to the drain, as shown in  the plot </a:t>
            </a:r>
          </a:p>
          <a:p>
            <a:pPr marL="0" indent="0">
              <a:buNone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5B1AFC69-D9F4-4667-A4E0-A55500C2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903" y="1985665"/>
            <a:ext cx="2578595" cy="21907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36B605F-F85C-4297-A2F2-918DA8D522BA}"/>
              </a:ext>
            </a:extLst>
          </p:cNvPr>
          <p:cNvSpPr/>
          <p:nvPr/>
        </p:nvSpPr>
        <p:spPr>
          <a:xfrm>
            <a:off x="7921653" y="4343401"/>
            <a:ext cx="24790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2"/>
            </a:pP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Capacitance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vs. </a:t>
            </a:r>
            <a:r>
              <a:rPr lang="en-US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in the linear and saturation </a:t>
            </a:r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373C9162-FF13-496B-FC8C-127F029D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18297829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0605941-7842-41C9-8C8C-CB530FDACAB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8D47DDF3-6AE0-4ECE-86A4-AAC67577E3D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ADBA6CA-A301-4789-90D5-715A414F28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6AC9D7C-7ECE-4516-8745-4C270075189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BD44AB02-B03D-41A5-866B-1B59FC961569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05F0460A-6547-425C-A8A4-25CDBC7F05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2600"/>
            <a:ext cx="6019800" cy="3505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20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Saturation</a:t>
            </a:r>
            <a:r>
              <a:rPr lang="en-US" sz="2000" b="1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 Region :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At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Vds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&gt; </a:t>
            </a:r>
            <a:r>
              <a:rPr lang="en-US" sz="2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Vdsat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/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transistor saturates and the channel pinches off. </a:t>
            </a:r>
          </a:p>
          <a:p>
            <a:pPr lvl="1" algn="just"/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At this point, all the intrinsic capacitance is to the source, as shown in the plot,  because of </a:t>
            </a:r>
            <a:r>
              <a:rPr lang="en-US" sz="19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pinch-off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, the capacitance in saturation reduces to </a:t>
            </a: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9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gs</a:t>
            </a: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2/3 C</a:t>
            </a:r>
            <a:r>
              <a:rPr lang="en-US" sz="19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</a:t>
            </a:r>
            <a:r>
              <a:rPr lang="en-US" sz="19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for an ideal transistor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5B1AFC69-D9F4-4667-A4E0-A55500C20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1903" y="1985665"/>
            <a:ext cx="2578595" cy="219075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36B605F-F85C-4297-A2F2-918DA8D522BA}"/>
              </a:ext>
            </a:extLst>
          </p:cNvPr>
          <p:cNvSpPr/>
          <p:nvPr/>
        </p:nvSpPr>
        <p:spPr>
          <a:xfrm>
            <a:off x="7921653" y="4343401"/>
            <a:ext cx="24790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lphaLcParenR" startAt="2"/>
            </a:pPr>
            <a:r>
              <a:rPr lang="en-US" dirty="0">
                <a:solidFill>
                  <a:srgbClr val="0070C0"/>
                </a:solidFill>
                <a:latin typeface="Bookman Old Style" panose="02050604050505020204" pitchFamily="18" charset="0"/>
              </a:rPr>
              <a:t>Capacitance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vs. </a:t>
            </a:r>
            <a:r>
              <a:rPr lang="en-US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V</a:t>
            </a:r>
            <a:r>
              <a:rPr lang="en-US" baseline="-250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ds</a:t>
            </a:r>
            <a:r>
              <a:rPr lang="en-US" dirty="0">
                <a:solidFill>
                  <a:srgbClr val="FF0000"/>
                </a:solidFill>
                <a:latin typeface="Bookman Old Style" panose="02050604050505020204" pitchFamily="18" charset="0"/>
              </a:rPr>
              <a:t> in the linear and saturation </a:t>
            </a:r>
            <a:r>
              <a:rPr lang="en-IN" dirty="0">
                <a:solidFill>
                  <a:srgbClr val="FF0000"/>
                </a:solidFill>
                <a:latin typeface="Bookman Old Style" panose="02050604050505020204" pitchFamily="18" charset="0"/>
              </a:rPr>
              <a:t>regions</a:t>
            </a: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7BE359E7-E71E-BEF4-EF3E-8BB01329A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403087687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8200865-51A2-4865-A267-0C9C93B3A86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394B089B-0095-4B30-AA0D-3901471305D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972A007-DF8A-41AF-A0DC-33DF3359057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D506A7C-32A4-4A16-B683-C9C76B33FF0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C13B31EA-511E-450E-B129-3E2549F101E3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693F1197-EB4E-4998-B9E7-402DE5CA9D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52600"/>
            <a:ext cx="8686800" cy="9906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behavior in the three regions can be approximated as shown in Table below.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E1A79A6-182D-4743-80F3-85394DB6E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1" y="2814936"/>
            <a:ext cx="6438900" cy="259526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FEA5C23E-C9D2-48DF-98F6-E70F537EA847}"/>
              </a:ext>
            </a:extLst>
          </p:cNvPr>
          <p:cNvSpPr/>
          <p:nvPr/>
        </p:nvSpPr>
        <p:spPr>
          <a:xfrm>
            <a:off x="2705100" y="5498951"/>
            <a:ext cx="67818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itchFamily="18" charset="0"/>
              </a:rPr>
              <a:t>Approximation for Intrinsic MOS Gate Capacitance</a:t>
            </a:r>
            <a:endParaRPr lang="en-IN" sz="2000" dirty="0">
              <a:solidFill>
                <a:srgbClr val="FF0000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E4C911A-AC17-C3EA-4413-329E44CB0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9983656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C145E3F-5EDA-47BB-A7BF-07427D2471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BB2B18F-D089-4626-A5B3-37069FD4A8C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8572D63-155A-4623-8C32-C219713C6C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AF1C4D-8358-4C76-8AD2-B54D8B8817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04C1465-E498-4223-BA48-CE66DD23FAA6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A82A0199-95F7-4859-BB08-0AD9806F87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1638" y="1752601"/>
            <a:ext cx="5110163" cy="34245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 marL="0" indent="0">
              <a:buNone/>
            </a:pPr>
            <a:r>
              <a:rPr lang="en-US" sz="1600" b="1" i="1" u="sng" dirty="0">
                <a:solidFill>
                  <a:srgbClr val="B70CC4"/>
                </a:solidFill>
                <a:latin typeface="Bookman Old Style" panose="02050604050505020204" pitchFamily="18" charset="0"/>
              </a:rPr>
              <a:t>Note 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It is convenient to view the gate capacitance as a single-terminal capacitor attached to the gate (with the other side not switching).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As, the source and drain actually form second terminals, the effective gate capacitance varies with the switching activity of the source and drain.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More accurate modeling of the gate capacitance may be achieved by using a charge based model.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For the purpose of delay calculation of digital circuits, we usually approximate, </a:t>
            </a:r>
          </a:p>
          <a:p>
            <a:pPr marL="0" indent="0" algn="ctr">
              <a:buNone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or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use an effective capacitance extracted 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from simulation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1C7DA319-68FE-46F5-BFA3-225F924F9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705" y="2232352"/>
            <a:ext cx="3761659" cy="307956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91A81918-CF19-4B18-96B8-DC1C336A7761}"/>
              </a:ext>
            </a:extLst>
          </p:cNvPr>
          <p:cNvSpPr/>
          <p:nvPr/>
        </p:nvSpPr>
        <p:spPr>
          <a:xfrm>
            <a:off x="7050847" y="5314982"/>
            <a:ext cx="335756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400" dirty="0">
                <a:solidFill>
                  <a:srgbClr val="FF0000"/>
                </a:solidFill>
                <a:latin typeface="Bookman Old Style" panose="02050604050505020204" pitchFamily="18" charset="0"/>
              </a:rPr>
              <a:t>Shows the effective gate capacitance in a 0.35µm process for seven different combinations of source and drain behavior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3F675D44-6886-4BDF-8AF1-91C34CBBC075}"/>
              </a:ext>
            </a:extLst>
          </p:cNvPr>
          <p:cNvSpPr/>
          <p:nvPr/>
        </p:nvSpPr>
        <p:spPr>
          <a:xfrm>
            <a:off x="6758704" y="1831777"/>
            <a:ext cx="38347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50000"/>
                  </a:schemeClr>
                </a:solidFill>
                <a:latin typeface="Bookman Old Style" panose="02050604050505020204" pitchFamily="18" charset="0"/>
                <a:cs typeface="Times New Roman" pitchFamily="18" charset="0"/>
              </a:rPr>
              <a:t>Fig. Data-dependent Gate Capacitance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="" xmlns:a16="http://schemas.microsoft.com/office/drawing/2014/main" id="{C96B3737-B2D9-4D09-8417-E7C8A23B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06" y="5500688"/>
            <a:ext cx="3019425" cy="27622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D5750111-4F6E-0FD4-C1FA-65327DB57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52076854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9C145E3F-5EDA-47BB-A7BF-07427D2471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1E339ABF-CA77-4150-A5B3-330340499BF8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8572D63-155A-4623-8C32-C219713C6C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AF1C4D-8358-4C76-8AD2-B54D8B88175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004C1465-E498-4223-BA48-CE66DD23FAA6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A82A0199-95F7-4859-BB08-0AD9806F87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66875" y="1680866"/>
            <a:ext cx="5486400" cy="34245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Gate Capacitance Model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overlaps the source and drain in a real device and also has fringing fields terminating on the source and drain.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leads to additional overlap capacitances, These capacitances are proportional to the width of the transistor. 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Typical values are,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	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gsol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18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gdol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= 0.2 – 0.4 </a:t>
            </a:r>
            <a:r>
              <a:rPr lang="en-US" sz="18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fF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/µm</a:t>
            </a:r>
          </a:p>
          <a:p>
            <a:pPr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They should be added to the intrinsic gate capacitance to find the total.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201E31F1-87AC-4C4C-9F8F-3C4D85D70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401" y="2133600"/>
            <a:ext cx="3133725" cy="21526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09429A90-F060-44F8-B9D7-734866CD3D85}"/>
              </a:ext>
            </a:extLst>
          </p:cNvPr>
          <p:cNvSpPr/>
          <p:nvPr/>
        </p:nvSpPr>
        <p:spPr>
          <a:xfrm>
            <a:off x="7492957" y="4366190"/>
            <a:ext cx="29306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  <a:cs typeface="Times New Roman" pitchFamily="18" charset="0"/>
              </a:rPr>
              <a:t>Overlap Capacitance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918FCAB3-8D97-4270-BF7C-2AB0C2011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0400" y="5177135"/>
            <a:ext cx="3581400" cy="107126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0BC714C8-C326-A52C-C9D7-2B7C3A1A7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08571374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35E93B5-E020-402A-AD51-7D083652B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p–n junction between the source diffusion and the body contributes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parasitic capacitance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across the depletion region.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capacitance depends on both the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area AS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sidewall perimeter PS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of the source diffusion region. 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</a:t>
            </a: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area is AS = WD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	The perimeter is PS = 2W +2D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Of this perimeter,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abuts (adjacent to)the channel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the remaining,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	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W + 2D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does not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total source parasitic capacitance is, 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6FBAE29-3433-47C1-A136-1F0F615537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D2FAC83-7CF9-4BCB-BA6D-DE72EE0A181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D4D838-665A-4447-9F20-A6B91F845A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5417D9-31E3-4312-81D0-1C2B090AB9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E68B380-5F59-402A-8923-2F8BCB412F91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F06559E-68FF-40A8-B55E-B2280DF0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1" y="3641418"/>
            <a:ext cx="3228975" cy="19907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D9AE974-09FD-4116-8F23-63AB40015D8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7341" y="5708342"/>
            <a:ext cx="3152035" cy="5400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BE6B0F56-0FFA-9556-787C-B7586551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86715340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35E93B5-E020-402A-AD51-7D083652B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total source parasitic capacitance is,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sz="21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sz="21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1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Where, </a:t>
            </a:r>
          </a:p>
          <a:p>
            <a:pPr marL="0" indent="0" algn="just">
              <a:buNone/>
            </a:pPr>
            <a:r>
              <a:rPr lang="en-US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1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jbs</a:t>
            </a:r>
            <a:r>
              <a:rPr lang="en-US" sz="2100" dirty="0">
                <a:solidFill>
                  <a:srgbClr val="002060"/>
                </a:solidFill>
                <a:latin typeface="Bookman Old Style" panose="02050604050505020204" pitchFamily="18" charset="0"/>
              </a:rPr>
              <a:t> , the capacitance of the junction between the body and the bottom of the source having units of capacitance/area </a:t>
            </a:r>
          </a:p>
          <a:p>
            <a:pPr marL="0" indent="0" algn="just">
              <a:buNone/>
            </a:pPr>
            <a:r>
              <a:rPr lang="en-US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100" baseline="-250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jbssw</a:t>
            </a:r>
            <a:r>
              <a:rPr lang="en-US" sz="2100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, </a:t>
            </a:r>
            <a:r>
              <a:rPr lang="en-US" sz="2100" dirty="0">
                <a:solidFill>
                  <a:srgbClr val="002060"/>
                </a:solidFill>
                <a:latin typeface="Bookman Old Style" panose="02050604050505020204" pitchFamily="18" charset="0"/>
              </a:rPr>
              <a:t> the capacitance of the junction between the body and the side walls of the source having units of capacitance/length</a:t>
            </a:r>
            <a:endParaRPr lang="en-IN" sz="21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6FBAE29-3433-47C1-A136-1F0F615537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03B5645F-B956-4F45-B739-2E95FF42172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D4D838-665A-4447-9F20-A6B91F845A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5417D9-31E3-4312-81D0-1C2B090AB9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E68B380-5F59-402A-8923-2F8BCB412F91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9F06559E-68FF-40A8-B55E-B2280DF0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985666"/>
            <a:ext cx="3186663" cy="21686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4D9AE974-09FD-4116-8F23-63AB40015D8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43966" y="3158971"/>
            <a:ext cx="3152035" cy="54005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361B3D3-00F9-3F52-DBD6-575797CD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40655286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35E93B5-E020-402A-AD51-7D083652B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As,  the depletion region thickness depends on the bias conditions, these </a:t>
            </a:r>
            <a:r>
              <a:rPr lang="en-US" sz="20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parasitics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are nonlinear.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area junction capacitance term is,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Where, 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</a:t>
            </a:r>
            <a:r>
              <a:rPr lang="en-US" sz="20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J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is the junction capacitance at zero bias and is highly process dependent.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</a:t>
            </a:r>
            <a:r>
              <a:rPr lang="en-US" sz="20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J</a:t>
            </a: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the junction grading coefficient, typically in the range of 0.5 to 0.33 depending on the abruptness of the diffusion junction. </a:t>
            </a:r>
          </a:p>
          <a:p>
            <a:pPr marL="0" indent="0" algn="just">
              <a:buNone/>
            </a:pPr>
            <a:r>
              <a:rPr lang="el-GR" sz="20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Ψ</a:t>
            </a:r>
            <a:r>
              <a:rPr lang="en-US" sz="20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 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the built-in potential that depends on doping levels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6FBAE29-3433-47C1-A136-1F0F615537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FDA3EB0A-75CE-479A-8FFE-0D4EF4A921D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D4D838-665A-4447-9F20-A6B91F845A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5417D9-31E3-4312-81D0-1C2B090AB9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E68B380-5F59-402A-8923-2F8BCB412F91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CAC2BF0-6A50-4DEA-8523-3EE5950A6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9201" y="3140845"/>
            <a:ext cx="2805113" cy="9913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8FA6CF4-A5A2-F77C-187A-23569384A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10206533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035E93B5-E020-402A-AD51-7D083652B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sz="29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area junction capacitance term is,</a:t>
            </a:r>
          </a:p>
          <a:p>
            <a:pPr marL="0" indent="0" algn="just">
              <a:buNone/>
            </a:pPr>
            <a:endParaRPr lang="en-US" sz="26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l-GR" sz="2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Ψ</a:t>
            </a:r>
            <a:r>
              <a:rPr lang="en-US" sz="2600" b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0 </a:t>
            </a:r>
            <a:r>
              <a:rPr lang="en-US" sz="26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the built-in potential that depends on doping levels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2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US" sz="23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Where, </a:t>
            </a:r>
          </a:p>
          <a:p>
            <a:pPr lvl="1" algn="just"/>
            <a:r>
              <a:rPr lang="en-US" sz="2300" b="1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vT</a:t>
            </a:r>
            <a:r>
              <a:rPr lang="en-US" sz="23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,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the </a:t>
            </a:r>
            <a:r>
              <a:rPr lang="en-US" sz="23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thermal voltage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from thermodynamics, not to be confused with the threshold voltage </a:t>
            </a:r>
            <a:r>
              <a:rPr lang="en-US" sz="23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Vt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. It has a value equal to </a:t>
            </a:r>
            <a:r>
              <a:rPr lang="en-US" sz="23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k</a:t>
            </a:r>
            <a:r>
              <a:rPr lang="en-US" sz="2300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23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/</a:t>
            </a:r>
            <a:r>
              <a:rPr lang="en-US" sz="2300" dirty="0">
                <a:solidFill>
                  <a:srgbClr val="FF0000"/>
                </a:solidFill>
                <a:latin typeface="Bookman Old Style" panose="02050604050505020204" pitchFamily="18" charset="0"/>
              </a:rPr>
              <a:t>q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(26 mV at room temperature)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	where , 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		</a:t>
            </a:r>
            <a:r>
              <a:rPr lang="en-US" sz="2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k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= 1.380 ×10–23 J/K is Boltzmann’s constant</a:t>
            </a:r>
          </a:p>
          <a:p>
            <a:pPr marL="0" indent="0" algn="just">
              <a:buNone/>
            </a:pPr>
            <a:r>
              <a:rPr lang="en-US" sz="23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		</a:t>
            </a:r>
            <a:r>
              <a:rPr lang="en-US" sz="23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T</a:t>
            </a:r>
            <a:r>
              <a:rPr lang="en-US" sz="23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, 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absolute temperature (300 K at room temperature)</a:t>
            </a:r>
          </a:p>
          <a:p>
            <a:pPr marL="0" indent="0" algn="just">
              <a:buNone/>
            </a:pP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		</a:t>
            </a:r>
            <a:r>
              <a:rPr lang="en-US" sz="23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q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 = 1.602 × 10–19 C is the charge of an electron</a:t>
            </a:r>
          </a:p>
          <a:p>
            <a:pPr lvl="1" algn="just"/>
            <a:r>
              <a:rPr lang="en-US" sz="23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N</a:t>
            </a:r>
            <a:r>
              <a:rPr lang="en-US" sz="2300" b="1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A</a:t>
            </a:r>
            <a:r>
              <a:rPr lang="en-US" sz="2300" i="1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</a:t>
            </a:r>
            <a:r>
              <a:rPr lang="en-US" sz="23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N</a:t>
            </a:r>
            <a:r>
              <a:rPr lang="en-US" sz="2300" b="1" i="1" baseline="-25000" dirty="0">
                <a:solidFill>
                  <a:srgbClr val="FF0000"/>
                </a:solidFill>
                <a:latin typeface="Bookman Old Style" panose="02050604050505020204" pitchFamily="18" charset="0"/>
              </a:rPr>
              <a:t>D</a:t>
            </a:r>
            <a:r>
              <a:rPr lang="en-US" sz="2300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 ,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are the doping levels of the body and source diffusion region</a:t>
            </a:r>
          </a:p>
          <a:p>
            <a:pPr lvl="1" algn="just"/>
            <a:r>
              <a:rPr lang="en-US" sz="2300" b="1" i="1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ni</a:t>
            </a:r>
            <a:r>
              <a:rPr lang="en-US" sz="2300" b="1" i="1" dirty="0">
                <a:solidFill>
                  <a:srgbClr val="FF0000"/>
                </a:solidFill>
                <a:latin typeface="Bookman Old Style" panose="02050604050505020204" pitchFamily="18" charset="0"/>
              </a:rPr>
              <a:t>, </a:t>
            </a:r>
            <a:r>
              <a:rPr lang="en-US" sz="23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the intrinsic carrier concentration in undoped silicon and has a value of                      1.45 × 1010 cm–3 at 300 K</a:t>
            </a:r>
            <a:endParaRPr lang="en-IN" sz="23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6FBAE29-3433-47C1-A136-1F0F6155373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D30DC21-3946-48FB-B6BF-8A70FBA22500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5D4D838-665A-4447-9F20-A6B91F845A0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45417D9-31E3-4312-81D0-1C2B090AB91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BE68B380-5F59-402A-8923-2F8BCB412F91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CAC2BF0-6A50-4DEA-8523-3EE5950A6C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1400" y="1774794"/>
            <a:ext cx="2317072" cy="818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A8119F7-5F27-4FB5-A9DF-AE222BCF9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388" y="3019328"/>
            <a:ext cx="2181225" cy="819344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12507C6F-38B0-B231-A49B-A1B187A4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40301455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671611E9-5A61-4B46-A114-5D47901DF90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6768F09-048D-42B2-9183-06D13FF43E7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5ED85A6-05AA-4426-B419-4FC5F0681E4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1A8882C-5666-40DB-9613-94D826FADE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EF2C704-D5DD-409F-A2FA-901CC7571FFF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="" xmlns:a16="http://schemas.microsoft.com/office/drawing/2014/main" id="{EC232D17-18BC-41E8-9868-1341E9EC04F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28800"/>
            <a:ext cx="86868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sidewall capacitance term is of a similar form but uses different coefficients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9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processes below about 0.35µm that employ shallow trench isolation surrounding transistors with an SiO2 insulator,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sidewall capacitance along the nonconductive trench tends to be minimal, while the sidewall facing the channel</a:t>
            </a:r>
            <a:r>
              <a:rPr lang="en-US" sz="1800" dirty="0">
                <a:solidFill>
                  <a:srgbClr val="FF0000"/>
                </a:solidFill>
                <a:latin typeface="Bookman Old Style" panose="02050604050505020204" pitchFamily="18" charset="0"/>
              </a:rPr>
              <a:t> is more significant</a:t>
            </a:r>
          </a:p>
          <a:p>
            <a:pPr lvl="1" algn="just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SPICE models, the capacitance of this sidewall abutting the gate and channel is specified with another set of parameters:</a:t>
            </a:r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E2E5D076-A9D6-4218-81C6-DEE4F95B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1" y="2514600"/>
            <a:ext cx="3662363" cy="10096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53F1E63F-DB26-4901-9AD1-780DDBD606C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contrast="20000"/>
          </a:blip>
          <a:stretch>
            <a:fillRect/>
          </a:stretch>
        </p:blipFill>
        <p:spPr>
          <a:xfrm>
            <a:off x="4417219" y="5410200"/>
            <a:ext cx="3662363" cy="829614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="" xmlns:a16="http://schemas.microsoft.com/office/drawing/2014/main" id="{09E242E3-362C-7747-830B-6A2A4DEF4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084699210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74C89DD-03B6-4F8C-BBB4-C25A4FF6BC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764629"/>
            <a:ext cx="8686800" cy="21216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rgbClr val="B70CC4"/>
                </a:solidFill>
                <a:latin typeface="Bookman Old Style" panose="02050604050505020204" pitchFamily="18" charset="0"/>
              </a:rPr>
              <a:t>MOS Diffusion Capacitance Model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Diffusion regions were historically,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used for short wires called runners in processes with only one or two metal levels</a:t>
            </a:r>
            <a:endParaRPr lang="en-US" sz="1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Diffusion capacitance and resistance are large enough that such practice is now discouraged,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Bookman Old Style" panose="02050604050505020204" pitchFamily="18" charset="0"/>
              </a:rPr>
              <a:t>diffusion regions should be kept as  small as possible on nodes that switch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6DEECE6-79C1-4410-885D-A588D9720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51CAD802-18C1-4730-9893-5A5A08C44B87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CD39F839-82A2-4EA2-A85B-C82555E2F7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17CCE63-84ED-4B6A-A314-1937D672A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470E440-F5CD-4EB3-90D5-C7C5484922AA}"/>
              </a:ext>
            </a:extLst>
          </p:cNvPr>
          <p:cNvSpPr/>
          <p:nvPr/>
        </p:nvSpPr>
        <p:spPr>
          <a:xfrm>
            <a:off x="2133600" y="1219201"/>
            <a:ext cx="79248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C-V </a:t>
            </a:r>
            <a:r>
              <a:rPr lang="en-US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CHARACTERISTICS OF MOS TRANSISTORS  </a:t>
            </a:r>
            <a:endParaRPr lang="en-IN" sz="2400" b="1" spc="-10" dirty="0">
              <a:solidFill>
                <a:srgbClr val="C00000"/>
              </a:solidFill>
              <a:latin typeface="Bookman Old Style" panose="02050604050505020204" pitchFamily="18" charset="0"/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29B524A1-B8AE-4D6B-973F-E3D6F5120D6B}"/>
              </a:ext>
            </a:extLst>
          </p:cNvPr>
          <p:cNvSpPr/>
          <p:nvPr/>
        </p:nvSpPr>
        <p:spPr>
          <a:xfrm>
            <a:off x="1697854" y="3882527"/>
            <a:ext cx="5845946" cy="2339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MOS transistor 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can be viewed as, 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 four-terminal device with capacitances between each terminal pairs 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gate capacitance includes an intrinsic component (to the body, source and drain, or source alone, depending on operating regime) and overlap terms with the source and drain. </a:t>
            </a:r>
          </a:p>
          <a:p>
            <a:pPr marL="285750" indent="-285750" algn="just"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 source and drain have parasitic diffusion capacitance to the body.</a:t>
            </a:r>
            <a:endParaRPr lang="en-IN" sz="16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80197911-F6CC-4A4F-8A31-2F21E0C51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6200" y="3782489"/>
            <a:ext cx="2743200" cy="187820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E904060-6510-4636-B7D2-80DE0D826961}"/>
              </a:ext>
            </a:extLst>
          </p:cNvPr>
          <p:cNvSpPr/>
          <p:nvPr/>
        </p:nvSpPr>
        <p:spPr>
          <a:xfrm>
            <a:off x="8001000" y="5717341"/>
            <a:ext cx="234074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16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Capacitance of an MOS Transistor</a:t>
            </a:r>
          </a:p>
        </p:txBody>
      </p:sp>
      <p:sp>
        <p:nvSpPr>
          <p:cNvPr id="9" name="Title 1">
            <a:extLst>
              <a:ext uri="{FF2B5EF4-FFF2-40B4-BE49-F238E27FC236}">
                <a16:creationId xmlns="" xmlns:a16="http://schemas.microsoft.com/office/drawing/2014/main" id="{284126D1-4527-AA8F-3FA5-B98F36230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104659424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C18BE0-84A3-4CA8-BD93-8B81DEF07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861709"/>
            <a:ext cx="8686800" cy="4343400"/>
          </a:xfrm>
        </p:spPr>
        <p:txBody>
          <a:bodyPr/>
          <a:lstStyle/>
          <a:p>
            <a:pPr marL="0" indent="0">
              <a:buNone/>
            </a:pPr>
            <a:r>
              <a:rPr lang="en-IN" sz="2000" b="1" dirty="0">
                <a:solidFill>
                  <a:srgbClr val="00AEF0"/>
                </a:solidFill>
                <a:latin typeface="Bookman Old Style" panose="02050604050505020204" pitchFamily="18" charset="0"/>
              </a:rPr>
              <a:t>Compound Gates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A compound gate performing a more complex logic function in a single stage of logic is formed by using a combination of series and parallel switch structures.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FOR EXAMPLE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</a:p>
          <a:p>
            <a:pPr algn="l">
              <a:buFont typeface="Wingdings" panose="05000000000000000000" pitchFamily="2" charset="2"/>
              <a:buChar char="q"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derivation of the circuit for the function 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is shown in Figure, (Next Slide)</a:t>
            </a: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D46863D-3A0F-4083-893C-21592062C61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ACB35-E731-4194-AA43-40F7E5ABC313}"/>
              </a:ext>
            </a:extLst>
          </p:cNvPr>
          <p:cNvSpPr/>
          <p:nvPr/>
        </p:nvSpPr>
        <p:spPr>
          <a:xfrm>
            <a:off x="4876800" y="1251344"/>
            <a:ext cx="24384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CMOS LOGIC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CBDF4827-08F4-4276-9BF2-9BD20AA05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262" y="4343400"/>
            <a:ext cx="2312276" cy="3810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6EAD3AB1-0A7A-A72F-4DBB-1BC432F01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0972977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C18BE0-84A3-4CA8-BD93-8B81DEF07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7040" y="1826451"/>
            <a:ext cx="2662561" cy="1754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AEF0"/>
                </a:solidFill>
                <a:latin typeface="Bookman Old Style" panose="02050604050505020204" pitchFamily="18" charset="0"/>
              </a:rPr>
              <a:t>Compound Gates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Bookman Old Style" panose="02050604050505020204" pitchFamily="18" charset="0"/>
              </a:rPr>
              <a:t>FOR EXAMPLE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The derivation of the circuit for the function </a:t>
            </a: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algn="l">
              <a:buFont typeface="Wingdings" panose="05000000000000000000" pitchFamily="2" charset="2"/>
              <a:buChar char="q"/>
            </a:pP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0566CC3-6C65-4E1B-9798-83508B3AFC5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ACB35-E731-4194-AA43-40F7E5ABC313}"/>
              </a:ext>
            </a:extLst>
          </p:cNvPr>
          <p:cNvSpPr/>
          <p:nvPr/>
        </p:nvSpPr>
        <p:spPr>
          <a:xfrm>
            <a:off x="4876800" y="1251344"/>
            <a:ext cx="24384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CMOS LOGIC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CBDF4827-08F4-4276-9BF2-9BD20AA05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97" y="3684197"/>
            <a:ext cx="2312276" cy="381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3FDC2565-924C-49A7-9C5E-F3E307117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826452"/>
            <a:ext cx="5867400" cy="4421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74276781-0DD6-42C4-8E8D-63CF44D82526}"/>
              </a:ext>
            </a:extLst>
          </p:cNvPr>
          <p:cNvSpPr txBox="1"/>
          <p:nvPr/>
        </p:nvSpPr>
        <p:spPr>
          <a:xfrm>
            <a:off x="1600202" y="4250888"/>
            <a:ext cx="274319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This function is sometimes called </a:t>
            </a:r>
            <a:r>
              <a:rPr lang="en-US" dirty="0">
                <a:solidFill>
                  <a:srgbClr val="B70CC4"/>
                </a:solidFill>
                <a:latin typeface="Bookman Old Style" panose="02050604050505020204" pitchFamily="18" charset="0"/>
                <a:cs typeface="Times New Roman" pitchFamily="18" charset="0"/>
              </a:rPr>
              <a:t>AND-OR-INVERT-22, or AOI22 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because it performs the </a:t>
            </a:r>
            <a:r>
              <a:rPr lang="en-US" i="1" dirty="0">
                <a:solidFill>
                  <a:srgbClr val="B70CC4"/>
                </a:solidFill>
                <a:latin typeface="Bookman Old Style" panose="02050604050505020204" pitchFamily="18" charset="0"/>
                <a:cs typeface="Times New Roman" pitchFamily="18" charset="0"/>
              </a:rPr>
              <a:t>NOR of a pair of 2-input ANDs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.</a:t>
            </a:r>
            <a:endParaRPr lang="en-IN" dirty="0">
              <a:solidFill>
                <a:srgbClr val="002060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B9258274-3AA0-8E9B-A17A-29286DCE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45617131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C18BE0-84A3-4CA8-BD93-8B81DEF07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7040" y="1826450"/>
            <a:ext cx="6396361" cy="39647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AEF0"/>
                </a:solidFill>
                <a:latin typeface="Bookman Old Style" panose="02050604050505020204" pitchFamily="18" charset="0"/>
              </a:rPr>
              <a:t>Compound Gates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(a) Shows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For 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the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nMOS</a:t>
            </a:r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pull-down network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</a:p>
          <a:p>
            <a:pPr lvl="1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take the un-inverted expression ((A · B) + (C · D)) indicating when the output should be pulled to ‘0.’ </a:t>
            </a:r>
          </a:p>
          <a:p>
            <a:pPr lvl="1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AND expressions (A · B) and (C · D) may be implemented by series connections </a:t>
            </a: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of switches</a:t>
            </a:r>
          </a:p>
          <a:p>
            <a:pPr marL="0" indent="0" algn="just">
              <a:buNone/>
            </a:pPr>
            <a:r>
              <a:rPr lang="en-US" sz="2000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(b) Shows,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lvl="1" algn="just"/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Now </a:t>
            </a:r>
            <a:r>
              <a:rPr lang="en-US" sz="20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ORing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 the result requires the parallel connection </a:t>
            </a:r>
            <a:r>
              <a:rPr lang="en-IN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of these two structures</a:t>
            </a:r>
            <a:endParaRPr lang="en-US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4D2D9B53-4CCA-4150-A45E-F88C41711ECF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ACB35-E731-4194-AA43-40F7E5ABC313}"/>
              </a:ext>
            </a:extLst>
          </p:cNvPr>
          <p:cNvSpPr/>
          <p:nvPr/>
        </p:nvSpPr>
        <p:spPr>
          <a:xfrm>
            <a:off x="4876800" y="1251344"/>
            <a:ext cx="24384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CMOS LOGIC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769C8B1-F922-4F9F-ADE6-17A88D05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1981200"/>
            <a:ext cx="1981200" cy="1752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EA46527-2A12-47A7-A504-3A3666EC2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4114800"/>
            <a:ext cx="1752600" cy="167640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="" xmlns:a16="http://schemas.microsoft.com/office/drawing/2014/main" id="{6DC8B5BC-97A6-3E39-0F75-820A4BE5D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248496503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C18BE0-84A3-4CA8-BD93-8B81DEF07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619" y="1762026"/>
            <a:ext cx="8760781" cy="357197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AEF0"/>
                </a:solidFill>
                <a:latin typeface="Bookman Old Style" panose="02050604050505020204" pitchFamily="18" charset="0"/>
              </a:rPr>
              <a:t>Compound Gates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(c) &amp; (d) Shows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  <a:r>
              <a:rPr lang="en-IN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For the </a:t>
            </a:r>
            <a:r>
              <a:rPr lang="en-IN" sz="1800" dirty="0" err="1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pMOS</a:t>
            </a:r>
            <a:r>
              <a:rPr lang="en-IN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 pull-up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network,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compute the complementary expression using switches that turn on with inverted polarity. 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By 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DeMorgan’s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Law, this is equivalent to interchanging AND </a:t>
            </a:r>
            <a:r>
              <a:rPr lang="en-US" sz="1600" dirty="0" err="1">
                <a:solidFill>
                  <a:srgbClr val="002060"/>
                </a:solidFill>
                <a:latin typeface="Bookman Old Style" panose="02050604050505020204" pitchFamily="18" charset="0"/>
              </a:rPr>
              <a:t>and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OR operations. </a:t>
            </a:r>
          </a:p>
          <a:p>
            <a:pPr marL="0" indent="0" algn="just">
              <a:buNone/>
            </a:pPr>
            <a:r>
              <a:rPr lang="en-US" sz="1800" dirty="0">
                <a:solidFill>
                  <a:srgbClr val="B70CC4"/>
                </a:solidFill>
                <a:latin typeface="Bookman Old Style" panose="02050604050505020204" pitchFamily="18" charset="0"/>
              </a:rPr>
              <a:t>      From now, 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Transistors that </a:t>
            </a:r>
            <a:r>
              <a:rPr lang="en-US" sz="1600" dirty="0">
                <a:solidFill>
                  <a:srgbClr val="B70CC4"/>
                </a:solidFill>
                <a:latin typeface="Bookman Old Style" panose="02050604050505020204" pitchFamily="18" charset="0"/>
              </a:rPr>
              <a:t>appear in series in the pull-down network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must </a:t>
            </a:r>
            <a:r>
              <a:rPr lang="en-US" sz="1600" dirty="0">
                <a:solidFill>
                  <a:srgbClr val="B70CC4"/>
                </a:solidFill>
                <a:latin typeface="Bookman Old Style" panose="02050604050505020204" pitchFamily="18" charset="0"/>
              </a:rPr>
              <a:t>appear in parallel in the pull-up network. 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Transistors that </a:t>
            </a:r>
            <a:r>
              <a:rPr lang="en-US" sz="1600" dirty="0">
                <a:solidFill>
                  <a:srgbClr val="B70CC4"/>
                </a:solidFill>
                <a:latin typeface="Bookman Old Style" panose="02050604050505020204" pitchFamily="18" charset="0"/>
              </a:rPr>
              <a:t>appear in parallel in the pulldown network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must </a:t>
            </a:r>
            <a:r>
              <a:rPr lang="en-US" sz="1600" dirty="0">
                <a:solidFill>
                  <a:srgbClr val="B70CC4"/>
                </a:solidFill>
                <a:latin typeface="Bookman Old Style" panose="02050604050505020204" pitchFamily="18" charset="0"/>
              </a:rPr>
              <a:t>appear in series in the pull-up network.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 </a:t>
            </a:r>
          </a:p>
          <a:p>
            <a:pPr lvl="1" algn="just"/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This principle is called </a:t>
            </a:r>
            <a:r>
              <a:rPr lang="en-US" sz="1600" i="1" dirty="0">
                <a:solidFill>
                  <a:srgbClr val="B70CC4"/>
                </a:solidFill>
                <a:latin typeface="Bookman Old Style" panose="02050604050505020204" pitchFamily="18" charset="0"/>
              </a:rPr>
              <a:t>conduction complements </a:t>
            </a:r>
            <a:r>
              <a:rPr lang="en-US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and has already been used in the design of the NAND and NOR </a:t>
            </a:r>
            <a:r>
              <a:rPr lang="en-IN" sz="1600" dirty="0">
                <a:solidFill>
                  <a:srgbClr val="002060"/>
                </a:solidFill>
                <a:latin typeface="Bookman Old Style" panose="02050604050505020204" pitchFamily="18" charset="0"/>
              </a:rPr>
              <a:t>gates.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D074DF16-2E01-4098-9ED6-BDA0A30861D2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ACB35-E731-4194-AA43-40F7E5ABC313}"/>
              </a:ext>
            </a:extLst>
          </p:cNvPr>
          <p:cNvSpPr/>
          <p:nvPr/>
        </p:nvSpPr>
        <p:spPr>
          <a:xfrm>
            <a:off x="4876800" y="1251344"/>
            <a:ext cx="24384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CMOS LOGIC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25A6CE8E-6B8E-4009-BCF8-A58E6B763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200" y="5410200"/>
            <a:ext cx="5314950" cy="91440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="" xmlns:a16="http://schemas.microsoft.com/office/drawing/2014/main" id="{CDCF4945-17B3-F739-12D5-649E81517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88121273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C18BE0-84A3-4CA8-BD93-8B81DEF07B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8620" y="1804988"/>
            <a:ext cx="8760781" cy="1371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00AEF0"/>
                </a:solidFill>
                <a:latin typeface="Bookman Old Style" panose="02050604050505020204" pitchFamily="18" charset="0"/>
              </a:rPr>
              <a:t>Compound Gates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(c) &amp; (d) Shows</a:t>
            </a:r>
            <a:r>
              <a:rPr lang="en-US" sz="2000" dirty="0">
                <a:solidFill>
                  <a:srgbClr val="002060"/>
                </a:solidFill>
                <a:latin typeface="Bookman Old Style" panose="02050604050505020204" pitchFamily="18" charset="0"/>
              </a:rPr>
              <a:t>, </a:t>
            </a:r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In the </a:t>
            </a:r>
            <a:r>
              <a:rPr lang="en-US" sz="1800" dirty="0">
                <a:solidFill>
                  <a:schemeClr val="accent3">
                    <a:lumMod val="50000"/>
                  </a:schemeClr>
                </a:solidFill>
                <a:latin typeface="Bookman Old Style" panose="02050604050505020204" pitchFamily="18" charset="0"/>
              </a:rPr>
              <a:t>pull-up network</a:t>
            </a:r>
            <a:r>
              <a:rPr lang="en-US" sz="1800" dirty="0">
                <a:solidFill>
                  <a:srgbClr val="231F20"/>
                </a:solidFill>
                <a:latin typeface="ACaslon-Regular"/>
              </a:rPr>
              <a:t>,</a:t>
            </a:r>
          </a:p>
          <a:p>
            <a:pPr lvl="1" algn="just"/>
            <a:r>
              <a:rPr lang="en-US" sz="1800" dirty="0">
                <a:solidFill>
                  <a:srgbClr val="002060"/>
                </a:solidFill>
                <a:latin typeface="Bookman Old Style" panose="02050604050505020204" pitchFamily="18" charset="0"/>
              </a:rPr>
              <a:t>the parallel combination of A and B is placed in series with the parallel combination of C and D.</a:t>
            </a:r>
          </a:p>
          <a:p>
            <a:pPr algn="l"/>
            <a:endParaRPr lang="en-IN" sz="1800" dirty="0">
              <a:solidFill>
                <a:srgbClr val="00206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9F4ACB35-E731-4194-AA43-40F7E5ABC313}"/>
              </a:ext>
            </a:extLst>
          </p:cNvPr>
          <p:cNvSpPr/>
          <p:nvPr/>
        </p:nvSpPr>
        <p:spPr>
          <a:xfrm>
            <a:off x="4876800" y="1251344"/>
            <a:ext cx="2438400" cy="46166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11480" indent="-287020" algn="ctr">
              <a:spcBef>
                <a:spcPts val="575"/>
              </a:spcBef>
              <a:tabLst>
                <a:tab pos="869315" algn="l"/>
              </a:tabLst>
            </a:pPr>
            <a:r>
              <a:rPr lang="en-IN" sz="2400" b="1" spc="-10" dirty="0">
                <a:solidFill>
                  <a:srgbClr val="C00000"/>
                </a:solidFill>
                <a:latin typeface="Bookman Old Style" panose="02050604050505020204" pitchFamily="18" charset="0"/>
                <a:cs typeface="Arial"/>
              </a:rPr>
              <a:t>CMOS LOGIC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D26F4C9D-AFEA-4EFC-AFFE-868D14ABB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34" y="3211082"/>
            <a:ext cx="531495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6CA70A2-6234-4593-987F-86203F3A729D}"/>
              </a:ext>
            </a:extLst>
          </p:cNvPr>
          <p:cNvSpPr txBox="1"/>
          <p:nvPr/>
        </p:nvSpPr>
        <p:spPr>
          <a:xfrm>
            <a:off x="1752600" y="3941123"/>
            <a:ext cx="38344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(e) Shows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</a:t>
            </a:r>
            <a:r>
              <a:rPr lang="en-US" dirty="0">
                <a:solidFill>
                  <a:srgbClr val="231F20"/>
                </a:solidFill>
                <a:latin typeface="ACaslon-Regular"/>
              </a:rPr>
              <a:t>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Putting the networks together yields the full schematic </a:t>
            </a:r>
          </a:p>
          <a:p>
            <a:r>
              <a:rPr lang="en-US" dirty="0">
                <a:solidFill>
                  <a:srgbClr val="B70CC4"/>
                </a:solidFill>
                <a:latin typeface="Bookman Old Style" panose="02050604050505020204" pitchFamily="18" charset="0"/>
              </a:rPr>
              <a:t>Fig (f) Shows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</a:rPr>
              <a:t>,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The symbol of the function is shown is shown</a:t>
            </a:r>
            <a:r>
              <a:rPr lang="en-US" dirty="0">
                <a:solidFill>
                  <a:srgbClr val="002060"/>
                </a:solidFill>
                <a:latin typeface="Bookman Old Style" panose="02050604050505020204" pitchFamily="18" charset="0"/>
                <a:cs typeface="Times New Roman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rgbClr val="002060"/>
              </a:solidFill>
              <a:latin typeface="Bookman Old Style" panose="02050604050505020204" pitchFamily="18" charset="0"/>
              <a:cs typeface="Times New Roman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9257383-0C38-4624-8900-A764D1CAF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010" y="4189569"/>
            <a:ext cx="1981200" cy="17811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565EDAD8-FF95-4092-8471-293FDEB70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4320" y="4189569"/>
            <a:ext cx="1981200" cy="162877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CCE86E92-B7E5-4DCD-B8B0-62C2C30BF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600" y="5893527"/>
            <a:ext cx="2057400" cy="352425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108261831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AA2D99-0CE9-4B69-B1A8-E624B1F7EC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186D1F-D4E6-44E9-AD04-D064F5A4A04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457791-EB65-4FF3-9D92-0133897C55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444026-1171-4F07-A90B-DB793F7B3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789C73-14EE-4C88-82A7-0C34117A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92" y="1676400"/>
            <a:ext cx="5158416" cy="34121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EF60984-8AAE-607C-F252-7AA4CF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82268554"/>
      </p:ext>
    </p:extLst>
  </p:cSld>
  <p:clrMapOvr>
    <a:masterClrMapping/>
  </p:clrMapOvr>
</p:sld>
</file>

<file path=ppt/theme/theme1.xml><?xml version="1.0" encoding="utf-8"?>
<a:theme xmlns:a="http://schemas.openxmlformats.org/drawingml/2006/main" name="EEE Presentation 2019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EEE Presentation 2019-1</Template>
  <TotalTime>2644</TotalTime>
  <Words>8106</Words>
  <Application>Microsoft Office PowerPoint</Application>
  <PresentationFormat>Widescreen</PresentationFormat>
  <Paragraphs>1361</Paragraphs>
  <Slides>121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32" baseType="lpstr">
      <vt:lpstr>ACaslon-Regular</vt:lpstr>
      <vt:lpstr>Arial</vt:lpstr>
      <vt:lpstr>Bookman Old Style</vt:lpstr>
      <vt:lpstr>Calibri</vt:lpstr>
      <vt:lpstr>Comic Sans MS</vt:lpstr>
      <vt:lpstr>Courier New</vt:lpstr>
      <vt:lpstr>Lucida Bright</vt:lpstr>
      <vt:lpstr>Symbol</vt:lpstr>
      <vt:lpstr>Times New Roman</vt:lpstr>
      <vt:lpstr>Wingdings</vt:lpstr>
      <vt:lpstr>EEE Presentation 2019-1</vt:lpstr>
      <vt:lpstr>PowerPoint Presentation</vt:lpstr>
      <vt:lpstr>20EC214 - DIGITAL CMOS VLSI CIRCUITS COURSE OUTCOMES</vt:lpstr>
      <vt:lpstr>20EC214 - DIGITAL CMOS VLSI CIRCUITS COURSE CONTENTS</vt:lpstr>
      <vt:lpstr>20EC214 - DIGITAL CMOS VLSI CIRCUITS COURSE CONTENTS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  <vt:lpstr>MODULE 1  MOS TRANSISTOR AND PROCESSING TECHNOLOGY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Gopu</dc:creator>
  <cp:lastModifiedBy>Microsoft account</cp:lastModifiedBy>
  <cp:revision>304</cp:revision>
  <dcterms:created xsi:type="dcterms:W3CDTF">2019-05-31T06:52:53Z</dcterms:created>
  <dcterms:modified xsi:type="dcterms:W3CDTF">2026-04-14T06:31:56Z</dcterms:modified>
</cp:coreProperties>
</file>