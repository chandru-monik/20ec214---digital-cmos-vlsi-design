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68"/>
  </p:notesMasterIdLst>
  <p:sldIdLst>
    <p:sldId id="256" r:id="rId2"/>
    <p:sldId id="385" r:id="rId3"/>
    <p:sldId id="386" r:id="rId4"/>
    <p:sldId id="387" r:id="rId5"/>
    <p:sldId id="388" r:id="rId6"/>
    <p:sldId id="505" r:id="rId7"/>
    <p:sldId id="506" r:id="rId8"/>
    <p:sldId id="507" r:id="rId9"/>
    <p:sldId id="508" r:id="rId10"/>
    <p:sldId id="517" r:id="rId11"/>
    <p:sldId id="509" r:id="rId12"/>
    <p:sldId id="510" r:id="rId13"/>
    <p:sldId id="511" r:id="rId14"/>
    <p:sldId id="512" r:id="rId15"/>
    <p:sldId id="513" r:id="rId16"/>
    <p:sldId id="514" r:id="rId17"/>
    <p:sldId id="515" r:id="rId18"/>
    <p:sldId id="516" r:id="rId19"/>
    <p:sldId id="518" r:id="rId20"/>
    <p:sldId id="519" r:id="rId21"/>
    <p:sldId id="535" r:id="rId22"/>
    <p:sldId id="532" r:id="rId23"/>
    <p:sldId id="533" r:id="rId24"/>
    <p:sldId id="534" r:id="rId25"/>
    <p:sldId id="525" r:id="rId26"/>
    <p:sldId id="526" r:id="rId27"/>
    <p:sldId id="521" r:id="rId28"/>
    <p:sldId id="524" r:id="rId29"/>
    <p:sldId id="527" r:id="rId30"/>
    <p:sldId id="528" r:id="rId31"/>
    <p:sldId id="529" r:id="rId32"/>
    <p:sldId id="530" r:id="rId33"/>
    <p:sldId id="531" r:id="rId34"/>
    <p:sldId id="539" r:id="rId35"/>
    <p:sldId id="537" r:id="rId36"/>
    <p:sldId id="540" r:id="rId37"/>
    <p:sldId id="538" r:id="rId38"/>
    <p:sldId id="541" r:id="rId39"/>
    <p:sldId id="542" r:id="rId40"/>
    <p:sldId id="543" r:id="rId41"/>
    <p:sldId id="544" r:id="rId42"/>
    <p:sldId id="545" r:id="rId43"/>
    <p:sldId id="546" r:id="rId44"/>
    <p:sldId id="547" r:id="rId45"/>
    <p:sldId id="549" r:id="rId46"/>
    <p:sldId id="550" r:id="rId47"/>
    <p:sldId id="551" r:id="rId48"/>
    <p:sldId id="548" r:id="rId49"/>
    <p:sldId id="552" r:id="rId50"/>
    <p:sldId id="554" r:id="rId51"/>
    <p:sldId id="557" r:id="rId52"/>
    <p:sldId id="555" r:id="rId53"/>
    <p:sldId id="556" r:id="rId54"/>
    <p:sldId id="558" r:id="rId55"/>
    <p:sldId id="559" r:id="rId56"/>
    <p:sldId id="568" r:id="rId57"/>
    <p:sldId id="560" r:id="rId58"/>
    <p:sldId id="561" r:id="rId59"/>
    <p:sldId id="562" r:id="rId60"/>
    <p:sldId id="563" r:id="rId61"/>
    <p:sldId id="564" r:id="rId62"/>
    <p:sldId id="565" r:id="rId63"/>
    <p:sldId id="566" r:id="rId64"/>
    <p:sldId id="567" r:id="rId65"/>
    <p:sldId id="553" r:id="rId66"/>
    <p:sldId id="49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52" autoAdjust="0"/>
  </p:normalViewPr>
  <p:slideViewPr>
    <p:cSldViewPr>
      <p:cViewPr varScale="1">
        <p:scale>
          <a:sx n="84" d="100"/>
          <a:sy n="84" d="100"/>
        </p:scale>
        <p:origin x="595" y="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335A0-DBCE-44E5-9B40-295659989D6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5C9B3-241D-4FF0-B990-4FABA7B21D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5C9B3-241D-4FF0-B990-4FABA7B21D3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17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4" y="152402"/>
            <a:ext cx="8839202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14" y="2362202"/>
            <a:ext cx="10791497" cy="373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9"/>
          <p:cNvSpPr>
            <a:spLocks noGrp="1"/>
          </p:cNvSpPr>
          <p:nvPr userDrawn="1"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65AEF63-01FC-4134-AE19-ADFEE9DC515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 userDrawn="1"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 userDrawn="1"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609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828802"/>
            <a:ext cx="11582400" cy="4495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54B9F69-0570-4328-A351-624C6148D36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04802" y="1981200"/>
            <a:ext cx="11582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latin typeface="Times New Roman" pitchFamily="18" charset="0"/>
                <a:cs typeface="Times New Roman" pitchFamily="18" charset="0"/>
              </a:defRPr>
            </a:lvl1pPr>
            <a:lvl2pPr>
              <a:defRPr sz="3600">
                <a:latin typeface="Times New Roman" pitchFamily="18" charset="0"/>
                <a:cs typeface="Times New Roman" pitchFamily="18" charset="0"/>
              </a:defRPr>
            </a:lvl2pPr>
            <a:lvl3pPr>
              <a:defRPr sz="3200">
                <a:latin typeface="Times New Roman" pitchFamily="18" charset="0"/>
                <a:cs typeface="Times New Roman" pitchFamily="18" charset="0"/>
              </a:defRPr>
            </a:lvl3pPr>
            <a:lvl4pPr>
              <a:defRPr sz="2800">
                <a:latin typeface="Times New Roman" pitchFamily="18" charset="0"/>
                <a:cs typeface="Times New Roman" pitchFamily="18" charset="0"/>
              </a:defRPr>
            </a:lvl4pPr>
            <a:lvl5pPr>
              <a:defRPr sz="2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4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AC2C7B5-640A-463A-A6C4-C7EBD7B3789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>
          <a:xfrm>
            <a:off x="9042402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>
          <a:xfrm>
            <a:off x="43688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625600" y="251461"/>
            <a:ext cx="8940800" cy="5867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35" y="457200"/>
            <a:ext cx="393276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38" y="987429"/>
            <a:ext cx="617220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35" y="2057403"/>
            <a:ext cx="393276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89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"/>
            <a:ext cx="12192000" cy="6858000"/>
          </a:xfrm>
          <a:prstGeom prst="rect">
            <a:avLst/>
          </a:prstGeom>
          <a:noFill/>
          <a:ln w="952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6200" y="1447800"/>
            <a:ext cx="12115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7203" y="116175"/>
            <a:ext cx="972478" cy="1179225"/>
          </a:xfrm>
          <a:prstGeom prst="rect">
            <a:avLst/>
          </a:prstGeom>
        </p:spPr>
      </p:pic>
      <p:pic>
        <p:nvPicPr>
          <p:cNvPr id="11" name="Picture 10" descr="A logo with text and a flower&#10;&#10;AI-generated content may be incorrect.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893" y="116175"/>
            <a:ext cx="998220" cy="1104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6" r:id="rId2"/>
    <p:sldLayoutId id="2147483674" r:id="rId3"/>
    <p:sldLayoutId id="2147483678" r:id="rId4"/>
  </p:sldLayoutIdLst>
  <p:hf hdr="0"/>
  <p:txStyles>
    <p:titleStyle>
      <a:lvl1pPr marL="0" algn="ctr" defTabSz="914400" rtl="0" eaLnBrk="1" latinLnBrk="0" hangingPunct="1">
        <a:spcBef>
          <a:spcPct val="0"/>
        </a:spcBef>
        <a:buNone/>
        <a:defRPr lang="en-US" sz="36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498611" y="2"/>
            <a:ext cx="9140827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2800" b="1" dirty="0"/>
          </a:p>
          <a:p>
            <a:pPr algn="ctr"/>
            <a:r>
              <a:rPr lang="en-US" sz="3200" b="1" dirty="0"/>
              <a:t>SRI RAMAKRISHNA ENGINEERING COLLEGE</a:t>
            </a:r>
            <a:endParaRPr lang="en-US" sz="3200" dirty="0"/>
          </a:p>
          <a:p>
            <a:pPr algn="ctr"/>
            <a:endParaRPr lang="en-US" sz="2000" b="1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266835" y="4791430"/>
            <a:ext cx="6629403" cy="1430614"/>
          </a:xfrm>
          <a:prstGeom prst="rect">
            <a:avLst/>
          </a:prstGeom>
        </p:spPr>
        <p:txBody>
          <a:bodyPr lIns="0" tIns="0" rIns="0" bIns="0"/>
          <a:lstStyle/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b="1" dirty="0">
                <a:latin typeface="+mj-lt"/>
                <a:cs typeface="Arial" pitchFamily="34" charset="0"/>
              </a:rPr>
              <a:t>Course </a:t>
            </a:r>
            <a:r>
              <a:rPr lang="en-US" sz="2600" b="1" dirty="0" smtClean="0">
                <a:latin typeface="+mj-lt"/>
                <a:cs typeface="Arial" pitchFamily="34" charset="0"/>
              </a:rPr>
              <a:t>Instructor:</a:t>
            </a:r>
            <a:endParaRPr lang="en-US" sz="2600" b="1" dirty="0">
              <a:latin typeface="+mj-lt"/>
              <a:cs typeface="Arial" pitchFamily="34" charset="0"/>
            </a:endParaRP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0070C0"/>
                </a:solidFill>
                <a:latin typeface="+mj-lt"/>
                <a:cs typeface="Arial" pitchFamily="34" charset="0"/>
              </a:rPr>
              <a:t>Mr.R.Chandru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,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Assistant Professor(</a:t>
            </a:r>
            <a:r>
              <a:rPr lang="en-US" sz="2400" b="1" dirty="0" err="1" smtClean="0">
                <a:solidFill>
                  <a:srgbClr val="0070C0"/>
                </a:solidFill>
                <a:latin typeface="+mj-lt"/>
                <a:cs typeface="Arial" pitchFamily="34" charset="0"/>
              </a:rPr>
              <a:t>Sl.G</a:t>
            </a: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)/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ECE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7896234" y="5137409"/>
            <a:ext cx="2743202" cy="467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 dirty="0"/>
              <a:t>No. of </a:t>
            </a:r>
            <a:r>
              <a:rPr lang="fr-FR" sz="2400" b="1" dirty="0" err="1"/>
              <a:t>Credits</a:t>
            </a:r>
            <a:r>
              <a:rPr lang="fr-FR" sz="2400" b="1" dirty="0"/>
              <a:t> </a:t>
            </a:r>
            <a:r>
              <a:rPr lang="fr-FR" sz="2400" b="1" dirty="0" smtClean="0"/>
              <a:t>: 3</a:t>
            </a:r>
            <a:endParaRPr lang="en-US" sz="2400" b="1" dirty="0">
              <a:latin typeface="Lucida Bright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3758631"/>
            <a:ext cx="95964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20EC214 </a:t>
            </a:r>
            <a:r>
              <a:rPr lang="en-US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&amp;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DIGITAL CMOS VLSI CIRCUITS</a:t>
            </a:r>
            <a:endParaRPr lang="fr-FR" sz="3200" b="1" dirty="0">
              <a:solidFill>
                <a:srgbClr val="7030A0"/>
              </a:solidFill>
              <a:latin typeface="Bookman Old Style" panose="02050604050505020204" pitchFamily="18" charset="0"/>
              <a:cs typeface="Arial" pitchFamily="34" charset="0"/>
            </a:endParaRPr>
          </a:p>
          <a:p>
            <a:pPr algn="ctr">
              <a:defRPr/>
            </a:pPr>
            <a:endParaRPr lang="fr-FR" sz="3200" b="1" dirty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835" y="3037182"/>
            <a:ext cx="9604400" cy="536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Department of  Electronics and Communication  Engineering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8" y="1588171"/>
            <a:ext cx="75930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[Educational Service : SNR Sons Charitable Trust]</a:t>
            </a:r>
          </a:p>
          <a:p>
            <a:pPr algn="ctr"/>
            <a:r>
              <a:rPr lang="en-US" sz="1600" dirty="0"/>
              <a:t>  [Autonomous Institution, </a:t>
            </a:r>
            <a:r>
              <a:rPr lang="en-US" sz="1600" dirty="0" smtClean="0"/>
              <a:t>Reaccredited </a:t>
            </a:r>
            <a:r>
              <a:rPr lang="en-US" sz="1600" dirty="0"/>
              <a:t>by NAAC with ‘</a:t>
            </a:r>
            <a:r>
              <a:rPr lang="en-US" sz="1600" dirty="0" smtClean="0"/>
              <a:t>A+’ </a:t>
            </a:r>
            <a:r>
              <a:rPr lang="en-US" sz="1600" dirty="0"/>
              <a:t>Grade]</a:t>
            </a:r>
          </a:p>
          <a:p>
            <a:pPr algn="ctr"/>
            <a:r>
              <a:rPr lang="en-US" sz="1600" dirty="0"/>
              <a:t>      [Approved by AICTE and Permanently Affiliated to Anna University, Chennai]</a:t>
            </a:r>
          </a:p>
          <a:p>
            <a:pPr algn="ctr"/>
            <a:r>
              <a:rPr lang="en-US" sz="1600" dirty="0"/>
              <a:t>        [ISO 9001-2015 Certified and all eligible programmes Accredited by NBA]   </a:t>
            </a:r>
          </a:p>
          <a:p>
            <a:pPr algn="ctr"/>
            <a:r>
              <a:rPr lang="en-US" sz="1600" dirty="0"/>
              <a:t>             VATTAMALAIPALAYAM, N.G.G.O. COLONY POST, COIMBATORE – 641 022.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C9258C-6A34-4EEA-AE4D-5206E875D86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2400" y="1371600"/>
            <a:ext cx="11734802" cy="4343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On successful completion of the course, students will be able to,</a:t>
            </a: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46006A2-30E0-43FC-876C-CE2836461F4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25600" y="441958"/>
            <a:ext cx="89408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OUTCOMES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="" xmlns:a16="http://schemas.microsoft.com/office/drawing/2014/main" id="{7A19BD47-2C52-48CB-86AB-EE9530EE5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55773"/>
              </p:ext>
            </p:extLst>
          </p:nvPr>
        </p:nvGraphicFramePr>
        <p:xfrm>
          <a:off x="609600" y="2209801"/>
          <a:ext cx="10820400" cy="378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73">
                  <a:extLst>
                    <a:ext uri="{9D8B030D-6E8A-4147-A177-3AD203B41FA5}">
                      <a16:colId xmlns="" xmlns:a16="http://schemas.microsoft.com/office/drawing/2014/main" val="2579258821"/>
                    </a:ext>
                  </a:extLst>
                </a:gridCol>
                <a:gridCol w="9776327">
                  <a:extLst>
                    <a:ext uri="{9D8B030D-6E8A-4147-A177-3AD203B41FA5}">
                      <a16:colId xmlns="" xmlns:a16="http://schemas.microsoft.com/office/drawing/2014/main" val="2600226381"/>
                    </a:ext>
                  </a:extLst>
                </a:gridCol>
              </a:tblGrid>
              <a:tr h="3864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00000"/>
                          </a:solidFill>
                          <a:latin typeface="Bookman Old Style" panose="02050604050505020204" pitchFamily="18" charset="0"/>
                        </a:rPr>
                        <a:t>COURSE OUTCOMES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5368251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Interpret the characteristics and manufacturing process technology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of MOS transistor.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43555094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2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Analyze the various logic styles of CMOS combinational and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sequential circuits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09568410"/>
                  </a:ext>
                </a:extLst>
              </a:tr>
              <a:tr h="476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Design the various digital arithmetic logic circuits.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1673281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4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Illustrate the performance of the digital circuits by examining the timing issues.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8387349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5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Make use of MOS concepts in construction of Memory Array Subsystem.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306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46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96B7060-1BA4-42E1-85AD-7DA4ABB1736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03355A1C-B111-4CCF-9F99-3D8DA29B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99" y="1660531"/>
            <a:ext cx="11506202" cy="5105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PREREQUISITES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20EC204 - Digital System Design</a:t>
            </a: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MOS TRANSISTOR AND PROCESSING			  			10</a:t>
            </a:r>
            <a:endParaRPr lang="en-US" sz="5600" b="1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MOSFET theory - Transistor switches - Compound gates - Design equations - IV characteristics - CV characteristics - Second order effects - Energy and Power - Resistance Estimation - Capacitance Estimation - Switching Characteristics - RC Delay Models - Logical Effort for gates - CMOS Process technology - Design Rules and Layout.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fr-FR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CMOS LOGIC STRUCTURES 							11</a:t>
            </a:r>
          </a:p>
          <a:p>
            <a:pPr marL="0" indent="0" algn="just">
              <a:buNone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Combinational Circuits: CMOS Inverter - DC Characteristics - Complementary Logic Structures - Ratioed logic - Pass transistor logic - Transmission gate - Tristate Inverter - Multiplexers - Dynamic logic structures. Sequential 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Circuits: Static latches and Registers, Dynamic latches and Registers, Pulse Registers, Sense Amplifier Based </a:t>
            </a: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Register, Pipelining.</a:t>
            </a: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DESIGN OF ARITHMETIC BUILDING BLOCKS 				8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Full adder, Ripple carry adder, Carry bypass adder, Linear and Square root carry-select adder, Carry look-ahead adder - Multipliers - Barrel and logarithmic shifter.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TIMING ISSUES 		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Timing Basics, Sources of Skew and Jitter, Clock-Distribution Techniques, Latch-Based locking, Self-Timed Circuit Design, Synchronizers and Arbiters, Clock Synthesis and Synchronization Using a Phase-Locked Loop.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MEMORY ARRAY SUBSYSTEM 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SRAM: SRAM Cells, Row Circuitry, Column Circuitry. </a:t>
            </a:r>
            <a:r>
              <a:rPr lang="en-US" sz="56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Multiported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 SRAM and Register files  DRAM: Subarray Architectures, Column Circuitry, Embedded DRAM. Read-Only Memory: Programmable ROMs, NAND ROMs, Flash.</a:t>
            </a:r>
            <a:endParaRPr lang="en-IN" sz="55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6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D5F23E-4B97-4B63-96EF-1A2CA42953C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752600"/>
            <a:ext cx="118110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TEXT BOOKS</a:t>
            </a:r>
          </a:p>
          <a:p>
            <a:pPr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Neil H.E.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Weste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David Harris, "CMOS VLSI Design A Circuits and Systems Perspective", 4th Edition, 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Pearson Education, Reprint 2010.</a:t>
            </a:r>
          </a:p>
          <a:p>
            <a:pPr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Jan M.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Rabaey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Anantha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Chandrakasan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B Nikolic, "Digital Integrated Circuits: A Design Perspective", 2nd 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Edition, Pearson Education India, 2016.</a:t>
            </a:r>
            <a:endParaRPr lang="en-IN" sz="19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REFERENCES</a:t>
            </a:r>
            <a:r>
              <a:rPr lang="en-IN" dirty="0"/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Douglas. A.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Pucknell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Kamran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Eshraghian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"Basic VLSI Design", 3rd Edition, Prentice Hall India, 2010.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John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P.Uyemura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"Introduction to VLSI Circuits and Systems", John Wiley &amp; Sons, 2012.</a:t>
            </a:r>
          </a:p>
          <a:p>
            <a:pPr marL="0" indent="0" algn="just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WEB 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https://nptel.ac.in/courses/108/107/108107129/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https://nptel.ac.in/courses/117/106/117106093/</a:t>
            </a:r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ADA0AE8C-4FFC-FDA7-3637-9AC9C333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161883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8E4B51-1B8E-4E4E-8A93-7E22AE309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0"/>
            <a:ext cx="8686800" cy="4724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CMOS Inverter – DC Characteristics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CMOS Inverter – Transient Characteristics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Complementary Logic Structures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</a:t>
            </a:r>
            <a:r>
              <a:rPr lang="en-IN" sz="21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Ratioed</a:t>
            </a: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Logic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Pass Transistor Logic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Transmission Gate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Tristate Inverter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Multiplexers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Dynamic Logic Structures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Sequential Circuits: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Static Latches and Registers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Dynamic Latches and Registers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Pulse Registers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Sense Amplifier Based Register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 Pipelining</a:t>
            </a: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00F0B4-33BA-48A4-8960-F3E68BD377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CC8DBC-17AA-405C-9FF1-39D3EE8894D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C77551-F1A1-4B49-8894-B2BB15489D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C1679C-11D5-4753-B542-E03E8DAE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06820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5230" y="914400"/>
            <a:ext cx="44231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DC Transfer Characteristics of CMOS Inverter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t="2739" b="1"/>
          <a:stretch/>
        </p:blipFill>
        <p:spPr>
          <a:xfrm>
            <a:off x="457200" y="1726130"/>
            <a:ext cx="4125993" cy="306751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2" y="1675646"/>
            <a:ext cx="6629400" cy="457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76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5230" y="914400"/>
            <a:ext cx="44231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DC Transfer Characteristics of CMOS Inverter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728" y="3600491"/>
            <a:ext cx="3115195" cy="2947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846" y="4221029"/>
            <a:ext cx="1481280" cy="131592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42390" y="1789381"/>
            <a:ext cx="4163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What Do We Mean by </a:t>
            </a:r>
            <a:r>
              <a:rPr lang="en-US" b="1" dirty="0" smtClean="0">
                <a:solidFill>
                  <a:srgbClr val="002060"/>
                </a:solidFill>
              </a:rPr>
              <a:t>DC </a:t>
            </a:r>
            <a:r>
              <a:rPr lang="en-US" b="1" dirty="0">
                <a:solidFill>
                  <a:srgbClr val="002060"/>
                </a:solidFill>
              </a:rPr>
              <a:t>Characteristics?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387363"/>
            <a:ext cx="1059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DC transfer characteristic of a CMOS inverter represents the relationship between </a:t>
            </a:r>
            <a:r>
              <a:rPr lang="en-US" b="1" dirty="0"/>
              <a:t>output voltage (</a:t>
            </a:r>
            <a:r>
              <a:rPr lang="en-US" b="1" dirty="0" err="1"/>
              <a:t>Vout</a:t>
            </a:r>
            <a:r>
              <a:rPr lang="en-US" b="1" dirty="0"/>
              <a:t>)</a:t>
            </a:r>
            <a:r>
              <a:rPr lang="en-US" dirty="0"/>
              <a:t> and </a:t>
            </a:r>
            <a:r>
              <a:rPr lang="en-US" b="1" dirty="0"/>
              <a:t>input voltage (Vin)</a:t>
            </a:r>
            <a:r>
              <a:rPr lang="en-US" dirty="0"/>
              <a:t> when the input changes slowly.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5051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We assume: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capacitive effects (steady state)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Internal capacitances fully charged/discharged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DC current equations apply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5075501"/>
            <a:ext cx="7772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means the current flowing through NMOS must equal the current flowing through PMOS because </a:t>
            </a:r>
            <a:r>
              <a:rPr lang="en-US" b="1" dirty="0">
                <a:solidFill>
                  <a:srgbClr val="002060"/>
                </a:solidFill>
              </a:rPr>
              <a:t>they are connected in series between </a:t>
            </a:r>
            <a:r>
              <a:rPr lang="en-US" b="1" dirty="0" smtClean="0">
                <a:solidFill>
                  <a:srgbClr val="002060"/>
                </a:solidFill>
              </a:rPr>
              <a:t>VDD and </a:t>
            </a:r>
            <a:r>
              <a:rPr lang="en-US" b="1" dirty="0">
                <a:solidFill>
                  <a:srgbClr val="002060"/>
                </a:solidFill>
              </a:rPr>
              <a:t>ground.</a:t>
            </a:r>
          </a:p>
        </p:txBody>
      </p:sp>
    </p:spTree>
    <p:extLst>
      <p:ext uri="{BB962C8B-B14F-4D97-AF65-F5344CB8AC3E}">
        <p14:creationId xmlns:p14="http://schemas.microsoft.com/office/powerpoint/2010/main" val="262289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52600"/>
            <a:ext cx="9840847" cy="45809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45230" y="914400"/>
            <a:ext cx="44231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DC Transfer Characteristics of CMOS Inverter</a:t>
            </a:r>
          </a:p>
        </p:txBody>
      </p:sp>
    </p:spTree>
    <p:extLst>
      <p:ext uri="{BB962C8B-B14F-4D97-AF65-F5344CB8AC3E}">
        <p14:creationId xmlns:p14="http://schemas.microsoft.com/office/powerpoint/2010/main" val="131653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sp>
        <p:nvSpPr>
          <p:cNvPr id="2" name="Rectangle 1"/>
          <p:cNvSpPr/>
          <p:nvPr/>
        </p:nvSpPr>
        <p:spPr>
          <a:xfrm>
            <a:off x="4495800" y="1973357"/>
            <a:ext cx="2805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NMOS Voltage </a:t>
            </a:r>
            <a:r>
              <a:rPr lang="en-US" b="1" dirty="0" smtClean="0">
                <a:solidFill>
                  <a:srgbClr val="002060"/>
                </a:solidFill>
              </a:rPr>
              <a:t>Expressions: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739" b="1"/>
          <a:stretch/>
        </p:blipFill>
        <p:spPr>
          <a:xfrm>
            <a:off x="242809" y="1905000"/>
            <a:ext cx="4125993" cy="30675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540936"/>
            <a:ext cx="4546598" cy="20228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4572294"/>
            <a:ext cx="3923031" cy="15033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4726311"/>
            <a:ext cx="3870622" cy="143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1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0" y="1583279"/>
            <a:ext cx="2776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PMOS </a:t>
            </a:r>
            <a:r>
              <a:rPr lang="en-US" b="1" dirty="0">
                <a:solidFill>
                  <a:srgbClr val="002060"/>
                </a:solidFill>
              </a:rPr>
              <a:t>Voltage </a:t>
            </a:r>
            <a:r>
              <a:rPr lang="en-US" b="1" dirty="0" smtClean="0">
                <a:solidFill>
                  <a:srgbClr val="002060"/>
                </a:solidFill>
              </a:rPr>
              <a:t>Expressions:</a:t>
            </a:r>
            <a:endParaRPr lang="en-US" b="1" dirty="0">
              <a:solidFill>
                <a:srgbClr val="00206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739" b="1"/>
          <a:stretch/>
        </p:blipFill>
        <p:spPr>
          <a:xfrm>
            <a:off x="242809" y="1905000"/>
            <a:ext cx="4125993" cy="30675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45613" b="8786"/>
          <a:stretch/>
        </p:blipFill>
        <p:spPr>
          <a:xfrm>
            <a:off x="4261119" y="3948186"/>
            <a:ext cx="2133600" cy="13713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r="52752" b="15256"/>
          <a:stretch/>
        </p:blipFill>
        <p:spPr>
          <a:xfrm>
            <a:off x="7696200" y="4019730"/>
            <a:ext cx="1828800" cy="12172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802" y="1930255"/>
            <a:ext cx="4429743" cy="21053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581" y="4492779"/>
            <a:ext cx="1924319" cy="18195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514" y="4589452"/>
            <a:ext cx="2419688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41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4803303" cy="42890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209800"/>
            <a:ext cx="5763338" cy="35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4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546083"/>
            <a:ext cx="3524838" cy="749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49" y="2478373"/>
            <a:ext cx="2676899" cy="36295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2000" y="1743713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NMOS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1100" y="1559047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PMOS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646300"/>
            <a:ext cx="2417630" cy="47363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677" y="2370126"/>
            <a:ext cx="1486107" cy="4001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2834" y="4544973"/>
            <a:ext cx="1790950" cy="38105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440" y="5537414"/>
            <a:ext cx="2838846" cy="25721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77107" y="2000794"/>
            <a:ext cx="2427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Because in steady state: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8560" y="2611128"/>
            <a:ext cx="905001" cy="193384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8442157" y="4895318"/>
            <a:ext cx="16423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Output Voltage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3468" y="5447794"/>
            <a:ext cx="1791531" cy="6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8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5010966" cy="7834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58" y="2672731"/>
            <a:ext cx="2505425" cy="11717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2459874"/>
            <a:ext cx="5334744" cy="36295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874688"/>
            <a:ext cx="2829320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62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76400"/>
            <a:ext cx="5010966" cy="7834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1654521"/>
            <a:ext cx="5287113" cy="30007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90800"/>
            <a:ext cx="3381847" cy="16575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t="4154" b="5867"/>
          <a:stretch/>
        </p:blipFill>
        <p:spPr>
          <a:xfrm>
            <a:off x="1142170" y="4898090"/>
            <a:ext cx="9831459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51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4334522" cy="792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43200"/>
            <a:ext cx="9335367" cy="15606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64" y="4501573"/>
            <a:ext cx="362000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97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676400"/>
            <a:ext cx="5029200" cy="6956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2495818"/>
            <a:ext cx="2029108" cy="12765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28829"/>
            <a:ext cx="2876951" cy="21434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68930"/>
            <a:ext cx="3467584" cy="9050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800" y="3020200"/>
            <a:ext cx="7620277" cy="123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40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76400"/>
            <a:ext cx="4367567" cy="827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66" y="2743200"/>
            <a:ext cx="6027868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30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CMOS Inverter – DC Characteristics</a:t>
            </a:r>
          </a:p>
        </p:txBody>
      </p:sp>
      <p:sp>
        <p:nvSpPr>
          <p:cNvPr id="2" name="Rectangle 1"/>
          <p:cNvSpPr/>
          <p:nvPr/>
        </p:nvSpPr>
        <p:spPr>
          <a:xfrm>
            <a:off x="4495800" y="931752"/>
            <a:ext cx="2872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CMOS Inverter – DC Regions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58" y="1500874"/>
            <a:ext cx="11327243" cy="463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00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609600" y="2209800"/>
            <a:ext cx="1060450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F1115"/>
                </a:solidFill>
                <a:latin typeface="quote-cjk-patch"/>
              </a:rPr>
              <a:t>In a standard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CMOS (Complementary) logic gate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, the pull-up network (PUN, made of PMOS) and the pull-down network (PDN, made of NMOS) are designed to be mutually exclusive. For any input combination, </a:t>
            </a:r>
            <a:r>
              <a:rPr lang="en-US" b="1" dirty="0">
                <a:solidFill>
                  <a:srgbClr val="FF0000"/>
                </a:solidFill>
                <a:latin typeface="quote-cjk-patch"/>
              </a:rPr>
              <a:t>either the path to VDD is on, or the path to GND is on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, but </a:t>
            </a:r>
            <a:r>
              <a:rPr lang="en-US" dirty="0">
                <a:solidFill>
                  <a:srgbClr val="FF0000"/>
                </a:solidFill>
                <a:latin typeface="quote-cjk-patch"/>
              </a:rPr>
              <a:t>never both at the same time (except during switching)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 </a:t>
            </a:r>
            <a:endParaRPr lang="en-US" dirty="0" smtClean="0">
              <a:solidFill>
                <a:srgbClr val="0F1115"/>
              </a:solidFill>
              <a:latin typeface="quote-cjk-patch"/>
            </a:endParaRPr>
          </a:p>
          <a:p>
            <a:pPr algn="just"/>
            <a:r>
              <a:rPr lang="en-US" dirty="0" smtClean="0">
                <a:solidFill>
                  <a:srgbClr val="0F1115"/>
                </a:solidFill>
                <a:latin typeface="quote-cjk-patch"/>
              </a:rPr>
              <a:t>This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is called 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ratioless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logic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because the </a:t>
            </a:r>
            <a:r>
              <a:rPr lang="en-US" b="1" dirty="0">
                <a:solidFill>
                  <a:srgbClr val="00B0F0"/>
                </a:solidFill>
                <a:latin typeface="quote-cjk-patch"/>
              </a:rPr>
              <a:t>output voltage doesn't depend on the relative sizes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(ratios) of the transistors; it just gets pulled firmly to VDD or GND.</a:t>
            </a:r>
          </a:p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In 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logic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, we simplify the gate. Instead of a complex, complementary PUN, we replace it with a simple, always-on "load" device. This load could be a resistor or, more commonly in VLSI, a single transistor.</a:t>
            </a:r>
          </a:p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This creates a problem: When the PDN is ON, it creates a direct path from VDD to GND through the load device and the PDN.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405500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838200" y="190500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a standard CMOS inverter: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input is HIGH → output is exactly 0V.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input is LOW → output is exactly VDD.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126432"/>
            <a:ext cx="112776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I make the NMOS transistor 100 times wider than the </a:t>
            </a:r>
            <a:r>
              <a:rPr lang="en-US" dirty="0" smtClean="0"/>
              <a:t>PMOS, does </a:t>
            </a:r>
            <a:r>
              <a:rPr lang="en-US" dirty="0"/>
              <a:t>the output low change from 0V?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127" y="3756276"/>
            <a:ext cx="1064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I make both transistors extremely </a:t>
            </a:r>
            <a:r>
              <a:rPr lang="en-US" dirty="0" smtClean="0"/>
              <a:t>small, does </a:t>
            </a:r>
            <a:r>
              <a:rPr lang="en-US" dirty="0"/>
              <a:t>the output high change from VDD?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4503362"/>
            <a:ext cx="1013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That means the output voltage levels in CMOS do </a:t>
            </a:r>
            <a:r>
              <a:rPr lang="en-US" b="1" dirty="0"/>
              <a:t>not depend on transistor sizing</a:t>
            </a:r>
            <a:r>
              <a:rPr lang="en-US" dirty="0"/>
              <a:t>.</a:t>
            </a:r>
          </a:p>
          <a:p>
            <a:r>
              <a:rPr lang="en-US" dirty="0"/>
              <a:t>That is why CMOS is </a:t>
            </a:r>
            <a:r>
              <a:rPr lang="en-US" dirty="0" smtClean="0"/>
              <a:t>called: </a:t>
            </a:r>
            <a:r>
              <a:rPr lang="en-US" b="1" dirty="0" smtClean="0"/>
              <a:t>RATIOLESS </a:t>
            </a:r>
            <a:r>
              <a:rPr lang="en-US" b="1" dirty="0"/>
              <a:t>LOGIC</a:t>
            </a:r>
          </a:p>
        </p:txBody>
      </p:sp>
    </p:spTree>
    <p:extLst>
      <p:ext uri="{BB962C8B-B14F-4D97-AF65-F5344CB8AC3E}">
        <p14:creationId xmlns:p14="http://schemas.microsoft.com/office/powerpoint/2010/main" val="994748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19321" y="22860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• When input is LOW → output is pulled up to VDD (strong 1).</a:t>
            </a:r>
            <a:br>
              <a:rPr lang="en-US" dirty="0"/>
            </a:br>
            <a:r>
              <a:rPr lang="en-US" dirty="0"/>
              <a:t>• When input is HIGH → output is NOT exactly 0V.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6571" y="1676400"/>
            <a:ext cx="2740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 a </a:t>
            </a:r>
            <a:r>
              <a:rPr lang="en-US" b="1" dirty="0" err="1">
                <a:solidFill>
                  <a:srgbClr val="C00000"/>
                </a:solidFill>
              </a:rPr>
              <a:t>Ratioed</a:t>
            </a:r>
            <a:r>
              <a:rPr lang="en-US" b="1" dirty="0">
                <a:solidFill>
                  <a:srgbClr val="C00000"/>
                </a:solidFill>
              </a:rPr>
              <a:t> Logic Inverter: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216" y="3103604"/>
            <a:ext cx="36177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What Happens When Input = HIGH</a:t>
            </a:r>
            <a:r>
              <a:rPr lang="en-US" b="1" dirty="0" smtClean="0">
                <a:solidFill>
                  <a:srgbClr val="C00000"/>
                </a:solidFill>
              </a:rPr>
              <a:t>?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31802"/>
            <a:ext cx="5763429" cy="1838582"/>
          </a:xfrm>
          <a:prstGeom prst="rect">
            <a:avLst/>
          </a:prstGeom>
        </p:spPr>
      </p:pic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853416" y="3570260"/>
            <a:ext cx="5445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Pull-up load (resistor or weak PMOS) → ALSO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Pull-down NMOS → ON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88" y="3588367"/>
            <a:ext cx="4725623" cy="227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03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304800" y="175260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MOSFET Is NOT an Ideal Switch</a:t>
            </a:r>
          </a:p>
          <a:p>
            <a:r>
              <a:rPr lang="en-US" dirty="0"/>
              <a:t>A MOSFET when ON behaves like:</a:t>
            </a:r>
          </a:p>
          <a:p>
            <a:r>
              <a:rPr lang="en-US" dirty="0"/>
              <a:t>👉 A voltage-controlled resistor.</a:t>
            </a:r>
          </a:p>
          <a:p>
            <a:r>
              <a:rPr lang="en-US" dirty="0"/>
              <a:t>Its resistance is not fixed — it depends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Transistor size (W/L)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Mobility (μ)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 parameters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0788" y="17389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Where Does “Strength” Come From?</a:t>
            </a:r>
          </a:p>
          <a:p>
            <a:r>
              <a:rPr lang="en-US" dirty="0"/>
              <a:t>Transistor strength is represented by: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950" y="2385270"/>
            <a:ext cx="1209844" cy="6382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38800" y="302353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dirty="0" smtClean="0"/>
              <a:t>μ </a:t>
            </a:r>
            <a:r>
              <a:rPr lang="el-GR" dirty="0"/>
              <a:t>= </a:t>
            </a:r>
            <a:r>
              <a:rPr lang="en-US" dirty="0"/>
              <a:t>carrier mobility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Cox</a:t>
            </a:r>
            <a:r>
              <a:rPr lang="en-US" dirty="0"/>
              <a:t>​ = oxide capacitance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W </a:t>
            </a:r>
            <a:r>
              <a:rPr lang="en-US" dirty="0"/>
              <a:t>= transistor width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 </a:t>
            </a:r>
            <a:r>
              <a:rPr lang="en-US" dirty="0"/>
              <a:t>= transistor length</a:t>
            </a:r>
          </a:p>
          <a:p>
            <a:r>
              <a:rPr lang="en-US" dirty="0"/>
              <a:t>So:</a:t>
            </a:r>
          </a:p>
          <a:p>
            <a:r>
              <a:rPr lang="en-US" dirty="0"/>
              <a:t>✔ Larger W → larger </a:t>
            </a:r>
            <a:r>
              <a:rPr lang="el-GR" dirty="0"/>
              <a:t>β → </a:t>
            </a:r>
            <a:r>
              <a:rPr lang="en-US" dirty="0"/>
              <a:t>stronger transistor</a:t>
            </a:r>
            <a:br>
              <a:rPr lang="en-US" dirty="0"/>
            </a:br>
            <a:r>
              <a:rPr lang="en-US" dirty="0"/>
              <a:t>✔ Smaller L → larger </a:t>
            </a:r>
            <a:r>
              <a:rPr lang="el-GR" dirty="0"/>
              <a:t>β → </a:t>
            </a:r>
            <a:r>
              <a:rPr lang="en-US" dirty="0"/>
              <a:t>stronger transistor</a:t>
            </a:r>
          </a:p>
        </p:txBody>
      </p:sp>
    </p:spTree>
    <p:extLst>
      <p:ext uri="{BB962C8B-B14F-4D97-AF65-F5344CB8AC3E}">
        <p14:creationId xmlns:p14="http://schemas.microsoft.com/office/powerpoint/2010/main" val="766585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57200" y="1676400"/>
            <a:ext cx="2608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ON Resistance of MOSFET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411240"/>
            <a:ext cx="5125165" cy="37819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252" y="2045732"/>
            <a:ext cx="4563112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89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85" y="1550235"/>
            <a:ext cx="543000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16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57200" y="1676400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 </a:t>
            </a:r>
            <a:r>
              <a:rPr lang="en-US" b="1" dirty="0" err="1"/>
              <a:t>Ratioed</a:t>
            </a:r>
            <a:r>
              <a:rPr lang="en-US" b="1" dirty="0"/>
              <a:t> Logic, the Pull-Up Is Designed to Be Always ON</a:t>
            </a:r>
          </a:p>
          <a:p>
            <a:r>
              <a:rPr lang="en-US" dirty="0"/>
              <a:t>Unlike CMOS,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PMOS turns OFF when input = 1</a:t>
            </a:r>
          </a:p>
          <a:p>
            <a:r>
              <a:rPr lang="en-US" dirty="0"/>
              <a:t>In </a:t>
            </a:r>
            <a:r>
              <a:rPr lang="en-US" b="1" dirty="0" err="1"/>
              <a:t>ratioed</a:t>
            </a:r>
            <a:r>
              <a:rPr lang="en-US" b="1" dirty="0"/>
              <a:t> logic</a:t>
            </a:r>
            <a:r>
              <a:rPr lang="en-US" dirty="0"/>
              <a:t>, the pull-up device is </a:t>
            </a:r>
            <a:r>
              <a:rPr lang="en-US" b="1" dirty="0"/>
              <a:t>not controlled by the input</a:t>
            </a:r>
            <a:r>
              <a:rPr lang="en-US" dirty="0"/>
              <a:t>.</a:t>
            </a:r>
          </a:p>
          <a:p>
            <a:r>
              <a:rPr lang="en-US" dirty="0"/>
              <a:t>It is intentionally biased so that:</a:t>
            </a:r>
          </a:p>
          <a:p>
            <a:r>
              <a:rPr lang="en-US" dirty="0"/>
              <a:t>👉 It is always conducting.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54062"/>
            <a:ext cx="3713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Two Common Types of Pull-Up Loads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83203"/>
            <a:ext cx="2743583" cy="24577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19400"/>
            <a:ext cx="4324954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21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05000"/>
            <a:ext cx="6354062" cy="3943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704818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57200" y="17225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Case 1</a:t>
            </a:r>
          </a:p>
          <a:p>
            <a:r>
              <a:rPr lang="en-US" b="1" dirty="0"/>
              <a:t>NMOS 100× Wider Than Pull-Up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6102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That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NMOS is very strong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RPDN</a:t>
            </a:r>
            <a:r>
              <a:rPr lang="en-US" dirty="0"/>
              <a:t>​ is very small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Pull-up load is weak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 smtClean="0"/>
              <a:t>Rload</a:t>
            </a:r>
            <a:r>
              <a:rPr lang="en-US" dirty="0"/>
              <a:t>​ is large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661" y="2049468"/>
            <a:ext cx="2524477" cy="7240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528" y="3091540"/>
            <a:ext cx="2800741" cy="6287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455" y="2368897"/>
            <a:ext cx="990738" cy="44773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27033" y="3305877"/>
            <a:ext cx="345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✔ Output LOW moves closer to 0V.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800" y="410029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smtClean="0"/>
              <a:t>Case 2</a:t>
            </a:r>
          </a:p>
          <a:p>
            <a:r>
              <a:rPr lang="en-US" b="1" smtClean="0"/>
              <a:t>NMOS Weaker Than Pull-Up</a:t>
            </a:r>
            <a:endParaRPr lang="en-US" b="1" dirty="0"/>
          </a:p>
        </p:txBody>
      </p:sp>
      <p:sp>
        <p:nvSpPr>
          <p:cNvPr id="14" name="Rectangle 13"/>
          <p:cNvSpPr/>
          <p:nvPr/>
        </p:nvSpPr>
        <p:spPr>
          <a:xfrm>
            <a:off x="270095" y="484641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NMOS is weak → large resistance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Pull-up is strong → small resistance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293" y="4816921"/>
            <a:ext cx="2610214" cy="68589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0954" y="4474889"/>
            <a:ext cx="1171739" cy="37152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874683" y="5328022"/>
            <a:ext cx="376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✔ Output LOW increases toward VDD.</a:t>
            </a:r>
          </a:p>
        </p:txBody>
      </p:sp>
    </p:spTree>
    <p:extLst>
      <p:ext uri="{BB962C8B-B14F-4D97-AF65-F5344CB8AC3E}">
        <p14:creationId xmlns:p14="http://schemas.microsoft.com/office/powerpoint/2010/main" val="576634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02" y="1646222"/>
            <a:ext cx="5715000" cy="449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81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45732"/>
            <a:ext cx="5534271" cy="293115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467" y="2045732"/>
            <a:ext cx="5519056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55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762000" y="1905000"/>
            <a:ext cx="2438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CONDITION 2: Input = 1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67" y="2561774"/>
            <a:ext cx="5668166" cy="21338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424" y="1701297"/>
            <a:ext cx="5229955" cy="2143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722393"/>
            <a:ext cx="4887007" cy="14003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502437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✔ Good LOW</a:t>
            </a:r>
            <a:br>
              <a:rPr lang="en-US" dirty="0"/>
            </a:br>
            <a:r>
              <a:rPr lang="en-US" dirty="0"/>
              <a:t>✔ But not exactly 0V</a:t>
            </a:r>
            <a:br>
              <a:rPr lang="en-US" dirty="0"/>
            </a:br>
            <a:r>
              <a:rPr lang="en-US" dirty="0"/>
              <a:t>✔ Static current flows continuously</a:t>
            </a:r>
          </a:p>
        </p:txBody>
      </p:sp>
    </p:spTree>
    <p:extLst>
      <p:ext uri="{BB962C8B-B14F-4D97-AF65-F5344CB8AC3E}">
        <p14:creationId xmlns:p14="http://schemas.microsoft.com/office/powerpoint/2010/main" val="2619570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01297"/>
            <a:ext cx="4382112" cy="1600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091" y="1763677"/>
            <a:ext cx="5191850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834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1447800" y="1861066"/>
            <a:ext cx="16249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Summary Table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78051"/>
            <a:ext cx="8438029" cy="190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9516" y="4724400"/>
            <a:ext cx="105042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“When input is 0, only one transistor conducts — so output is perfect.</a:t>
            </a:r>
          </a:p>
          <a:p>
            <a:r>
              <a:rPr lang="en-US" dirty="0"/>
              <a:t>When input is 1, two transistors conduct — so they divide voltage.</a:t>
            </a:r>
          </a:p>
          <a:p>
            <a:r>
              <a:rPr lang="en-US" dirty="0"/>
              <a:t>The LOW level is determined by who wins the strength battle.”</a:t>
            </a:r>
          </a:p>
        </p:txBody>
      </p:sp>
    </p:spTree>
    <p:extLst>
      <p:ext uri="{BB962C8B-B14F-4D97-AF65-F5344CB8AC3E}">
        <p14:creationId xmlns:p14="http://schemas.microsoft.com/office/powerpoint/2010/main" val="2311843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17256"/>
            <a:ext cx="4004003" cy="35825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0" y="1500085"/>
            <a:ext cx="15431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Pseudo-</a:t>
            </a:r>
            <a:r>
              <a:rPr lang="en-US" b="1" dirty="0" err="1">
                <a:solidFill>
                  <a:srgbClr val="C00000"/>
                </a:solidFill>
              </a:rPr>
              <a:t>nMOS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514600"/>
            <a:ext cx="5275309" cy="34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23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623180" y="1861066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Dynamic Logic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14600"/>
            <a:ext cx="4239217" cy="30579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247" y="2360093"/>
            <a:ext cx="3562709" cy="323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0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914400" y="1887270"/>
            <a:ext cx="1462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Domino Logic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6" y="2667000"/>
            <a:ext cx="5715798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79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3110"/>
            <a:ext cx="6925642" cy="4191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96" y="1905000"/>
            <a:ext cx="6420746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485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53460"/>
            <a:ext cx="6120081" cy="37091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90" y="2743200"/>
            <a:ext cx="4782023" cy="248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79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35926"/>
            <a:ext cx="4239217" cy="30579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724400" y="1736661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DYNAMIC CMOS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324419"/>
            <a:ext cx="4848346" cy="19018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560" y="4280487"/>
            <a:ext cx="5096586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331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3114"/>
            <a:ext cx="4239217" cy="305795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650" y="2102925"/>
            <a:ext cx="7373744" cy="323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283114"/>
            <a:ext cx="4239217" cy="30579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910" y="1545227"/>
            <a:ext cx="5389113" cy="28838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752" y="4478933"/>
            <a:ext cx="3400900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801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033435" y="1676400"/>
            <a:ext cx="4048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ADVANTAGES OF DYNAMIC CMOS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50485"/>
            <a:ext cx="5638800" cy="18195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118460"/>
            <a:ext cx="4953691" cy="21338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2050647"/>
            <a:ext cx="6032181" cy="208984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1078" y="4118460"/>
            <a:ext cx="4229722" cy="206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29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00200"/>
            <a:ext cx="4096322" cy="2438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173677"/>
            <a:ext cx="4486901" cy="20576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715" y="1600200"/>
            <a:ext cx="4410691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551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141148" y="1496027"/>
            <a:ext cx="40575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CHALLENGES OF DYNAMIC CMOS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185" r="5426"/>
          <a:stretch/>
        </p:blipFill>
        <p:spPr>
          <a:xfrm>
            <a:off x="76200" y="1865359"/>
            <a:ext cx="5791200" cy="41344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305" r="5489"/>
          <a:stretch/>
        </p:blipFill>
        <p:spPr>
          <a:xfrm>
            <a:off x="5994401" y="2095761"/>
            <a:ext cx="6096001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53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12614"/>
            <a:ext cx="5439534" cy="2438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3810000"/>
            <a:ext cx="5220429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993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590800"/>
            <a:ext cx="5715798" cy="310558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136270" y="1798891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Domino Logic</a:t>
            </a:r>
          </a:p>
        </p:txBody>
      </p:sp>
    </p:spTree>
    <p:extLst>
      <p:ext uri="{BB962C8B-B14F-4D97-AF65-F5344CB8AC3E}">
        <p14:creationId xmlns:p14="http://schemas.microsoft.com/office/powerpoint/2010/main" val="4251725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038600" y="1600200"/>
            <a:ext cx="3300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Limitations of Domino Logic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54" y="2269402"/>
            <a:ext cx="4591691" cy="27054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2" y="2369912"/>
            <a:ext cx="4639322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07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30744"/>
            <a:ext cx="5153744" cy="41630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33443" y="3472936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Monotonicity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952068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33" y="1638133"/>
            <a:ext cx="8030557" cy="475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29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639098" y="1676400"/>
            <a:ext cx="2104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NP Domino Logic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09600" y="2087942"/>
            <a:ext cx="1048610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NP Domino logic, also called </a:t>
            </a:r>
            <a:r>
              <a:rPr lang="en-US" b="1" dirty="0"/>
              <a:t>NORA (No Race) Logic</a:t>
            </a:r>
            <a:r>
              <a:rPr lang="en-US" dirty="0"/>
              <a:t>, is an advanced form of dynamic CMOS logic in which </a:t>
            </a:r>
            <a:r>
              <a:rPr lang="en-US" b="1" dirty="0"/>
              <a:t>N-type and P-type dynamic stages are alternated</a:t>
            </a:r>
            <a:r>
              <a:rPr lang="en-US" dirty="0"/>
              <a:t> to allow safe cascading without using static inverters.</a:t>
            </a:r>
          </a:p>
          <a:p>
            <a:r>
              <a:rPr lang="en-US" dirty="0"/>
              <a:t>It overcomes the limitations of conventional domino logic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 inverter delay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non-inverting logic possible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900" y="3884478"/>
            <a:ext cx="87335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Core Idea:</a:t>
            </a:r>
            <a:endParaRPr lang="en-IN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F1115"/>
                </a:solidFill>
                <a:latin typeface="quote-cjk-patch"/>
              </a:rPr>
              <a:t>N-Domino stage:</a:t>
            </a:r>
            <a:r>
              <a:rPr lang="en-IN" dirty="0">
                <a:solidFill>
                  <a:srgbClr val="0F1115"/>
                </a:solidFill>
                <a:latin typeface="quote-cjk-patch"/>
              </a:rPr>
              <a:t> Uses NMOS pull-down network, </a:t>
            </a:r>
            <a:r>
              <a:rPr lang="en-IN" dirty="0" err="1">
                <a:solidFill>
                  <a:srgbClr val="0F1115"/>
                </a:solidFill>
                <a:latin typeface="quote-cjk-patch"/>
              </a:rPr>
              <a:t>precharges</a:t>
            </a:r>
            <a:r>
              <a:rPr lang="en-IN" dirty="0">
                <a:solidFill>
                  <a:srgbClr val="0F1115"/>
                </a:solidFill>
                <a:latin typeface="quote-cjk-patch"/>
              </a:rPr>
              <a:t> HIGH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F1115"/>
                </a:solidFill>
                <a:latin typeface="quote-cjk-patch"/>
              </a:rPr>
              <a:t>P-Domino stage:</a:t>
            </a:r>
            <a:r>
              <a:rPr lang="en-IN" dirty="0">
                <a:solidFill>
                  <a:srgbClr val="0F1115"/>
                </a:solidFill>
                <a:latin typeface="quote-cjk-patch"/>
              </a:rPr>
              <a:t> Uses PMOS pull-up network, </a:t>
            </a:r>
            <a:r>
              <a:rPr lang="en-IN" dirty="0" err="1">
                <a:solidFill>
                  <a:srgbClr val="0F1115"/>
                </a:solidFill>
                <a:latin typeface="quote-cjk-patch"/>
              </a:rPr>
              <a:t>precharges</a:t>
            </a:r>
            <a:r>
              <a:rPr lang="en-IN" dirty="0">
                <a:solidFill>
                  <a:srgbClr val="0F1115"/>
                </a:solidFill>
                <a:latin typeface="quote-cjk-patch"/>
              </a:rPr>
              <a:t> 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F1115"/>
                </a:solidFill>
                <a:latin typeface="quote-cjk-patch"/>
              </a:rPr>
              <a:t>Alternating arrangement eliminates need for static inverters between stages</a:t>
            </a:r>
          </a:p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Key Innovation:</a:t>
            </a:r>
            <a:endParaRPr lang="en-IN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F1115"/>
                </a:solidFill>
                <a:latin typeface="quote-cjk-patch"/>
              </a:rPr>
              <a:t>True logic and complementary logic in same 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F1115"/>
                </a:solidFill>
                <a:latin typeface="quote-cjk-patch"/>
              </a:rPr>
              <a:t>No static inverters between stages (saves area and delay)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F1115"/>
                </a:solidFill>
                <a:latin typeface="quote-cjk-patch"/>
              </a:rPr>
              <a:t>Single clock controlling entire pipeline (with proper timing)</a:t>
            </a:r>
            <a:endParaRPr lang="en-IN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9363175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588" y="1851401"/>
            <a:ext cx="80962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521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228600" y="1861066"/>
            <a:ext cx="2269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N-Type Dynamic 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0" y="1689207"/>
            <a:ext cx="223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P-Type </a:t>
            </a:r>
            <a:r>
              <a:rPr lang="en-IN" dirty="0"/>
              <a:t>Dynamic Block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59" y="2751504"/>
            <a:ext cx="5594101" cy="27026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49" y="2464014"/>
            <a:ext cx="4412953" cy="246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325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457200" y="1861066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Clocking Scheme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514600"/>
            <a:ext cx="7924800" cy="330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039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609600" y="1691185"/>
            <a:ext cx="1874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Working Principle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528" y="1651379"/>
            <a:ext cx="62066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090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1303924" y="1861066"/>
            <a:ext cx="3133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TRANSMISSION GATE IN CMOS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815" y="243840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Definition: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A transmission gate is a solid-state semiconductor switch that controls the transmission path of analog and digital signals using digitally controlled logic levels.</a:t>
            </a:r>
          </a:p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Also Known As: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Bilateral switch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CMOS analog switch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TG (Transmission Gate)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4295" y="1743798"/>
            <a:ext cx="4476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Why Do We Need Transmission Gates?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90815" y="2474549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Applications Requiring Electronic Switching: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Switching and routing of digital signals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Switching and routing of analogue signals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Multiplexers and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demultiplexers</a:t>
            </a: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Latches and flip-flops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Sample-and-hold circuits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Switched capacitor circuits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Bus drivers and isolators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Audio and video signal routing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3527372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681461" y="1691185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NMOS Switch</a:t>
            </a:r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2" y="1524000"/>
            <a:ext cx="6220693" cy="17052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61" y="3229213"/>
            <a:ext cx="6853500" cy="261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664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304800" y="1841445"/>
            <a:ext cx="3826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MOSFET as a Switch - PMOS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4106"/>
            <a:ext cx="6230219" cy="17337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723" y="1912340"/>
            <a:ext cx="6817757" cy="24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611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3425967" y="1696872"/>
            <a:ext cx="51091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Problem with Single Transistor Switches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286000"/>
            <a:ext cx="7451247" cy="254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468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1066800" y="2045732"/>
            <a:ext cx="2249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Transmission Gate</a:t>
            </a:r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2630271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quote-cjk-patch"/>
              </a:rPr>
              <a:t>Combine NMOS and PMOS in parallel to get the best of </a:t>
            </a:r>
            <a:r>
              <a:rPr lang="en-US" b="1" dirty="0" smtClean="0">
                <a:solidFill>
                  <a:srgbClr val="FF0000"/>
                </a:solidFill>
                <a:latin typeface="quote-cjk-patch"/>
              </a:rPr>
              <a:t>both.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96370" y="3761603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quote-cjk-patch"/>
              </a:rPr>
              <a:t>As signal voltage changes: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latin typeface="quote-cjk-patch"/>
              </a:rPr>
              <a:t>Near 0V: NMOS conducts strongly, PMOS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latin typeface="quote-cjk-patch"/>
              </a:rPr>
              <a:t>Near VDD: PMOS conducts strongly, NMOS helps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  <a:latin typeface="quote-cjk-patch"/>
              </a:rPr>
              <a:t>Throughout range: At least one transistor conducts well</a:t>
            </a:r>
            <a:endParaRPr lang="en-US" b="1" i="0" dirty="0">
              <a:solidFill>
                <a:srgbClr val="0070C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8954540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399301" y="1544616"/>
            <a:ext cx="2249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Transmission Gate</a:t>
            </a:r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821037"/>
            <a:ext cx="9803631" cy="41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766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145970" y="1491734"/>
            <a:ext cx="4737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Transmission Gate - Operation (ON State)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1973201"/>
            <a:ext cx="7511973" cy="4276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75843"/>
            <a:ext cx="2695951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859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2275" y="1491734"/>
            <a:ext cx="4852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Transmission Gate - Operation (OFF State)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028672"/>
            <a:ext cx="6929233" cy="39857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48547"/>
            <a:ext cx="2695951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103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3886200" y="1704833"/>
            <a:ext cx="3681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F1115"/>
                </a:solidFill>
                <a:latin typeface="quote-cjk-patch"/>
              </a:rPr>
              <a:t>Transmission Gate - Truth Table</a:t>
            </a:r>
            <a:endParaRPr lang="en-I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27" y="2156134"/>
            <a:ext cx="8081368" cy="30667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61179" y="538514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Lato"/>
              </a:rPr>
              <a:t>Boolean </a:t>
            </a:r>
            <a:r>
              <a:rPr lang="en-US" dirty="0">
                <a:solidFill>
                  <a:srgbClr val="C00000"/>
                </a:solidFill>
                <a:latin typeface="Lato"/>
              </a:rPr>
              <a:t>expression for a transmission gate of:</a:t>
            </a:r>
          </a:p>
          <a:p>
            <a:pPr algn="ctr"/>
            <a:r>
              <a:rPr lang="en-US" dirty="0">
                <a:solidFill>
                  <a:srgbClr val="C00000"/>
                </a:solidFill>
                <a:latin typeface="Lato"/>
              </a:rPr>
              <a:t>B = </a:t>
            </a:r>
            <a:r>
              <a:rPr lang="en-US" dirty="0" err="1">
                <a:solidFill>
                  <a:srgbClr val="C00000"/>
                </a:solidFill>
                <a:latin typeface="Lato"/>
              </a:rPr>
              <a:t>A.Control</a:t>
            </a:r>
            <a:endParaRPr lang="en-US" b="0" i="0" dirty="0">
              <a:solidFill>
                <a:srgbClr val="C00000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620234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392641" y="1861066"/>
            <a:ext cx="3278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Pass Transistor (NMOS) Structure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74716"/>
            <a:ext cx="7792629" cy="40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34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251707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0" y="9144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Logic Families: 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Ratioed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Pseudo-</a:t>
            </a:r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nMOS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, and Pass-Transistor Logic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06208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EAA2D99-0CE9-4B69-B1A8-E624B1F7EC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186D1F-D4E6-44E9-AD04-D064F5A4A04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457791-EB65-4FF3-9D92-0133897C55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8444026-1171-4F07-A90B-DB793F7B3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789C73-14EE-4C88-82A7-0C34117A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92" y="1676400"/>
            <a:ext cx="5158416" cy="34121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EF60984-8AAE-607C-F252-7AA4CF9A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482268554"/>
      </p:ext>
    </p:extLst>
  </p:cSld>
  <p:clrMapOvr>
    <a:masterClrMapping/>
  </p:clrMapOvr>
</p:sld>
</file>

<file path=ppt/theme/theme1.xml><?xml version="1.0" encoding="utf-8"?>
<a:theme xmlns:a="http://schemas.openxmlformats.org/drawingml/2006/main" name="EEE Presentation 2019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EEE Presentation 2019-1</Template>
  <TotalTime>2645</TotalTime>
  <Words>2207</Words>
  <Application>Microsoft Office PowerPoint</Application>
  <PresentationFormat>Widescreen</PresentationFormat>
  <Paragraphs>520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Arial</vt:lpstr>
      <vt:lpstr>Bookman Old Style</vt:lpstr>
      <vt:lpstr>Calibri</vt:lpstr>
      <vt:lpstr>Lato</vt:lpstr>
      <vt:lpstr>Lucida Bright</vt:lpstr>
      <vt:lpstr>quote-cjk-patch</vt:lpstr>
      <vt:lpstr>Times New Roman</vt:lpstr>
      <vt:lpstr>Wingdings</vt:lpstr>
      <vt:lpstr>EEE Presentation 2019-1</vt:lpstr>
      <vt:lpstr>PowerPoint Presentation</vt:lpstr>
      <vt:lpstr>20EC214 - DIGITAL CMOS VLSI CIRCUITS COURSE OUTCOMES</vt:lpstr>
      <vt:lpstr>20EC214 - DIGITAL CMOS VLSI CIRCUITS COURSE CONTENTS</vt:lpstr>
      <vt:lpstr>20EC214 - DIGITAL CMOS VLSI CIRCUITS COURSE CONTENTS</vt:lpstr>
      <vt:lpstr>MODULE 2  MOS TRANSISTOR AND PROCESSING TECHNOLOGY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CMOS Inverter – DC Characteristics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1  MOS TRANSISTOR AND PROCESSING TECHNOLOGY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Gopu</dc:creator>
  <cp:lastModifiedBy>Microsoft account</cp:lastModifiedBy>
  <cp:revision>304</cp:revision>
  <dcterms:created xsi:type="dcterms:W3CDTF">2019-05-31T06:52:53Z</dcterms:created>
  <dcterms:modified xsi:type="dcterms:W3CDTF">2026-04-14T06:33:48Z</dcterms:modified>
</cp:coreProperties>
</file>