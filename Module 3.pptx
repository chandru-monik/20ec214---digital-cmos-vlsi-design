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25"/>
  </p:notesMasterIdLst>
  <p:sldIdLst>
    <p:sldId id="591" r:id="rId2"/>
    <p:sldId id="592" r:id="rId3"/>
    <p:sldId id="593" r:id="rId4"/>
    <p:sldId id="594" r:id="rId5"/>
    <p:sldId id="595" r:id="rId6"/>
    <p:sldId id="580" r:id="rId7"/>
    <p:sldId id="581" r:id="rId8"/>
    <p:sldId id="589" r:id="rId9"/>
    <p:sldId id="590" r:id="rId10"/>
    <p:sldId id="582" r:id="rId11"/>
    <p:sldId id="601" r:id="rId12"/>
    <p:sldId id="602" r:id="rId13"/>
    <p:sldId id="583" r:id="rId14"/>
    <p:sldId id="584" r:id="rId15"/>
    <p:sldId id="585" r:id="rId16"/>
    <p:sldId id="586" r:id="rId17"/>
    <p:sldId id="587" r:id="rId18"/>
    <p:sldId id="588" r:id="rId19"/>
    <p:sldId id="596" r:id="rId20"/>
    <p:sldId id="597" r:id="rId21"/>
    <p:sldId id="598" r:id="rId22"/>
    <p:sldId id="599" r:id="rId23"/>
    <p:sldId id="4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552" autoAdjust="0"/>
  </p:normalViewPr>
  <p:slideViewPr>
    <p:cSldViewPr>
      <p:cViewPr varScale="1">
        <p:scale>
          <a:sx n="84" d="100"/>
          <a:sy n="84" d="100"/>
        </p:scale>
        <p:origin x="595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335A0-DBCE-44E5-9B40-295659989D62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5C9B3-241D-4FF0-B990-4FABA7B21D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3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5C9B3-241D-4FF0-B990-4FABA7B21D3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18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4" y="152402"/>
            <a:ext cx="8839202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14" y="2362202"/>
            <a:ext cx="10791497" cy="3733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9"/>
          <p:cNvSpPr>
            <a:spLocks noGrp="1"/>
          </p:cNvSpPr>
          <p:nvPr userDrawn="1">
            <p:ph type="dt" sz="half" idx="2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365AEF63-01FC-4134-AE19-ADFEE9DC515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 userDrawn="1">
            <p:ph type="sldNum" sz="quarter" idx="4"/>
          </p:nvPr>
        </p:nvSpPr>
        <p:spPr>
          <a:xfrm>
            <a:off x="8737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 userDrawn="1">
            <p:ph type="ftr" sz="quarter" idx="3"/>
          </p:nvPr>
        </p:nvSpPr>
        <p:spPr>
          <a:xfrm>
            <a:off x="41656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4" y="152402"/>
            <a:ext cx="8839202" cy="609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1828802"/>
            <a:ext cx="11582400" cy="4495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154B9F69-0570-4328-A351-624C6148D36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5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41656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4"/>
          </p:nvPr>
        </p:nvSpPr>
        <p:spPr>
          <a:xfrm>
            <a:off x="8737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304802" y="1981200"/>
            <a:ext cx="11582400" cy="4343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latin typeface="Times New Roman" pitchFamily="18" charset="0"/>
                <a:cs typeface="Times New Roman" pitchFamily="18" charset="0"/>
              </a:defRPr>
            </a:lvl1pPr>
            <a:lvl2pPr>
              <a:defRPr sz="3600">
                <a:latin typeface="Times New Roman" pitchFamily="18" charset="0"/>
                <a:cs typeface="Times New Roman" pitchFamily="18" charset="0"/>
              </a:defRPr>
            </a:lvl2pPr>
            <a:lvl3pPr>
              <a:defRPr sz="3200">
                <a:latin typeface="Times New Roman" pitchFamily="18" charset="0"/>
                <a:cs typeface="Times New Roman" pitchFamily="18" charset="0"/>
              </a:defRPr>
            </a:lvl3pPr>
            <a:lvl4pPr>
              <a:defRPr sz="2800">
                <a:latin typeface="Times New Roman" pitchFamily="18" charset="0"/>
                <a:cs typeface="Times New Roman" pitchFamily="18" charset="0"/>
              </a:defRPr>
            </a:lvl4pPr>
            <a:lvl5pPr>
              <a:defRPr sz="2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4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BAC2C7B5-640A-463A-A6C4-C7EBD7B37899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5"/>
          </p:nvPr>
        </p:nvSpPr>
        <p:spPr>
          <a:xfrm>
            <a:off x="9042402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6"/>
          </p:nvPr>
        </p:nvSpPr>
        <p:spPr>
          <a:xfrm>
            <a:off x="43688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625600" y="251461"/>
            <a:ext cx="8940800" cy="5867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35" y="457200"/>
            <a:ext cx="393276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38" y="987429"/>
            <a:ext cx="617220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35" y="2057403"/>
            <a:ext cx="3932766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689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4" y="152402"/>
            <a:ext cx="8839202" cy="762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"/>
            <a:ext cx="12192000" cy="6858000"/>
          </a:xfrm>
          <a:prstGeom prst="rect">
            <a:avLst/>
          </a:prstGeom>
          <a:noFill/>
          <a:ln w="952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76200" y="1447800"/>
            <a:ext cx="121158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7203" y="116175"/>
            <a:ext cx="972478" cy="1179225"/>
          </a:xfrm>
          <a:prstGeom prst="rect">
            <a:avLst/>
          </a:prstGeom>
        </p:spPr>
      </p:pic>
      <p:pic>
        <p:nvPicPr>
          <p:cNvPr id="11" name="Picture 10" descr="A logo with text and a flower&#10;&#10;AI-generated content may be incorrect."/>
          <p:cNvPicPr/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0893" y="116175"/>
            <a:ext cx="998220" cy="11049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6" r:id="rId2"/>
    <p:sldLayoutId id="2147483674" r:id="rId3"/>
    <p:sldLayoutId id="2147483678" r:id="rId4"/>
  </p:sldLayoutIdLst>
  <p:hf hdr="0"/>
  <p:txStyles>
    <p:titleStyle>
      <a:lvl1pPr marL="0" algn="ctr" defTabSz="914400" rtl="0" eaLnBrk="1" latinLnBrk="0" hangingPunct="1">
        <a:spcBef>
          <a:spcPct val="0"/>
        </a:spcBef>
        <a:buNone/>
        <a:defRPr lang="en-US" sz="3600" b="1" kern="1200" dirty="0">
          <a:solidFill>
            <a:schemeClr val="bg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498611" y="2"/>
            <a:ext cx="9140827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US" sz="2800" b="1" dirty="0"/>
          </a:p>
          <a:p>
            <a:pPr algn="ctr"/>
            <a:r>
              <a:rPr lang="en-US" sz="3200" b="1" dirty="0"/>
              <a:t>SRI RAMAKRISHNA ENGINEERING COLLEGE</a:t>
            </a:r>
            <a:endParaRPr lang="en-US" sz="3200" dirty="0"/>
          </a:p>
          <a:p>
            <a:pPr algn="ctr"/>
            <a:endParaRPr lang="en-US" sz="2000" b="1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266835" y="4791430"/>
            <a:ext cx="6629403" cy="1430614"/>
          </a:xfrm>
          <a:prstGeom prst="rect">
            <a:avLst/>
          </a:prstGeom>
        </p:spPr>
        <p:txBody>
          <a:bodyPr lIns="0" tIns="0" rIns="0" bIns="0"/>
          <a:lstStyle/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b="1" dirty="0">
                <a:latin typeface="+mj-lt"/>
                <a:cs typeface="Arial" pitchFamily="34" charset="0"/>
              </a:rPr>
              <a:t>Course </a:t>
            </a:r>
            <a:r>
              <a:rPr lang="en-US" sz="2600" b="1" dirty="0" smtClean="0">
                <a:latin typeface="+mj-lt"/>
                <a:cs typeface="Arial" pitchFamily="34" charset="0"/>
              </a:rPr>
              <a:t>Instructor:</a:t>
            </a:r>
            <a:endParaRPr lang="en-US" sz="2600" b="1" dirty="0">
              <a:latin typeface="+mj-lt"/>
              <a:cs typeface="Arial" pitchFamily="34" charset="0"/>
            </a:endParaRP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400" b="1" dirty="0" err="1">
                <a:solidFill>
                  <a:srgbClr val="0070C0"/>
                </a:solidFill>
                <a:latin typeface="+mj-lt"/>
                <a:cs typeface="Arial" pitchFamily="34" charset="0"/>
              </a:rPr>
              <a:t>Mr.R.Chandru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pitchFamily="34" charset="0"/>
              </a:rPr>
              <a:t>, </a:t>
            </a: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400" b="1" dirty="0" smtClean="0">
                <a:solidFill>
                  <a:srgbClr val="0070C0"/>
                </a:solidFill>
                <a:latin typeface="+mj-lt"/>
                <a:cs typeface="Arial" pitchFamily="34" charset="0"/>
              </a:rPr>
              <a:t>Assistant Professor(</a:t>
            </a:r>
            <a:r>
              <a:rPr lang="en-US" sz="2400" b="1" dirty="0" err="1" smtClean="0">
                <a:solidFill>
                  <a:srgbClr val="0070C0"/>
                </a:solidFill>
                <a:latin typeface="+mj-lt"/>
                <a:cs typeface="Arial" pitchFamily="34" charset="0"/>
              </a:rPr>
              <a:t>Sl.G</a:t>
            </a:r>
            <a:r>
              <a:rPr lang="en-US" sz="2400" b="1" dirty="0" smtClean="0">
                <a:solidFill>
                  <a:srgbClr val="0070C0"/>
                </a:solidFill>
                <a:latin typeface="+mj-lt"/>
                <a:cs typeface="Arial" pitchFamily="34" charset="0"/>
              </a:rPr>
              <a:t>)/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pitchFamily="34" charset="0"/>
              </a:rPr>
              <a:t>ECE </a:t>
            </a: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7896234" y="5137409"/>
            <a:ext cx="2743202" cy="467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400" b="1" dirty="0"/>
              <a:t>No. of </a:t>
            </a:r>
            <a:r>
              <a:rPr lang="fr-FR" sz="2400" b="1" dirty="0" err="1"/>
              <a:t>Credits</a:t>
            </a:r>
            <a:r>
              <a:rPr lang="fr-FR" sz="2400" b="1" dirty="0"/>
              <a:t> </a:t>
            </a:r>
            <a:r>
              <a:rPr lang="fr-FR" sz="2400" b="1" dirty="0" smtClean="0"/>
              <a:t>: 3</a:t>
            </a:r>
            <a:endParaRPr lang="en-US" sz="2400" b="1" dirty="0">
              <a:latin typeface="Lucida Bright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3758631"/>
            <a:ext cx="95964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rgbClr val="7030A0"/>
                </a:solidFill>
              </a:rPr>
              <a:t> </a:t>
            </a:r>
            <a:r>
              <a:rPr lang="en-IN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20EC214 </a:t>
            </a:r>
            <a:r>
              <a:rPr lang="en-US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&amp; </a:t>
            </a:r>
            <a:r>
              <a:rPr lang="en-IN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DIGITAL CMOS VLSI CIRCUITS</a:t>
            </a:r>
            <a:endParaRPr lang="fr-FR" sz="3200" b="1" dirty="0">
              <a:solidFill>
                <a:srgbClr val="7030A0"/>
              </a:solidFill>
              <a:latin typeface="Bookman Old Style" panose="02050604050505020204" pitchFamily="18" charset="0"/>
              <a:cs typeface="Arial" pitchFamily="34" charset="0"/>
            </a:endParaRPr>
          </a:p>
          <a:p>
            <a:pPr algn="ctr">
              <a:defRPr/>
            </a:pPr>
            <a:endParaRPr lang="fr-FR" sz="3200" b="1" dirty="0">
              <a:solidFill>
                <a:srgbClr val="7030A0"/>
              </a:solidFill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835" y="3037182"/>
            <a:ext cx="9604400" cy="536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Department of  Electronics and Communication  Engineering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8" y="1588171"/>
            <a:ext cx="759301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[Educational Service : SNR Sons Charitable Trust]</a:t>
            </a:r>
          </a:p>
          <a:p>
            <a:pPr algn="ctr"/>
            <a:r>
              <a:rPr lang="en-US" sz="1600" dirty="0"/>
              <a:t>  [Autonomous Institution, </a:t>
            </a:r>
            <a:r>
              <a:rPr lang="en-US" sz="1600" dirty="0" smtClean="0"/>
              <a:t>Reaccredited </a:t>
            </a:r>
            <a:r>
              <a:rPr lang="en-US" sz="1600" dirty="0"/>
              <a:t>by NAAC with ‘</a:t>
            </a:r>
            <a:r>
              <a:rPr lang="en-US" sz="1600" dirty="0" smtClean="0"/>
              <a:t>A+’ </a:t>
            </a:r>
            <a:r>
              <a:rPr lang="en-US" sz="1600" dirty="0"/>
              <a:t>Grade]</a:t>
            </a:r>
          </a:p>
          <a:p>
            <a:pPr algn="ctr"/>
            <a:r>
              <a:rPr lang="en-US" sz="1600" dirty="0"/>
              <a:t>      [Approved by AICTE and Permanently Affiliated to Anna University, Chennai]</a:t>
            </a:r>
          </a:p>
          <a:p>
            <a:pPr algn="ctr"/>
            <a:r>
              <a:rPr lang="en-US" sz="1600" dirty="0"/>
              <a:t>        [ISO 9001-2015 Certified and all eligible programmes Accredited by NBA]   </a:t>
            </a:r>
          </a:p>
          <a:p>
            <a:pPr algn="ctr"/>
            <a:r>
              <a:rPr lang="en-US" sz="1600" dirty="0"/>
              <a:t>             VATTAMALAIPALAYAM, N.G.G.O. COLONY POST, COIMBATORE – 641 022.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C9258C-6A34-4EEA-AE4D-5206E875D86B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94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52400" y="1371600"/>
            <a:ext cx="11734802" cy="4343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On successful completion of the course, students will be able to,</a:t>
            </a:r>
          </a:p>
          <a:p>
            <a:pPr marL="0" indent="0" algn="just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Bookman Old Style" panose="020506040505050202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46006A2-30E0-43FC-876C-CE2836461F4D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25600" y="441958"/>
            <a:ext cx="89408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OUTCOMES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="" xmlns:a16="http://schemas.microsoft.com/office/drawing/2014/main" id="{7A19BD47-2C52-48CB-86AB-EE9530EE5BF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09600" y="2209801"/>
          <a:ext cx="10820400" cy="3784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73">
                  <a:extLst>
                    <a:ext uri="{9D8B030D-6E8A-4147-A177-3AD203B41FA5}">
                      <a16:colId xmlns="" xmlns:a16="http://schemas.microsoft.com/office/drawing/2014/main" val="2579258821"/>
                    </a:ext>
                  </a:extLst>
                </a:gridCol>
                <a:gridCol w="9776327">
                  <a:extLst>
                    <a:ext uri="{9D8B030D-6E8A-4147-A177-3AD203B41FA5}">
                      <a16:colId xmlns="" xmlns:a16="http://schemas.microsoft.com/office/drawing/2014/main" val="2600226381"/>
                    </a:ext>
                  </a:extLst>
                </a:gridCol>
              </a:tblGrid>
              <a:tr h="3864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C00000"/>
                          </a:solidFill>
                          <a:latin typeface="Bookman Old Style" panose="02050604050505020204" pitchFamily="18" charset="0"/>
                        </a:rPr>
                        <a:t>COURSE OUTCOMES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65368251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1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Interpret the characteristics and manufacturing process technology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of MOS transistor.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843555094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2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Analyze the various logic styles of CMOS combinational and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sequential circuits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709568410"/>
                  </a:ext>
                </a:extLst>
              </a:tr>
              <a:tr h="47638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3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Design the various digital arithmetic logic circuits.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316732819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4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Illustrate the performance of the digital circuits by examining the timing issues.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983873499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5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Make use of MOS concepts in construction of Memory Array Subsystem.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33061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501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22D12AE-D5EC-4008-B1F1-5E958AD29A1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996B7060-1BA4-42E1-85AD-7DA4ABB1736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8F5864-67D6-46A9-BCE3-D7973A5B0B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5F5EF3-7E02-4900-B56C-6955F979C6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="" xmlns:a16="http://schemas.microsoft.com/office/drawing/2014/main" id="{03355A1C-B111-4CCF-9F99-3D8DA29B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51460"/>
            <a:ext cx="67056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CONTENTS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F21E3ABD-DD2D-4924-85FA-E2761F779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899" y="1660531"/>
            <a:ext cx="11506202" cy="5105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PREREQUISITES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20EC204 - Digital System Design</a:t>
            </a:r>
          </a:p>
          <a:p>
            <a:pPr marL="0" indent="0">
              <a:buNone/>
            </a:pP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MOS TRANSISTOR AND PROCESSING			  			10</a:t>
            </a:r>
            <a:endParaRPr lang="en-US" sz="5600" b="1" dirty="0"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MOSFET theory - Transistor switches - Compound gates - Design equations - IV characteristics - CV characteristics - Second order effects - Energy and Power - Resistance Estimation - Capacitance Estimation - Switching Characteristics - RC Delay Models - Logical Effort for gates - CMOS Process technology - Design Rules and Layout.</a:t>
            </a:r>
          </a:p>
          <a:p>
            <a:pPr marL="0" indent="0">
              <a:buNone/>
            </a:pPr>
            <a:endParaRPr lang="fr-FR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fr-FR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CMOS LOGIC STRUCTURES 							11</a:t>
            </a:r>
          </a:p>
          <a:p>
            <a:pPr marL="0" indent="0" algn="just">
              <a:buNone/>
            </a:pP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Combinational Circuits: CMOS Inverter - DC Characteristics - Complementary Logic Structures - Ratioed logic - Pass transistor logic - Transmission gate - Tristate Inverter - Multiplexers - Dynamic logic structures. Sequential </a:t>
            </a: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Circuits: Static latches and Registers, Dynamic latches and Registers, Pulse Registers, Sense Amplifier Based </a:t>
            </a: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Register, Pipelining.</a:t>
            </a:r>
          </a:p>
          <a:p>
            <a:pPr marL="0" indent="0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DESIGN OF ARITHMETIC BUILDING BLOCKS 				8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Full adder, Ripple carry adder, Carry bypass adder, Linear and Square root carry-select adder, Carry look-ahead adder - Multipliers - Barrel and logarithmic shifter.</a:t>
            </a:r>
          </a:p>
          <a:p>
            <a:pPr marL="0" indent="0">
              <a:buNone/>
            </a:pP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TIMING ISSUES 								8</a:t>
            </a: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Timing Basics, Sources of Skew and Jitter, Clock-Distribution Techniques, Latch-Based locking, Self-Timed Circuit Design, Synchronizers and Arbiters, Clock Synthesis and Synchronization Using a Phase-Locked Loop.</a:t>
            </a:r>
          </a:p>
          <a:p>
            <a:pPr marL="0" indent="0">
              <a:buNone/>
            </a:pP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MEMORY ARRAY SUBSYSTEM 						8</a:t>
            </a: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SRAM: SRAM Cells, Row Circuitry, Column Circuitry. </a:t>
            </a:r>
            <a:r>
              <a:rPr lang="en-US" sz="56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Multiported</a:t>
            </a: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 SRAM and Register files  DRAM: Subarray Architectures, Column Circuitry, Embedded DRAM. Read-Only Memory: Programmable ROMs, NAND ROMs, Flash.</a:t>
            </a:r>
            <a:endParaRPr lang="en-IN" sz="55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656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22D12AE-D5EC-4008-B1F1-5E958AD29A1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D5F23E-4B97-4B63-96EF-1A2CA42953CA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8F5864-67D6-46A9-BCE3-D7973A5B0B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5F5EF3-7E02-4900-B56C-6955F979C6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F21E3ABD-DD2D-4924-85FA-E2761F779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752600"/>
            <a:ext cx="11811000" cy="457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TEXT BOOKS</a:t>
            </a:r>
          </a:p>
          <a:p>
            <a:pPr algn="just">
              <a:buFont typeface="+mj-lt"/>
              <a:buAutoNum type="arabicPeriod"/>
            </a:pP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Neil H.E. </a:t>
            </a:r>
            <a:r>
              <a:rPr lang="en-US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Weste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and David Harris, "CMOS VLSI Design A Circuits and Systems Perspective", 4th Edition, 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Pearson Education, Reprint 2010.</a:t>
            </a:r>
          </a:p>
          <a:p>
            <a:pPr algn="just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Jan M.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Rabaey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Anantha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Chandrakasan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and B Nikolic, "Digital Integrated Circuits: A Design Perspective", 2nd 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Edition, Pearson Education India, 2016.</a:t>
            </a:r>
            <a:endParaRPr lang="en-IN" sz="19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REFERENCES</a:t>
            </a:r>
            <a:r>
              <a:rPr lang="en-IN" dirty="0"/>
              <a:t>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Douglas. A.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Pucknell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Kamran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Eshraghian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"Basic VLSI Design", 3rd Edition, Prentice Hall India, 2010.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John </a:t>
            </a:r>
            <a:r>
              <a:rPr lang="en-US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P.Uyemura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"Introduction to VLSI Circuits and Systems", John Wiley &amp; Sons, 2012.</a:t>
            </a:r>
          </a:p>
          <a:p>
            <a:pPr marL="0" indent="0" algn="just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WEB REFERENCES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https://nptel.ac.in/courses/108/107/108107129/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https://nptel.ac.in/courses/117/106/117106093/</a:t>
            </a:r>
          </a:p>
        </p:txBody>
      </p:sp>
      <p:sp>
        <p:nvSpPr>
          <p:cNvPr id="7" name="Title 5">
            <a:extLst>
              <a:ext uri="{FF2B5EF4-FFF2-40B4-BE49-F238E27FC236}">
                <a16:creationId xmlns="" xmlns:a16="http://schemas.microsoft.com/office/drawing/2014/main" id="{ADA0AE8C-4FFC-FDA7-3637-9AC9C333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51460"/>
            <a:ext cx="67056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CONTENTS</a:t>
            </a:r>
          </a:p>
        </p:txBody>
      </p:sp>
    </p:spTree>
    <p:extLst>
      <p:ext uri="{BB962C8B-B14F-4D97-AF65-F5344CB8AC3E}">
        <p14:creationId xmlns:p14="http://schemas.microsoft.com/office/powerpoint/2010/main" val="1463333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B8E4B51-1B8E-4E4E-8A93-7E22AE309A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600200"/>
            <a:ext cx="8686800" cy="47244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Full Adder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Ripple Carry Adder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Carry Bypass Adder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Carry Select Adder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Square Root Carry Select Adder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Carry Look-Ahead Adder  </a:t>
            </a:r>
          </a:p>
          <a:p>
            <a:pPr marL="0" indent="0" algn="just">
              <a:buNone/>
            </a:pP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Multipliers: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Array Multiplier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Booth Multiplier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Wallace Tree Multiplier  </a:t>
            </a:r>
          </a:p>
          <a:p>
            <a:pPr marL="0" indent="0" algn="just">
              <a:buNone/>
            </a:pP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Shifters: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Barrel Shifter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Logarithmic Shifter</a:t>
            </a: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D00F0B4-33BA-48A4-8960-F3E68BD377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4CC8DBC-17AA-405C-9FF1-39D3EE8894D4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5C77551-F1A1-4B49-8894-B2BB15489D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C1679C-11D5-4753-B542-E03E8DAE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01A0B170-8F2D-43D0-A264-D31E94A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DESIGN OF ARITHMETIC BUILDING BLOCKS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568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4800" y="1752600"/>
            <a:ext cx="27949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Need for Fast Adders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533400" y="2613959"/>
            <a:ext cx="94488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Addition is the most frequently used operation in digital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of processors depends on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adder speed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adder: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Ripple Carry Adder (RCA)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 increases with number of bits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RCA suffers from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carry propagation delay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 faster adder architectures are required</a:t>
            </a: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01A0B170-8F2D-43D0-A264-D31E94A28C40}"/>
              </a:ext>
            </a:extLst>
          </p:cNvPr>
          <p:cNvSpPr txBox="1">
            <a:spLocks/>
          </p:cNvSpPr>
          <p:nvPr/>
        </p:nvSpPr>
        <p:spPr>
          <a:xfrm>
            <a:off x="2781300" y="152400"/>
            <a:ext cx="6629400" cy="762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en-US"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z="2000" smtClean="0">
                <a:solidFill>
                  <a:srgbClr val="0070C0"/>
                </a:solidFill>
                <a:latin typeface="Bookman Old Style" panose="02050604050505020204" pitchFamily="18" charset="0"/>
              </a:rPr>
              <a:t>MODULE 3</a:t>
            </a:r>
            <a:r>
              <a:rPr lang="en-US" sz="200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smtClean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smtClean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DESIGN OF ARITHMETIC BUILDING BLOCKS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211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88667" y="1752600"/>
            <a:ext cx="42410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Ripple Carry Adder Problem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27287" y="2514600"/>
            <a:ext cx="708302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full adder must wait for carry from previous stage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Carry propagates sequentially from LSB to MSB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an N-bit adder, delay is proportional to 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Worst-case delay occurs when carry propagates through all stages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limits performance in high-speed processors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01A0B170-8F2D-43D0-A264-D31E94A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DESIGN OF ARITHMETIC BUILDING BLOCKS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936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21175" y="1752600"/>
            <a:ext cx="2391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Carry look-ahead adder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5275"/>
            <a:ext cx="4858428" cy="9431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16" y="5172461"/>
            <a:ext cx="2286319" cy="8954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68" y="3621115"/>
            <a:ext cx="2762636" cy="4667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68" y="4344224"/>
            <a:ext cx="3715268" cy="495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1301" y="3092454"/>
            <a:ext cx="6396602" cy="225806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="" xmlns:a16="http://schemas.microsoft.com/office/drawing/2014/main" id="{01A0B170-8F2D-43D0-A264-D31E94A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DESIGN OF ARITHMETIC BUILDING BLOCKS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376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40" y="1671577"/>
            <a:ext cx="3819920" cy="4662360"/>
          </a:xfrm>
          <a:prstGeom prst="rect">
            <a:avLst/>
          </a:prstGeom>
        </p:spPr>
      </p:pic>
      <p:pic>
        <p:nvPicPr>
          <p:cNvPr id="6146" name="Picture 2" descr="https://media.geeksforgeeks.org/wp-content/uploads/digital_Logic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031082"/>
            <a:ext cx="5591175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01A0B170-8F2D-43D0-A264-D31E94A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DESIGN OF ARITHMETIC BUILDING BLOCKS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809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68659" y="1752600"/>
            <a:ext cx="2953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Carry Select Adder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96698" y="2268643"/>
            <a:ext cx="556120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Carry Select Adder reduces carry propagation delay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Computes results for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possible carry inputs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 1: Carry input = 0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 2: Carry input = 1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results are calculated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simultaneously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multiplexer selects the correct output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26200" y="2457274"/>
            <a:ext cx="4851399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Instead of waiting for carry: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Perform two additions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Assume carry input = 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Assume carry input = 1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Store both results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Once actual carry arrives, select correct result</a:t>
            </a:r>
          </a:p>
          <a:p>
            <a:pPr>
              <a:lnSpc>
                <a:spcPct val="150000"/>
              </a:lnSpc>
            </a:pPr>
            <a:r>
              <a:rPr lang="en-US" dirty="0"/>
              <a:t>This significantly reduces </a:t>
            </a:r>
            <a:r>
              <a:rPr lang="en-US" b="1" dirty="0"/>
              <a:t>carry waiting time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01A0B170-8F2D-43D0-A264-D31E94A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DESIGN OF ARITHMETIC BUILDING BLOCKS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490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68659" y="1752600"/>
            <a:ext cx="2953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Carry Select Adder</a:t>
            </a:r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01A0B170-8F2D-43D0-A264-D31E94A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DESIGN OF ARITHMETIC BUILDING BLOCKS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514600"/>
            <a:ext cx="9623487" cy="33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956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68659" y="1752600"/>
            <a:ext cx="26805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Carry </a:t>
            </a:r>
            <a:r>
              <a:rPr lang="en-US" sz="2800" b="1" dirty="0" smtClean="0">
                <a:solidFill>
                  <a:srgbClr val="C00000"/>
                </a:solidFill>
              </a:rPr>
              <a:t>Skip </a:t>
            </a:r>
            <a:r>
              <a:rPr lang="en-US" sz="2800" b="1" dirty="0">
                <a:solidFill>
                  <a:srgbClr val="C00000"/>
                </a:solidFill>
              </a:rPr>
              <a:t>Adder</a:t>
            </a:r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01A0B170-8F2D-43D0-A264-D31E94A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DESIGN OF ARITHMETIC BUILDING BLOCKS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19400"/>
            <a:ext cx="1101634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2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0" y="729734"/>
            <a:ext cx="472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quote-cjk-patch"/>
              </a:rPr>
              <a:t>Design of Arithmetic Building Blocks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1" y="2033193"/>
            <a:ext cx="7480358" cy="34498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10000" y="1647463"/>
            <a:ext cx="3838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 schematic of 4-bit carry select adder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9981"/>
          <a:stretch/>
        </p:blipFill>
        <p:spPr>
          <a:xfrm>
            <a:off x="8077200" y="2314618"/>
            <a:ext cx="3962400" cy="262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00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0" y="729734"/>
            <a:ext cx="472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quote-cjk-patch"/>
              </a:rPr>
              <a:t>Design of Arithmetic Building Blocks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1752600"/>
            <a:ext cx="1921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Critical Path Delay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59550"/>
            <a:ext cx="1066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The </a:t>
            </a:r>
            <a:r>
              <a:rPr lang="en-US" b="1" dirty="0"/>
              <a:t>critical path</a:t>
            </a:r>
            <a:r>
              <a:rPr lang="en-US" dirty="0"/>
              <a:t> is the </a:t>
            </a:r>
            <a:r>
              <a:rPr lang="en-US" b="1" dirty="0"/>
              <a:t>longest delay path from input to output in a digital circuit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</a:pPr>
            <a:r>
              <a:rPr lang="en-US" dirty="0"/>
              <a:t>The </a:t>
            </a:r>
            <a:r>
              <a:rPr lang="en-US" b="1" dirty="0"/>
              <a:t>critical path delay</a:t>
            </a:r>
            <a:r>
              <a:rPr lang="en-US" dirty="0"/>
              <a:t> determines the </a:t>
            </a:r>
            <a:r>
              <a:rPr lang="en-US" b="1" dirty="0"/>
              <a:t>maximum speed of the circuit</a:t>
            </a:r>
            <a:r>
              <a:rPr lang="en-US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527" y="3585994"/>
            <a:ext cx="8058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 </a:t>
            </a:r>
            <a:r>
              <a:rPr lang="en-US" dirty="0"/>
              <a:t>a </a:t>
            </a:r>
            <a:r>
              <a:rPr lang="en-US" b="1" dirty="0"/>
              <a:t>Ripple Carry Adder</a:t>
            </a:r>
            <a:r>
              <a:rPr lang="en-US" dirty="0"/>
              <a:t>, the carry must propagate through all full adders.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995" y="415278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 one full adder carry delay = </a:t>
            </a:r>
            <a:r>
              <a:rPr lang="en-US" b="1" dirty="0" smtClean="0"/>
              <a:t>t carry</a:t>
            </a:r>
            <a:endParaRPr lang="en-US" dirty="0"/>
          </a:p>
          <a:p>
            <a:r>
              <a:rPr lang="en-US" dirty="0"/>
              <a:t>Then total delay:</a:t>
            </a:r>
          </a:p>
          <a:p>
            <a:r>
              <a:rPr lang="en-US" dirty="0" smtClean="0"/>
              <a:t>t=4×t carry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0392" y="5433868"/>
            <a:ext cx="405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This entire carry chain is the </a:t>
            </a:r>
            <a:r>
              <a:rPr lang="en-US" b="1" dirty="0"/>
              <a:t>critical path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7340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0" y="729734"/>
            <a:ext cx="472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quote-cjk-patch"/>
              </a:rPr>
              <a:t>Design of Arithmetic Building Blocks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73911" y="2323240"/>
            <a:ext cx="1024648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Critical path contains: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</a:rPr>
              <a:t>First block ripple carry delay </a:t>
            </a:r>
            <a:r>
              <a:rPr lang="en-US" dirty="0">
                <a:solidFill>
                  <a:srgbClr val="C00000"/>
                </a:solidFill>
              </a:rPr>
              <a:t>+ multiplexer </a:t>
            </a:r>
            <a:r>
              <a:rPr lang="en-US" dirty="0" smtClean="0">
                <a:solidFill>
                  <a:srgbClr val="C00000"/>
                </a:solidFill>
              </a:rPr>
              <a:t>delays </a:t>
            </a:r>
            <a:r>
              <a:rPr lang="en-US" dirty="0">
                <a:solidFill>
                  <a:srgbClr val="C00000"/>
                </a:solidFill>
              </a:rPr>
              <a:t>+ final sum generation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33800" y="1816250"/>
            <a:ext cx="4029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Critical Path in Linear Carry Select Adder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388536"/>
            <a:ext cx="2438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Ripple carry (block1)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MUX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MUX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MUX</a:t>
            </a:r>
          </a:p>
          <a:p>
            <a:r>
              <a:rPr lang="en-US" dirty="0"/>
              <a:t>↓</a:t>
            </a:r>
          </a:p>
          <a:p>
            <a:r>
              <a:rPr lang="en-US" dirty="0"/>
              <a:t>Sum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75355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Carry Select Adder, we divide the adder into blocks so that the ripple carry delay of the first block and the multiplexer delay are balanced.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2660" y="497857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Ripple delay (first block</a:t>
            </a:r>
            <a:r>
              <a:rPr lang="en-US" dirty="0" smtClean="0"/>
              <a:t>) + </a:t>
            </a:r>
            <a:r>
              <a:rPr lang="en-US" dirty="0"/>
              <a:t>multiplexer delays</a:t>
            </a:r>
          </a:p>
        </p:txBody>
      </p:sp>
    </p:spTree>
    <p:extLst>
      <p:ext uri="{BB962C8B-B14F-4D97-AF65-F5344CB8AC3E}">
        <p14:creationId xmlns:p14="http://schemas.microsoft.com/office/powerpoint/2010/main" val="104640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0" y="729734"/>
            <a:ext cx="472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quote-cjk-patch"/>
              </a:rPr>
              <a:t>Design of Arithmetic Building Blocks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3061" y="1903758"/>
            <a:ext cx="3017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4-bit Ripple Carry Adder (RCA)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17794"/>
            <a:ext cx="1609950" cy="58110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9435" y="3558938"/>
            <a:ext cx="2043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delay = 4 units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2806" y="1765741"/>
            <a:ext cx="3050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4-bit Linear Carry Select Adder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30713" y="2273090"/>
            <a:ext cx="24988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FA0 → FA1 → FA2 → FA3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1602" y="275711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Block 1 : bits 0–1  → 2-bit ripple adder</a:t>
            </a:r>
          </a:p>
          <a:p>
            <a:r>
              <a:rPr lang="en-US" dirty="0">
                <a:solidFill>
                  <a:srgbClr val="002060"/>
                </a:solidFill>
              </a:rPr>
              <a:t>Block 2 : bits 2–3  → carry select block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1517" y="3396747"/>
            <a:ext cx="3311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Ripple carry through 2 full adders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7077" y="3733792"/>
            <a:ext cx="1560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Delay = 2 units</a:t>
            </a:r>
          </a:p>
        </p:txBody>
      </p:sp>
    </p:spTree>
    <p:extLst>
      <p:ext uri="{BB962C8B-B14F-4D97-AF65-F5344CB8AC3E}">
        <p14:creationId xmlns:p14="http://schemas.microsoft.com/office/powerpoint/2010/main" val="3452343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0" y="729734"/>
            <a:ext cx="472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quote-cjk-patch"/>
              </a:rPr>
              <a:t>Design of Arithmetic Building Blocks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14800" y="1712089"/>
            <a:ext cx="31783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Square Root Carry Select Adder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07561" y="2362200"/>
            <a:ext cx="2335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Two delays exist in CSA</a:t>
            </a:r>
          </a:p>
        </p:txBody>
      </p:sp>
      <p:sp>
        <p:nvSpPr>
          <p:cNvPr id="8" name="Rectangle 7"/>
          <p:cNvSpPr/>
          <p:nvPr/>
        </p:nvSpPr>
        <p:spPr>
          <a:xfrm>
            <a:off x="462344" y="3011271"/>
            <a:ext cx="228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Ripple carry delay</a:t>
            </a:r>
          </a:p>
          <a:p>
            <a:r>
              <a:rPr lang="en-US" dirty="0"/>
              <a:t>Multiplexer delay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98" y="403345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Linear CSA: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Ripple delay decreases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MUX delays increase</a:t>
            </a:r>
          </a:p>
          <a:p>
            <a:r>
              <a:rPr lang="en-US" dirty="0"/>
              <a:t>So total delay becomes </a:t>
            </a:r>
            <a:r>
              <a:rPr lang="en-US" dirty="0" smtClean="0"/>
              <a:t>large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36609" y="5481255"/>
            <a:ext cx="3790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Square Root CSA </a:t>
            </a:r>
            <a:r>
              <a:rPr lang="en-US" b="1" dirty="0"/>
              <a:t>balances both delays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114800" y="222544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Square Root Carry Select Adder</a:t>
            </a:r>
            <a:r>
              <a:rPr lang="en-US" dirty="0"/>
              <a:t> is a modified Carry Select Adder in which the </a:t>
            </a:r>
            <a:r>
              <a:rPr lang="en-US" b="1" dirty="0"/>
              <a:t>block sizes are not equal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blocks </a:t>
            </a:r>
            <a:r>
              <a:rPr lang="en-US" b="1" dirty="0"/>
              <a:t>increase gradually (1, 2, 3, 4 … bits)</a:t>
            </a:r>
            <a:r>
              <a:rPr lang="en-US" dirty="0"/>
              <a:t> so that the </a:t>
            </a:r>
            <a:r>
              <a:rPr lang="en-US" b="1" dirty="0"/>
              <a:t>carry generation delay and multiplexer delay are balanced</a:t>
            </a:r>
            <a:r>
              <a:rPr lang="en-US" dirty="0"/>
              <a:t>, reducing the overall addition time</a:t>
            </a:r>
            <a:r>
              <a:rPr lang="en-US" dirty="0" smtClean="0"/>
              <a:t>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756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0" y="729734"/>
            <a:ext cx="472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quote-cjk-patch"/>
              </a:rPr>
              <a:t>Design of Arithmetic Building Blocks</a:t>
            </a:r>
            <a:endParaRPr lang="en-US" b="1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899218"/>
              </p:ext>
            </p:extLst>
          </p:nvPr>
        </p:nvGraphicFramePr>
        <p:xfrm>
          <a:off x="228600" y="1808834"/>
          <a:ext cx="11658600" cy="4367079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  <a:gridCol w="1943100"/>
                <a:gridCol w="1943100"/>
              </a:tblGrid>
              <a:tr h="402902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2060"/>
                          </a:solidFill>
                        </a:rPr>
                        <a:t>Feature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2060"/>
                          </a:solidFill>
                        </a:rPr>
                        <a:t>Ripple Carry Adder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2060"/>
                          </a:solidFill>
                        </a:rPr>
                        <a:t>Carry Skip Adder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2060"/>
                          </a:solidFill>
                        </a:rPr>
                        <a:t>Linear Carry Select Adder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2060"/>
                          </a:solidFill>
                        </a:rPr>
                        <a:t>Square Root Carry Select Adder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2060"/>
                          </a:solidFill>
                        </a:rPr>
                        <a:t>Carry Look Ahead Adder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3772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Basic Idea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Carry ripples through all stages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Carry can skip a block if propagate signals are true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Two sums computed assuming carry = 0 and 1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Improved CSA with increasing block sizes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Carry is predicted using generate and propagate logic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902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Structure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Series of full adders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Ripple blocks + skip logic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Equal sized blocks with two RCAs + MUX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Increasing block sizes (2,3,4,5…)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Parallel carry generation logic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902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Carry Propagation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Sequential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Ripple + skip path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Parallel computation + MUX selection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Balanced ripple + MUX delay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Parallel carry computation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203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Speed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Slowest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Faster than RCA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Faster than CSKA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Faster than Linear CSA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Fastest for small bit adders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203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Hardware Complexity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Very low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Low to moderate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Moderate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Moderate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High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203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Area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Small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Slightly larger than RCA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Larger (two RCAs per block)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Similar to CSA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Large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203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Power Consumption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Low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Moderate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Moderate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Moderate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High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203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Design Complexity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Very simple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Simple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Medium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Medium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Complex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902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Delay Growth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Linear with number of bits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Reduced compared to RCA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Reduced using carry selection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Balanced delay for better performance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Logarithmic carry computation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902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Typical Block Pattern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 blocks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Blocks with skip logic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Equal blocks (4-4-4-4)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Increasing blocks (2-3-4-5)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 blocks (parallel carry network)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902">
                <a:tc>
                  <a:txBody>
                    <a:bodyPr/>
                    <a:lstStyle/>
                    <a:p>
                      <a:r>
                        <a:rPr lang="en-US" sz="1200" dirty="0"/>
                        <a:t>Best Use Case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Small circuits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Medium speed designs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High-speed arithmetic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High-speed large adders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High performance processors</a:t>
                      </a:r>
                    </a:p>
                  </a:txBody>
                  <a:tcPr marL="40290" marR="40290" marT="20145" marB="20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31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0" y="698864"/>
            <a:ext cx="472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quote-cjk-patch"/>
              </a:rPr>
              <a:t>SHIFTERS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6774" y="1712614"/>
            <a:ext cx="7543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Introduction</a:t>
            </a:r>
          </a:p>
          <a:p>
            <a:r>
              <a:rPr lang="en-US" dirty="0" smtClean="0"/>
              <a:t>□ </a:t>
            </a:r>
            <a:r>
              <a:rPr lang="en-US" dirty="0"/>
              <a:t>Shift operations are important in arithmetic and logic operations  </a:t>
            </a:r>
          </a:p>
          <a:p>
            <a:r>
              <a:rPr lang="en-US" dirty="0"/>
              <a:t>□ Used for data movement and bit manipulation  </a:t>
            </a:r>
          </a:p>
          <a:p>
            <a:r>
              <a:rPr lang="en-US" dirty="0"/>
              <a:t>□ Implemented using combinational logic circuits  </a:t>
            </a:r>
          </a:p>
          <a:p>
            <a:r>
              <a:rPr lang="en-US" dirty="0"/>
              <a:t>□ Used in ALU operations like multiplication and division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8474" y="3726974"/>
            <a:ext cx="84539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Basic Shift </a:t>
            </a:r>
            <a:r>
              <a:rPr lang="en-US" b="1" dirty="0" smtClean="0"/>
              <a:t>Operations</a:t>
            </a:r>
          </a:p>
          <a:p>
            <a:r>
              <a:rPr lang="en-US" dirty="0"/>
              <a:t>□ Shift operation moves bits left or right  </a:t>
            </a:r>
          </a:p>
          <a:p>
            <a:r>
              <a:rPr lang="en-US" dirty="0"/>
              <a:t>□ Vacant positions are filled with 0 or sign bit  </a:t>
            </a:r>
          </a:p>
          <a:p>
            <a:r>
              <a:rPr lang="en-US" dirty="0"/>
              <a:t>□ Two types of shift operations:  </a:t>
            </a:r>
          </a:p>
          <a:p>
            <a:r>
              <a:rPr lang="en-US" dirty="0"/>
              <a:t>   Logical Shift  </a:t>
            </a:r>
          </a:p>
          <a:p>
            <a:r>
              <a:rPr lang="en-US" dirty="0"/>
              <a:t>   Arithmetic Shift</a:t>
            </a:r>
          </a:p>
        </p:txBody>
      </p:sp>
    </p:spTree>
    <p:extLst>
      <p:ext uri="{BB962C8B-B14F-4D97-AF65-F5344CB8AC3E}">
        <p14:creationId xmlns:p14="http://schemas.microsoft.com/office/powerpoint/2010/main" val="1780040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0" y="742369"/>
            <a:ext cx="472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quote-cjk-patch"/>
              </a:rPr>
              <a:t>SHIFTERS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735962"/>
            <a:ext cx="11125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Logical shift.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the logical shift operation, the vacant bits are filled with 0s. Depending on the shift direction, it can be further divided into the following two types. • Logical left shift: The input is shifted left a specified number of bit positions and all vacant bits are filled with </a:t>
            </a:r>
            <a:r>
              <a:rPr lang="en-US" dirty="0" smtClean="0"/>
              <a:t>0s</a:t>
            </a:r>
            <a:endParaRPr lang="en-US" dirty="0"/>
          </a:p>
          <a:p>
            <a:r>
              <a:rPr lang="en-US" dirty="0" smtClean="0"/>
              <a:t>• </a:t>
            </a:r>
            <a:r>
              <a:rPr lang="en-US" dirty="0"/>
              <a:t>Logical right shift: The input is shifted right a specified number of bit positions and all vacant bits are filled with </a:t>
            </a:r>
            <a:r>
              <a:rPr lang="en-US" dirty="0" smtClean="0"/>
              <a:t>0s.</a:t>
            </a:r>
          </a:p>
          <a:p>
            <a:r>
              <a:rPr lang="en-US" dirty="0" smtClean="0"/>
              <a:t> </a:t>
            </a:r>
            <a:r>
              <a:rPr lang="en-US" dirty="0"/>
              <a:t>Arithmetic shift. The basic feature of an arithmetic shift is that the shifted result is the input number divided by 2 when the operation is right shift and is the input number multiplied by 2 when the operation is left shift. More formally, arithmetic shift can be subdivided into the following two types. • Arithmetic left shift: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input is shifted left a specified number of bit positions and all vacant bits are filled with </a:t>
            </a:r>
            <a:r>
              <a:rPr lang="en-US" dirty="0" smtClean="0"/>
              <a:t>0s. </a:t>
            </a:r>
            <a:r>
              <a:rPr lang="en-US" dirty="0"/>
              <a:t>Indeed, this is exactly the same as logical left shift.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Arithmetic right shift: The input is shifted right a specified number of bit positions and all vacant bits are filled with the sign bit</a:t>
            </a:r>
          </a:p>
        </p:txBody>
      </p:sp>
    </p:spTree>
    <p:extLst>
      <p:ext uri="{BB962C8B-B14F-4D97-AF65-F5344CB8AC3E}">
        <p14:creationId xmlns:p14="http://schemas.microsoft.com/office/powerpoint/2010/main" val="3920332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0" y="729734"/>
            <a:ext cx="472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left-rotation linear barrel shifter 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970628"/>
            <a:ext cx="7478169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84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3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48200" y="649095"/>
            <a:ext cx="472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quote-cjk-patch"/>
              </a:rPr>
              <a:t>logarithmic barrel shifter 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07" y="1500033"/>
            <a:ext cx="5632993" cy="47536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10400" y="2734272"/>
            <a:ext cx="381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An example of a logical/arithmetic-left logarithmic barrel shifter based on 2-to-1multiplexers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711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EAA2D99-0CE9-4B69-B1A8-E624B1F7EC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4186D1F-D4E6-44E9-AD04-D064F5A4A04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D457791-EB65-4FF3-9D92-0133897C55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8444026-1171-4F07-A90B-DB793F7B39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5789C73-14EE-4C88-82A7-0C34117A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192" y="1676400"/>
            <a:ext cx="5158416" cy="34121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FEF60984-8AAE-607C-F252-7AA4CF9A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482268554"/>
      </p:ext>
    </p:extLst>
  </p:cSld>
  <p:clrMapOvr>
    <a:masterClrMapping/>
  </p:clrMapOvr>
</p:sld>
</file>

<file path=ppt/theme/theme1.xml><?xml version="1.0" encoding="utf-8"?>
<a:theme xmlns:a="http://schemas.openxmlformats.org/drawingml/2006/main" name="EEE Presentation 2019-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EEE Presentation 2019-1</Template>
  <TotalTime>2882</TotalTime>
  <Words>1526</Words>
  <Application>Microsoft Office PowerPoint</Application>
  <PresentationFormat>Widescreen</PresentationFormat>
  <Paragraphs>336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Bookman Old Style</vt:lpstr>
      <vt:lpstr>Calibri</vt:lpstr>
      <vt:lpstr>Lucida Bright</vt:lpstr>
      <vt:lpstr>quote-cjk-patch</vt:lpstr>
      <vt:lpstr>Times New Roman</vt:lpstr>
      <vt:lpstr>Wingdings</vt:lpstr>
      <vt:lpstr>EEE Presentation 2019-1</vt:lpstr>
      <vt:lpstr>PowerPoint Presentation</vt:lpstr>
      <vt:lpstr>20EC214 - DIGITAL CMOS VLSI CIRCUITS COURSE OUTCOMES</vt:lpstr>
      <vt:lpstr>20EC214 - DIGITAL CMOS VLSI CIRCUITS COURSE CONTENTS</vt:lpstr>
      <vt:lpstr>20EC214 - DIGITAL CMOS VLSI CIRCUITS COURSE CONTENTS</vt:lpstr>
      <vt:lpstr>MODULE 3  DESIGN OF ARITHMETIC BUILDING BLOCKS</vt:lpstr>
      <vt:lpstr>  </vt:lpstr>
      <vt:lpstr>MODULE 3  DESIGN OF ARITHMETIC BUILDING BLOCKS</vt:lpstr>
      <vt:lpstr>MODULE 3  DESIGN OF ARITHMETIC BUILDING BLOCKS</vt:lpstr>
      <vt:lpstr>MODULE 3  DESIGN OF ARITHMETIC BUILDING BLOCKS</vt:lpstr>
      <vt:lpstr>MODULE 3  DESIGN OF ARITHMETIC BUILDING BLOCKS</vt:lpstr>
      <vt:lpstr>MODULE 3  DESIGN OF ARITHMETIC BUILDING BLOCKS</vt:lpstr>
      <vt:lpstr>MODULE 3  DESIGN OF ARITHMETIC BUILDING BLOCKS</vt:lpstr>
      <vt:lpstr>MODULE 3  </vt:lpstr>
      <vt:lpstr>MODULE 3  </vt:lpstr>
      <vt:lpstr>MODULE 3  </vt:lpstr>
      <vt:lpstr>MODULE 3  </vt:lpstr>
      <vt:lpstr>MODULE 3  </vt:lpstr>
      <vt:lpstr>MODULE 3  </vt:lpstr>
      <vt:lpstr>MODULE 3  </vt:lpstr>
      <vt:lpstr>MODULE 3  </vt:lpstr>
      <vt:lpstr>MODULE 3  </vt:lpstr>
      <vt:lpstr>MODULE 3  </vt:lpstr>
      <vt:lpstr>MODULE 1  MOS TRANSISTOR AND PROCESSING TECHNOLOGY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Gopu</dc:creator>
  <cp:lastModifiedBy>Microsoft account</cp:lastModifiedBy>
  <cp:revision>334</cp:revision>
  <dcterms:created xsi:type="dcterms:W3CDTF">2019-05-31T06:52:53Z</dcterms:created>
  <dcterms:modified xsi:type="dcterms:W3CDTF">2026-04-14T06:58:44Z</dcterms:modified>
</cp:coreProperties>
</file>