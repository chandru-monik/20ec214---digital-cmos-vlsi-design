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64"/>
  </p:notesMasterIdLst>
  <p:sldIdLst>
    <p:sldId id="709" r:id="rId2"/>
    <p:sldId id="710" r:id="rId3"/>
    <p:sldId id="711" r:id="rId4"/>
    <p:sldId id="712" r:id="rId5"/>
    <p:sldId id="713" r:id="rId6"/>
    <p:sldId id="714" r:id="rId7"/>
    <p:sldId id="652" r:id="rId8"/>
    <p:sldId id="653" r:id="rId9"/>
    <p:sldId id="654" r:id="rId10"/>
    <p:sldId id="655" r:id="rId11"/>
    <p:sldId id="656" r:id="rId12"/>
    <p:sldId id="658" r:id="rId13"/>
    <p:sldId id="689" r:id="rId14"/>
    <p:sldId id="690" r:id="rId15"/>
    <p:sldId id="691" r:id="rId16"/>
    <p:sldId id="692" r:id="rId17"/>
    <p:sldId id="693" r:id="rId18"/>
    <p:sldId id="694" r:id="rId19"/>
    <p:sldId id="695" r:id="rId20"/>
    <p:sldId id="696" r:id="rId21"/>
    <p:sldId id="659" r:id="rId22"/>
    <p:sldId id="688" r:id="rId23"/>
    <p:sldId id="661" r:id="rId24"/>
    <p:sldId id="662" r:id="rId25"/>
    <p:sldId id="663" r:id="rId26"/>
    <p:sldId id="664" r:id="rId27"/>
    <p:sldId id="665" r:id="rId28"/>
    <p:sldId id="666" r:id="rId29"/>
    <p:sldId id="667" r:id="rId30"/>
    <p:sldId id="668" r:id="rId31"/>
    <p:sldId id="669" r:id="rId32"/>
    <p:sldId id="670" r:id="rId33"/>
    <p:sldId id="671" r:id="rId34"/>
    <p:sldId id="672" r:id="rId35"/>
    <p:sldId id="673" r:id="rId36"/>
    <p:sldId id="674" r:id="rId37"/>
    <p:sldId id="675" r:id="rId38"/>
    <p:sldId id="676" r:id="rId39"/>
    <p:sldId id="677" r:id="rId40"/>
    <p:sldId id="678" r:id="rId41"/>
    <p:sldId id="679" r:id="rId42"/>
    <p:sldId id="680" r:id="rId43"/>
    <p:sldId id="681" r:id="rId44"/>
    <p:sldId id="682" r:id="rId45"/>
    <p:sldId id="683" r:id="rId46"/>
    <p:sldId id="684" r:id="rId47"/>
    <p:sldId id="685" r:id="rId48"/>
    <p:sldId id="697" r:id="rId49"/>
    <p:sldId id="698" r:id="rId50"/>
    <p:sldId id="699" r:id="rId51"/>
    <p:sldId id="700" r:id="rId52"/>
    <p:sldId id="686" r:id="rId53"/>
    <p:sldId id="701" r:id="rId54"/>
    <p:sldId id="702" r:id="rId55"/>
    <p:sldId id="703" r:id="rId56"/>
    <p:sldId id="704" r:id="rId57"/>
    <p:sldId id="705" r:id="rId58"/>
    <p:sldId id="706" r:id="rId59"/>
    <p:sldId id="707" r:id="rId60"/>
    <p:sldId id="687" r:id="rId61"/>
    <p:sldId id="708" r:id="rId62"/>
    <p:sldId id="491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552" autoAdjust="0"/>
  </p:normalViewPr>
  <p:slideViewPr>
    <p:cSldViewPr>
      <p:cViewPr varScale="1">
        <p:scale>
          <a:sx n="84" d="100"/>
          <a:sy n="84" d="100"/>
        </p:scale>
        <p:origin x="595" y="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335A0-DBCE-44E5-9B40-295659989D62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5C9B3-241D-4FF0-B990-4FABA7B21D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3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5C9B3-241D-4FF0-B990-4FABA7B21D3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39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4" y="152402"/>
            <a:ext cx="8839202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14" y="2362202"/>
            <a:ext cx="10791497" cy="3733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9"/>
          <p:cNvSpPr>
            <a:spLocks noGrp="1"/>
          </p:cNvSpPr>
          <p:nvPr userDrawn="1">
            <p:ph type="dt" sz="half" idx="2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365AEF63-01FC-4134-AE19-ADFEE9DC515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 userDrawn="1">
            <p:ph type="sldNum" sz="quarter" idx="4"/>
          </p:nvPr>
        </p:nvSpPr>
        <p:spPr>
          <a:xfrm>
            <a:off x="8737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 userDrawn="1">
            <p:ph type="ftr" sz="quarter" idx="3"/>
          </p:nvPr>
        </p:nvSpPr>
        <p:spPr>
          <a:xfrm>
            <a:off x="41656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4" y="152402"/>
            <a:ext cx="8839202" cy="609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2" y="1828802"/>
            <a:ext cx="11582400" cy="4495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154B9F69-0570-4328-A351-624C6148D36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5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41656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4"/>
          </p:nvPr>
        </p:nvSpPr>
        <p:spPr>
          <a:xfrm>
            <a:off x="8737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304802" y="1981200"/>
            <a:ext cx="11582400" cy="4343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latin typeface="Times New Roman" pitchFamily="18" charset="0"/>
                <a:cs typeface="Times New Roman" pitchFamily="18" charset="0"/>
              </a:defRPr>
            </a:lvl1pPr>
            <a:lvl2pPr>
              <a:defRPr sz="3600">
                <a:latin typeface="Times New Roman" pitchFamily="18" charset="0"/>
                <a:cs typeface="Times New Roman" pitchFamily="18" charset="0"/>
              </a:defRPr>
            </a:lvl2pPr>
            <a:lvl3pPr>
              <a:defRPr sz="3200">
                <a:latin typeface="Times New Roman" pitchFamily="18" charset="0"/>
                <a:cs typeface="Times New Roman" pitchFamily="18" charset="0"/>
              </a:defRPr>
            </a:lvl3pPr>
            <a:lvl4pPr>
              <a:defRPr sz="2800">
                <a:latin typeface="Times New Roman" pitchFamily="18" charset="0"/>
                <a:cs typeface="Times New Roman" pitchFamily="18" charset="0"/>
              </a:defRPr>
            </a:lvl4pPr>
            <a:lvl5pPr>
              <a:defRPr sz="2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4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BAC2C7B5-640A-463A-A6C4-C7EBD7B37899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5"/>
          </p:nvPr>
        </p:nvSpPr>
        <p:spPr>
          <a:xfrm>
            <a:off x="9042402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6"/>
          </p:nvPr>
        </p:nvSpPr>
        <p:spPr>
          <a:xfrm>
            <a:off x="43688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625600" y="251461"/>
            <a:ext cx="8940800" cy="5867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35" y="457200"/>
            <a:ext cx="393276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38" y="987429"/>
            <a:ext cx="617220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35" y="2057403"/>
            <a:ext cx="3932766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689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4" y="152402"/>
            <a:ext cx="8839202" cy="762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"/>
            <a:ext cx="12192000" cy="6858000"/>
          </a:xfrm>
          <a:prstGeom prst="rect">
            <a:avLst/>
          </a:prstGeom>
          <a:noFill/>
          <a:ln w="952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76200" y="1447800"/>
            <a:ext cx="121158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7203" y="116175"/>
            <a:ext cx="972478" cy="1179225"/>
          </a:xfrm>
          <a:prstGeom prst="rect">
            <a:avLst/>
          </a:prstGeom>
        </p:spPr>
      </p:pic>
      <p:pic>
        <p:nvPicPr>
          <p:cNvPr id="11" name="Picture 10" descr="A logo with text and a flower&#10;&#10;AI-generated content may be incorrect."/>
          <p:cNvPicPr/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0893" y="116175"/>
            <a:ext cx="998220" cy="11049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6" r:id="rId2"/>
    <p:sldLayoutId id="2147483674" r:id="rId3"/>
    <p:sldLayoutId id="2147483678" r:id="rId4"/>
  </p:sldLayoutIdLst>
  <p:hf hdr="0"/>
  <p:txStyles>
    <p:titleStyle>
      <a:lvl1pPr marL="0" algn="ctr" defTabSz="914400" rtl="0" eaLnBrk="1" latinLnBrk="0" hangingPunct="1">
        <a:spcBef>
          <a:spcPct val="0"/>
        </a:spcBef>
        <a:buNone/>
        <a:defRPr lang="en-US" sz="3600" b="1" kern="1200" dirty="0">
          <a:solidFill>
            <a:schemeClr val="bg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498611" y="2"/>
            <a:ext cx="9140827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en-US" sz="2800" b="1" dirty="0"/>
          </a:p>
          <a:p>
            <a:pPr algn="ctr"/>
            <a:r>
              <a:rPr lang="en-US" sz="3200" b="1" dirty="0"/>
              <a:t>SRI RAMAKRISHNA ENGINEERING COLLEGE</a:t>
            </a:r>
            <a:endParaRPr lang="en-US" sz="3200" dirty="0"/>
          </a:p>
          <a:p>
            <a:pPr algn="ctr"/>
            <a:endParaRPr lang="en-US" sz="2000" b="1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266835" y="4791430"/>
            <a:ext cx="6629403" cy="1430614"/>
          </a:xfrm>
          <a:prstGeom prst="rect">
            <a:avLst/>
          </a:prstGeom>
        </p:spPr>
        <p:txBody>
          <a:bodyPr lIns="0" tIns="0" rIns="0" bIns="0"/>
          <a:lstStyle/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b="1" dirty="0">
                <a:latin typeface="+mj-lt"/>
                <a:cs typeface="Arial" pitchFamily="34" charset="0"/>
              </a:rPr>
              <a:t>Course </a:t>
            </a:r>
            <a:r>
              <a:rPr lang="en-US" sz="2600" b="1" dirty="0" smtClean="0">
                <a:latin typeface="+mj-lt"/>
                <a:cs typeface="Arial" pitchFamily="34" charset="0"/>
              </a:rPr>
              <a:t>Instructor:</a:t>
            </a:r>
            <a:endParaRPr lang="en-US" sz="2600" b="1" dirty="0">
              <a:latin typeface="+mj-lt"/>
              <a:cs typeface="Arial" pitchFamily="34" charset="0"/>
            </a:endParaRP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400" b="1" dirty="0" err="1">
                <a:solidFill>
                  <a:srgbClr val="0070C0"/>
                </a:solidFill>
                <a:latin typeface="+mj-lt"/>
                <a:cs typeface="Arial" pitchFamily="34" charset="0"/>
              </a:rPr>
              <a:t>Mr.R.Chandru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pitchFamily="34" charset="0"/>
              </a:rPr>
              <a:t>, </a:t>
            </a: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400" b="1" dirty="0" smtClean="0">
                <a:solidFill>
                  <a:srgbClr val="0070C0"/>
                </a:solidFill>
                <a:latin typeface="+mj-lt"/>
                <a:cs typeface="Arial" pitchFamily="34" charset="0"/>
              </a:rPr>
              <a:t>Assistant Professor(</a:t>
            </a:r>
            <a:r>
              <a:rPr lang="en-US" sz="2400" b="1" dirty="0" err="1" smtClean="0">
                <a:solidFill>
                  <a:srgbClr val="0070C0"/>
                </a:solidFill>
                <a:latin typeface="+mj-lt"/>
                <a:cs typeface="Arial" pitchFamily="34" charset="0"/>
              </a:rPr>
              <a:t>Sl.G</a:t>
            </a:r>
            <a:r>
              <a:rPr lang="en-US" sz="2400" b="1" dirty="0" smtClean="0">
                <a:solidFill>
                  <a:srgbClr val="0070C0"/>
                </a:solidFill>
                <a:latin typeface="+mj-lt"/>
                <a:cs typeface="Arial" pitchFamily="34" charset="0"/>
              </a:rPr>
              <a:t>)/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pitchFamily="34" charset="0"/>
              </a:rPr>
              <a:t>ECE </a:t>
            </a: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7896234" y="5137409"/>
            <a:ext cx="2743202" cy="467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2400" b="1" dirty="0"/>
              <a:t>No. of </a:t>
            </a:r>
            <a:r>
              <a:rPr lang="fr-FR" sz="2400" b="1" dirty="0" err="1"/>
              <a:t>Credits</a:t>
            </a:r>
            <a:r>
              <a:rPr lang="fr-FR" sz="2400" b="1" dirty="0"/>
              <a:t> </a:t>
            </a:r>
            <a:r>
              <a:rPr lang="fr-FR" sz="2400" b="1" dirty="0" smtClean="0"/>
              <a:t>: 3</a:t>
            </a:r>
            <a:endParaRPr lang="en-US" sz="2400" b="1" dirty="0">
              <a:latin typeface="Lucida Bright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3758631"/>
            <a:ext cx="95964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rgbClr val="7030A0"/>
                </a:solidFill>
              </a:rPr>
              <a:t> </a:t>
            </a:r>
            <a:r>
              <a:rPr lang="en-IN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20EC214 </a:t>
            </a:r>
            <a:r>
              <a:rPr lang="en-US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&amp; </a:t>
            </a:r>
            <a:r>
              <a:rPr lang="en-IN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DIGITAL CMOS VLSI CIRCUITS</a:t>
            </a:r>
            <a:endParaRPr lang="fr-FR" sz="3200" b="1" dirty="0">
              <a:solidFill>
                <a:srgbClr val="7030A0"/>
              </a:solidFill>
              <a:latin typeface="Bookman Old Style" panose="02050604050505020204" pitchFamily="18" charset="0"/>
              <a:cs typeface="Arial" pitchFamily="34" charset="0"/>
            </a:endParaRPr>
          </a:p>
          <a:p>
            <a:pPr algn="ctr">
              <a:defRPr/>
            </a:pPr>
            <a:endParaRPr lang="fr-FR" sz="3200" b="1" dirty="0">
              <a:solidFill>
                <a:srgbClr val="7030A0"/>
              </a:solidFill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835" y="3037182"/>
            <a:ext cx="9604400" cy="536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Department of  Electronics and Communication  Engineering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8" y="1588171"/>
            <a:ext cx="759301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[Educational Service : SNR Sons Charitable Trust]</a:t>
            </a:r>
          </a:p>
          <a:p>
            <a:pPr algn="ctr"/>
            <a:r>
              <a:rPr lang="en-US" sz="1600" dirty="0"/>
              <a:t>  [Autonomous Institution, </a:t>
            </a:r>
            <a:r>
              <a:rPr lang="en-US" sz="1600" dirty="0" smtClean="0"/>
              <a:t>Reaccredited </a:t>
            </a:r>
            <a:r>
              <a:rPr lang="en-US" sz="1600" dirty="0"/>
              <a:t>by NAAC with ‘</a:t>
            </a:r>
            <a:r>
              <a:rPr lang="en-US" sz="1600" dirty="0" smtClean="0"/>
              <a:t>A+’ </a:t>
            </a:r>
            <a:r>
              <a:rPr lang="en-US" sz="1600" dirty="0"/>
              <a:t>Grade]</a:t>
            </a:r>
          </a:p>
          <a:p>
            <a:pPr algn="ctr"/>
            <a:r>
              <a:rPr lang="en-US" sz="1600" dirty="0"/>
              <a:t>      [Approved by AICTE and Permanently Affiliated to Anna University, Chennai]</a:t>
            </a:r>
          </a:p>
          <a:p>
            <a:pPr algn="ctr"/>
            <a:r>
              <a:rPr lang="en-US" sz="1600" dirty="0"/>
              <a:t>        [ISO 9001-2015 Certified and all eligible programmes Accredited by NBA]   </a:t>
            </a:r>
          </a:p>
          <a:p>
            <a:pPr algn="ctr"/>
            <a:r>
              <a:rPr lang="en-US" sz="1600" dirty="0"/>
              <a:t>             VATTAMALAIPALAYAM, N.G.G.O. COLONY POST, COIMBATORE – 641 022.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C9258C-6A34-4EEA-AE4D-5206E875D86B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88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52400" y="1371600"/>
            <a:ext cx="11734802" cy="4343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On successful completion of the course, students will be able to,</a:t>
            </a:r>
          </a:p>
          <a:p>
            <a:pPr marL="0" indent="0" algn="just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Bookman Old Style" panose="020506040505050202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46006A2-30E0-43FC-876C-CE2836461F4D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25600" y="441958"/>
            <a:ext cx="89408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OUTCOMES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="" xmlns:a16="http://schemas.microsoft.com/office/drawing/2014/main" id="{7A19BD47-2C52-48CB-86AB-EE9530EE5BF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09600" y="2209801"/>
          <a:ext cx="10820400" cy="3784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73">
                  <a:extLst>
                    <a:ext uri="{9D8B030D-6E8A-4147-A177-3AD203B41FA5}">
                      <a16:colId xmlns="" xmlns:a16="http://schemas.microsoft.com/office/drawing/2014/main" val="2579258821"/>
                    </a:ext>
                  </a:extLst>
                </a:gridCol>
                <a:gridCol w="9776327">
                  <a:extLst>
                    <a:ext uri="{9D8B030D-6E8A-4147-A177-3AD203B41FA5}">
                      <a16:colId xmlns="" xmlns:a16="http://schemas.microsoft.com/office/drawing/2014/main" val="2600226381"/>
                    </a:ext>
                  </a:extLst>
                </a:gridCol>
              </a:tblGrid>
              <a:tr h="3864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C00000"/>
                          </a:solidFill>
                          <a:latin typeface="Bookman Old Style" panose="02050604050505020204" pitchFamily="18" charset="0"/>
                        </a:rPr>
                        <a:t>COURSE OUTCOMES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65368251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1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Interpret the characteristics and manufacturing process technology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of MOS transistor.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843555094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2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Analyze the various logic styles of CMOS combinational and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sequential circuits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709568410"/>
                  </a:ext>
                </a:extLst>
              </a:tr>
              <a:tr h="47638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3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Design the various digital arithmetic logic circuits.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316732819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4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Illustrate the performance of the digital circuits by examining the timing issues.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983873499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5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Make use of MOS concepts in construction of Memory Array Subsystem.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33061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479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22D12AE-D5EC-4008-B1F1-5E958AD29A1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996B7060-1BA4-42E1-85AD-7DA4ABB1736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8F5864-67D6-46A9-BCE3-D7973A5B0B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5F5EF3-7E02-4900-B56C-6955F979C6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7" name="Title 5">
            <a:extLst>
              <a:ext uri="{FF2B5EF4-FFF2-40B4-BE49-F238E27FC236}">
                <a16:creationId xmlns="" xmlns:a16="http://schemas.microsoft.com/office/drawing/2014/main" id="{03355A1C-B111-4CCF-9F99-3D8DA29B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51460"/>
            <a:ext cx="67056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CONTENTS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="" xmlns:a16="http://schemas.microsoft.com/office/drawing/2014/main" id="{F21E3ABD-DD2D-4924-85FA-E2761F779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899" y="1660531"/>
            <a:ext cx="11506202" cy="5105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PREREQUISITES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20EC204 - Digital System Design</a:t>
            </a:r>
          </a:p>
          <a:p>
            <a:pPr marL="0" indent="0">
              <a:buNone/>
            </a:pP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MOS TRANSISTOR AND PROCESSING			  			10</a:t>
            </a:r>
            <a:endParaRPr lang="en-US" sz="5600" b="1" dirty="0"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MOSFET theory - Transistor switches - Compound gates - Design equations - IV characteristics - CV characteristics - Second order effects - Energy and Power - Resistance Estimation - Capacitance Estimation - Switching Characteristics - RC Delay Models - Logical Effort for gates - CMOS Process technology - Design Rules and Layout.</a:t>
            </a:r>
          </a:p>
          <a:p>
            <a:pPr marL="0" indent="0">
              <a:buNone/>
            </a:pPr>
            <a:endParaRPr lang="fr-FR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fr-FR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CMOS LOGIC STRUCTURES 							11</a:t>
            </a:r>
          </a:p>
          <a:p>
            <a:pPr marL="0" indent="0" algn="just">
              <a:buNone/>
            </a:pP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Combinational Circuits: CMOS Inverter - DC Characteristics - Complementary Logic Structures - Ratioed logic - Pass transistor logic - Transmission gate - Tristate Inverter - Multiplexers - Dynamic logic structures. Sequential </a:t>
            </a: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Circuits: Static latches and Registers, Dynamic latches and Registers, Pulse Registers, Sense Amplifier Based </a:t>
            </a: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Register, Pipelining.</a:t>
            </a:r>
          </a:p>
          <a:p>
            <a:pPr marL="0" indent="0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DESIGN OF ARITHMETIC BUILDING BLOCKS 				8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Full adder, Ripple carry adder, Carry bypass adder, Linear and Square root carry-select adder, Carry look-ahead adder - Multipliers - Barrel and logarithmic shifter.</a:t>
            </a:r>
          </a:p>
          <a:p>
            <a:pPr marL="0" indent="0">
              <a:buNone/>
            </a:pP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TIMING ISSUES 								8</a:t>
            </a: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Timing Basics, Sources of Skew and Jitter, Clock-Distribution Techniques, Latch-Based locking, Self-Timed Circuit Design, Synchronizers and Arbiters, Clock Synthesis and Synchronization Using a Phase-Locked Loop.</a:t>
            </a:r>
          </a:p>
          <a:p>
            <a:pPr marL="0" indent="0">
              <a:buNone/>
            </a:pP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MEMORY ARRAY SUBSYSTEM 						8</a:t>
            </a: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SRAM: SRAM Cells, Row Circuitry, Column Circuitry. </a:t>
            </a:r>
            <a:r>
              <a:rPr lang="en-US" sz="56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Multiported</a:t>
            </a: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 SRAM and Register files  DRAM: Subarray Architectures, Column Circuitry, Embedded DRAM. Read-Only Memory: Programmable ROMs, NAND ROMs, Flash.</a:t>
            </a:r>
            <a:endParaRPr lang="en-IN" sz="55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979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22D12AE-D5EC-4008-B1F1-5E958AD29A1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D5F23E-4B97-4B63-96EF-1A2CA42953CA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8F5864-67D6-46A9-BCE3-D7973A5B0B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5F5EF3-7E02-4900-B56C-6955F979C6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="" xmlns:a16="http://schemas.microsoft.com/office/drawing/2014/main" id="{F21E3ABD-DD2D-4924-85FA-E2761F779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1752600"/>
            <a:ext cx="11811000" cy="457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TEXT BOOKS</a:t>
            </a:r>
          </a:p>
          <a:p>
            <a:pPr algn="just">
              <a:buFont typeface="+mj-lt"/>
              <a:buAutoNum type="arabicPeriod"/>
            </a:pP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Neil H.E. </a:t>
            </a:r>
            <a:r>
              <a:rPr lang="en-US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Weste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and David Harris, "CMOS VLSI Design A Circuits and Systems Perspective", 4th Edition, 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Pearson Education, Reprint 2010.</a:t>
            </a:r>
          </a:p>
          <a:p>
            <a:pPr algn="just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Jan M.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Rabaey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Anantha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Chandrakasan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and B Nikolic, "Digital Integrated Circuits: A Design Perspective", 2nd 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Edition, Pearson Education India, 2016.</a:t>
            </a:r>
            <a:endParaRPr lang="en-IN" sz="19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REFERENCES</a:t>
            </a:r>
            <a:r>
              <a:rPr lang="en-IN" dirty="0"/>
              <a:t>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Douglas. A.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Pucknell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Kamran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Eshraghian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"Basic VLSI Design", 3rd Edition, Prentice Hall India, 2010.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John </a:t>
            </a:r>
            <a:r>
              <a:rPr lang="en-US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P.Uyemura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"Introduction to VLSI Circuits and Systems", John Wiley &amp; Sons, 2012.</a:t>
            </a:r>
          </a:p>
          <a:p>
            <a:pPr marL="0" indent="0" algn="just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WEB REFERENCES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https://nptel.ac.in/courses/108/107/108107129/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https://nptel.ac.in/courses/117/106/117106093/</a:t>
            </a:r>
          </a:p>
        </p:txBody>
      </p:sp>
      <p:sp>
        <p:nvSpPr>
          <p:cNvPr id="7" name="Title 5">
            <a:extLst>
              <a:ext uri="{FF2B5EF4-FFF2-40B4-BE49-F238E27FC236}">
                <a16:creationId xmlns="" xmlns:a16="http://schemas.microsoft.com/office/drawing/2014/main" id="{ADA0AE8C-4FFC-FDA7-3637-9AC9C3332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51460"/>
            <a:ext cx="67056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CONTENTS</a:t>
            </a:r>
          </a:p>
        </p:txBody>
      </p:sp>
    </p:spTree>
    <p:extLst>
      <p:ext uri="{BB962C8B-B14F-4D97-AF65-F5344CB8AC3E}">
        <p14:creationId xmlns:p14="http://schemas.microsoft.com/office/powerpoint/2010/main" val="1408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BB8E4B51-1B8E-4E4E-8A93-7E22AE309A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600200"/>
            <a:ext cx="8686800" cy="47244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Introduction to Memory Systems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SRAM – Static Random Access Memory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SRAM Cell Design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SRAM Read and Write Operations  </a:t>
            </a:r>
          </a:p>
          <a:p>
            <a:pPr marL="0" indent="0" algn="just">
              <a:buNone/>
            </a:pP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Row Decoder and Word Line Design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Column Circuitry and Bit Line  </a:t>
            </a:r>
          </a:p>
          <a:p>
            <a:pPr marL="0" indent="0" algn="just">
              <a:buNone/>
            </a:pP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</a:t>
            </a:r>
            <a:r>
              <a:rPr lang="en-IN" sz="21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Multiported</a:t>
            </a: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SRAM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Register Files  </a:t>
            </a:r>
          </a:p>
          <a:p>
            <a:pPr marL="0" indent="0" algn="just">
              <a:buNone/>
            </a:pP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DRAM – Dynamic Random Access Memory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DRAM Cell Operation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DRAM </a:t>
            </a:r>
            <a:r>
              <a:rPr lang="en-IN" sz="21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Subarray</a:t>
            </a: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Architecture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Column Circuit in DRAM  </a:t>
            </a:r>
          </a:p>
          <a:p>
            <a:pPr marL="0" indent="0" algn="just">
              <a:buNone/>
            </a:pP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Embedded DRAM  </a:t>
            </a:r>
          </a:p>
          <a:p>
            <a:pPr marL="0" indent="0" algn="just">
              <a:buNone/>
            </a:pP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Read Only Memory (ROM)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Programmable ROM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NAND ROM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Flash Memory</a:t>
            </a: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D00F0B4-33BA-48A4-8960-F3E68BD377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4CC8DBC-17AA-405C-9FF1-39D3EE8894D4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5C77551-F1A1-4B49-8894-B2BB15489D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EC1679C-11D5-4753-B542-E03E8DAE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01A0B170-8F2D-43D0-A264-D31E94A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MEMORY ARRAY SUBSYSTEM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179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2248" y="1752600"/>
            <a:ext cx="16877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Memory Access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731475"/>
            <a:ext cx="7835150" cy="451095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4800" y="2286000"/>
            <a:ext cx="30637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Memory Classification (Important Concept)</a:t>
            </a:r>
          </a:p>
          <a:p>
            <a:r>
              <a:rPr lang="en-US" b="1" dirty="0" smtClean="0"/>
              <a:t> </a:t>
            </a:r>
            <a:r>
              <a:rPr lang="en-US" b="1" dirty="0"/>
              <a:t>Old Classification (Confusing)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ROM (Read Only Memory)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RAM (Read/Write Memory)</a:t>
            </a:r>
            <a:r>
              <a:rPr lang="en-US" dirty="0"/>
              <a:t> </a:t>
            </a:r>
          </a:p>
          <a:p>
            <a:r>
              <a:rPr lang="en-US" dirty="0"/>
              <a:t>👉 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ROMs can actually be written (e.g., EEPROM, Flash).</a:t>
            </a:r>
          </a:p>
        </p:txBody>
      </p:sp>
    </p:spTree>
    <p:extLst>
      <p:ext uri="{BB962C8B-B14F-4D97-AF65-F5344CB8AC3E}">
        <p14:creationId xmlns:p14="http://schemas.microsoft.com/office/powerpoint/2010/main" val="280865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1421" y="1752600"/>
            <a:ext cx="3210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Random Access Memory (RAM)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421" y="2286000"/>
            <a:ext cx="304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Accessed using an </a:t>
            </a:r>
            <a:r>
              <a:rPr lang="en-US" b="1" dirty="0"/>
              <a:t>address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Access time is constant</a:t>
            </a:r>
            <a:r>
              <a:rPr lang="en-US" dirty="0"/>
              <a:t>, no matter which location you choose.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Accessing any index in an array directly. </a:t>
            </a:r>
          </a:p>
          <a:p>
            <a:r>
              <a:rPr lang="en-US" dirty="0"/>
              <a:t>👉 Key idea: </a:t>
            </a:r>
            <a:r>
              <a:rPr lang="en-US" i="1" dirty="0"/>
              <a:t>Fast and direct access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97970" y="1752600"/>
            <a:ext cx="2272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Serial Access 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6071" y="2286000"/>
            <a:ext cx="3276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is accessed </a:t>
            </a:r>
            <a:r>
              <a:rPr lang="en-US" b="1" dirty="0"/>
              <a:t>sequentially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direct address access.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Tape storage, shift registers. </a:t>
            </a:r>
          </a:p>
          <a:p>
            <a:r>
              <a:rPr lang="en-US" dirty="0"/>
              <a:t>👉 Key idea: </a:t>
            </a:r>
            <a:r>
              <a:rPr lang="en-US" i="1" dirty="0"/>
              <a:t>Must go step-by-step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8077200" y="1739774"/>
            <a:ext cx="37042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Content Addressable Memory (CAM)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200" y="2301844"/>
            <a:ext cx="3886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don’t give an address.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Instead, you provide a </a:t>
            </a:r>
            <a:r>
              <a:rPr lang="en-US" b="1" dirty="0"/>
              <a:t>data pattern (key)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Memory </a:t>
            </a:r>
            <a:r>
              <a:rPr lang="en-US" b="1" dirty="0"/>
              <a:t>searches and returns matching locations</a:t>
            </a:r>
            <a:r>
              <a:rPr lang="en-US" dirty="0"/>
              <a:t>. </a:t>
            </a:r>
          </a:p>
          <a:p>
            <a:r>
              <a:rPr lang="en-US" dirty="0"/>
              <a:t>👉 Key idea: </a:t>
            </a:r>
            <a:r>
              <a:rPr lang="en-US" i="1" dirty="0"/>
              <a:t>Search-based memory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349421" y="478706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Memory types: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RAM → Address-based, fast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Serial → Sequential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CAM → Search-based</a:t>
            </a:r>
          </a:p>
        </p:txBody>
      </p:sp>
    </p:spTree>
    <p:extLst>
      <p:ext uri="{BB962C8B-B14F-4D97-AF65-F5344CB8AC3E}">
        <p14:creationId xmlns:p14="http://schemas.microsoft.com/office/powerpoint/2010/main" val="58490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06" y="1486275"/>
            <a:ext cx="4877188" cy="459436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28148" y="1600200"/>
            <a:ext cx="3479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Basic Memory Size Representation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2790" y="1969532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memory array is defined as: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2ⁿ words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word has </a:t>
            </a:r>
            <a:r>
              <a:rPr lang="en-US" b="1" dirty="0"/>
              <a:t>2ᵐ bits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👉 Total memory cells = </a:t>
            </a:r>
            <a:r>
              <a:rPr lang="en-US" b="1" dirty="0"/>
              <a:t>2ⁿ × 2ᵐ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📌 </a:t>
            </a:r>
            <a:r>
              <a:rPr lang="en-US" dirty="0" smtClean="0"/>
              <a:t>Example: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 = 4 → 2⁴ = 16 words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 = 2 → 2² = 4 bits per word </a:t>
            </a:r>
          </a:p>
          <a:p>
            <a:pPr>
              <a:lnSpc>
                <a:spcPct val="150000"/>
              </a:lnSpc>
            </a:pPr>
            <a:r>
              <a:rPr lang="en-US" dirty="0"/>
              <a:t>👉 So memory = </a:t>
            </a:r>
            <a:r>
              <a:rPr lang="en-US" b="1" dirty="0"/>
              <a:t>16 × 4 = 64 cells</a:t>
            </a:r>
            <a:endParaRPr lang="en-US" dirty="0"/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2286000" y="2267635"/>
            <a:ext cx="2819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row = one word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column = one bit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051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1923630"/>
            <a:ext cx="113286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Static RAMs use a memory cell with internal feedback that retains its value as long as power is applied.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has the following attractive properties: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Denser </a:t>
            </a:r>
            <a:r>
              <a:rPr lang="en-US" dirty="0"/>
              <a:t>than flip-flops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Compatible </a:t>
            </a:r>
            <a:r>
              <a:rPr lang="en-US" dirty="0"/>
              <a:t>with standard CMOS processes 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1626764"/>
            <a:ext cx="7649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SRAM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33400" y="4648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RAM (SRAM)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a memory cell with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internal feedback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retains data as long as power is 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refresh is required (unlike DRAM). </a:t>
            </a:r>
          </a:p>
        </p:txBody>
      </p:sp>
    </p:spTree>
    <p:extLst>
      <p:ext uri="{BB962C8B-B14F-4D97-AF65-F5344CB8AC3E}">
        <p14:creationId xmlns:p14="http://schemas.microsoft.com/office/powerpoint/2010/main" val="60874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8667" y="1676400"/>
            <a:ext cx="5557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Introduction to SRAM Cells - The 6T Memory Cell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2362200"/>
            <a:ext cx="10820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Key Concept: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The fundamental building block of Static Random-Access Memory (SRAM).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Core Requirements of an SRAM Cell: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Hold Data: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Retain a value (0 or 1) as long as power is supplied.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Read Data: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Allow the stored value to be sensed.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Write Data: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Allow the stored value to be overwritten.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The SRAM vs. Flip-Flop Trade-off: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A flip-flop can perform these functions but is physically large.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An SRAM cell achieves the same goal in a much smaller area, making it ideal for large memory arrays.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63491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0020" y="1676400"/>
            <a:ext cx="3223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The Standard 6T SRAM Cell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49" y="2514600"/>
            <a:ext cx="4118316" cy="324824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91000" y="1861066"/>
            <a:ext cx="7886698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Components of the 6T Cell: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Two Cross-Coupled Inverters: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Form a "weak" latch that holds the state (0 or 1).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Two Access Transistors (Pass Gates):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Connect the internal state to the </a:t>
            </a:r>
            <a:r>
              <a:rPr lang="en-US" dirty="0" smtClean="0">
                <a:solidFill>
                  <a:srgbClr val="0F1115"/>
                </a:solidFill>
                <a:latin typeface="quote-cjk-patch"/>
              </a:rPr>
              <a:t>bit lines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for read and write operations.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Advantages of the Compact 6T Cell: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Smaller Size: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An order of magnitude smaller than a flip-flop.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Lower Dynamic Power: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Shorter wires result in less capacitance and lower power consumption.</a:t>
            </a:r>
          </a:p>
          <a:p>
            <a:pPr>
              <a:lnSpc>
                <a:spcPct val="150000"/>
              </a:lnSpc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21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987" y="1600200"/>
            <a:ext cx="3146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SRAM Read Operation (6T Cell)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286000"/>
            <a:ext cx="9144587" cy="338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54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987" y="1600200"/>
            <a:ext cx="3146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SRAM Read Operation (6T Cell)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33600"/>
            <a:ext cx="9144000" cy="393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9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987" y="1600200"/>
            <a:ext cx="3146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SRAM Read Operation (6T Cell)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133600"/>
            <a:ext cx="8458960" cy="361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39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987" y="1600200"/>
            <a:ext cx="3146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SRAM Read Operation (6T Cell)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7400"/>
            <a:ext cx="8863773" cy="378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7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987" y="1600200"/>
            <a:ext cx="3146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SRAM Read Operation (6T Cell)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17622"/>
            <a:ext cx="6189337" cy="23634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281037"/>
            <a:ext cx="8647690" cy="211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086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987" y="1600200"/>
            <a:ext cx="3201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SRAM </a:t>
            </a:r>
            <a:r>
              <a:rPr lang="en-US" b="1" dirty="0" smtClean="0">
                <a:solidFill>
                  <a:srgbClr val="FF0000"/>
                </a:solidFill>
              </a:rPr>
              <a:t>Write </a:t>
            </a:r>
            <a:r>
              <a:rPr lang="en-US" b="1" dirty="0">
                <a:solidFill>
                  <a:srgbClr val="FF0000"/>
                </a:solidFill>
              </a:rPr>
              <a:t>Operation (6T Cell)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481859"/>
            <a:ext cx="8134499" cy="309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6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987" y="1600200"/>
            <a:ext cx="3201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SRAM </a:t>
            </a:r>
            <a:r>
              <a:rPr lang="en-US" b="1" dirty="0" smtClean="0">
                <a:solidFill>
                  <a:srgbClr val="FF0000"/>
                </a:solidFill>
              </a:rPr>
              <a:t>Write </a:t>
            </a:r>
            <a:r>
              <a:rPr lang="en-US" b="1" dirty="0">
                <a:solidFill>
                  <a:srgbClr val="FF0000"/>
                </a:solidFill>
              </a:rPr>
              <a:t>Operation (6T Cell)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057400"/>
            <a:ext cx="7427423" cy="381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0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987" y="1600200"/>
            <a:ext cx="3201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SRAM </a:t>
            </a:r>
            <a:r>
              <a:rPr lang="en-US" b="1" dirty="0" smtClean="0">
                <a:solidFill>
                  <a:srgbClr val="FF0000"/>
                </a:solidFill>
              </a:rPr>
              <a:t>Write </a:t>
            </a:r>
            <a:r>
              <a:rPr lang="en-US" b="1" dirty="0">
                <a:solidFill>
                  <a:srgbClr val="FF0000"/>
                </a:solidFill>
              </a:rPr>
              <a:t>Operation (6T Cell)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7" y="2174308"/>
            <a:ext cx="5849643" cy="17303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949" y="1924818"/>
            <a:ext cx="6170940" cy="321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7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987" y="1600200"/>
            <a:ext cx="3201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SRAM </a:t>
            </a:r>
            <a:r>
              <a:rPr lang="en-US" b="1" dirty="0" smtClean="0">
                <a:solidFill>
                  <a:srgbClr val="FF0000"/>
                </a:solidFill>
              </a:rPr>
              <a:t>Write </a:t>
            </a:r>
            <a:r>
              <a:rPr lang="en-US" b="1" dirty="0">
                <a:solidFill>
                  <a:srgbClr val="FF0000"/>
                </a:solidFill>
              </a:rPr>
              <a:t>Operation (6T Cell)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67" y="2314389"/>
            <a:ext cx="3870803" cy="190168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0" y="1772471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bit-lines only sense the stored value without forcing it—the cell must remain stable. In a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bit-lines forcibly overwrite the stored value—the cell must flip reliably. These opposing requirements are balanced through careful transistor sizing and bit-line driver strength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68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9177" y="1752600"/>
            <a:ext cx="2810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Voltage Difference Creation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2293293"/>
            <a:ext cx="3581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bit ↓ (slightly drops)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bit_b</a:t>
            </a:r>
            <a:r>
              <a:rPr lang="en-US" dirty="0"/>
              <a:t> stays HIGH </a:t>
            </a:r>
          </a:p>
          <a:p>
            <a:r>
              <a:rPr lang="en-US" dirty="0"/>
              <a:t>👉 This small voltage difference: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Represents stored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800" y="4114800"/>
            <a:ext cx="27431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Sense Amplifier - Amplifies small difference → full logic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3358" y="1567934"/>
            <a:ext cx="14162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Read Disturb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1211" y="1937266"/>
            <a:ext cx="564188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During read: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bit was HIGH initially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 = 0 node is connected to HIGH </a:t>
            </a:r>
            <a:r>
              <a:rPr lang="en-US" dirty="0" err="1"/>
              <a:t>bitline</a:t>
            </a:r>
            <a:r>
              <a:rPr lang="en-US" dirty="0"/>
              <a:t> </a:t>
            </a:r>
          </a:p>
          <a:p>
            <a:r>
              <a:rPr lang="en-US" dirty="0"/>
              <a:t>👉 So: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 </a:t>
            </a:r>
            <a:r>
              <a:rPr lang="en-US" b="1" dirty="0"/>
              <a:t>slightly </a:t>
            </a:r>
            <a:r>
              <a:rPr lang="en-US" b="1" dirty="0" smtClean="0"/>
              <a:t>rises</a:t>
            </a:r>
          </a:p>
          <a:p>
            <a:r>
              <a:rPr lang="en-US" dirty="0"/>
              <a:t>If Q rises too </a:t>
            </a:r>
            <a:r>
              <a:rPr lang="en-US" dirty="0" smtClean="0"/>
              <a:t>much: Cell </a:t>
            </a:r>
            <a:r>
              <a:rPr lang="en-US" dirty="0"/>
              <a:t>may flip incorrectly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657600" y="3733653"/>
            <a:ext cx="82296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F1115"/>
                </a:solidFill>
                <a:latin typeface="quote-cjk-patch"/>
              </a:rPr>
              <a:t>If the access transistor (A1) is too strong, it will overpower the driver transistor (D1), causing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Q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to rise above the switching threshold of the inverter formed by P2/D2. This would cause the cell to flip its state (from 0 to 1) unintentionally, corrupting the data.</a:t>
            </a:r>
            <a:endParaRPr lang="en-US" dirty="0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609600" y="5525969"/>
            <a:ext cx="10778049" cy="584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Arial Black" panose="020B0A04020102020204" pitchFamily="34" charset="0"/>
              </a:rPr>
              <a:t>To prevent the cell from flipping during a read, the transistors must be carefully 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Arial Black" panose="020B0A04020102020204" pitchFamily="34" charset="0"/>
              </a:rPr>
              <a:t>ratioed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Arial Black" panose="020B0A04020102020204" pitchFamily="34" charset="0"/>
              </a:rPr>
              <a:t>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The Rule: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 The 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Driver transistor (D1) must be stronger than the Access transistor (A1)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 .</a:t>
            </a:r>
          </a:p>
        </p:txBody>
      </p:sp>
    </p:spTree>
    <p:extLst>
      <p:ext uri="{BB962C8B-B14F-4D97-AF65-F5344CB8AC3E}">
        <p14:creationId xmlns:p14="http://schemas.microsoft.com/office/powerpoint/2010/main" val="44726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9970" y="1828800"/>
            <a:ext cx="2370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SRAM Write Operation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224" y="2013466"/>
            <a:ext cx="2792184" cy="36670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85313" y="2156074"/>
            <a:ext cx="2514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Bitlines</a:t>
            </a:r>
            <a:r>
              <a:rPr lang="en-US" dirty="0"/>
              <a:t> are: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bit = HIGH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bit_b</a:t>
            </a:r>
            <a:r>
              <a:rPr lang="en-US" b="1" dirty="0"/>
              <a:t> = HIGH</a:t>
            </a:r>
            <a:r>
              <a:rPr lang="en-US" dirty="0"/>
              <a:t> </a:t>
            </a:r>
          </a:p>
          <a:p>
            <a:r>
              <a:rPr lang="en-US" dirty="0"/>
              <a:t>👉 Done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Bitline</a:t>
            </a:r>
            <a:r>
              <a:rPr lang="en-US" b="1" dirty="0"/>
              <a:t> conditioning circuit</a:t>
            </a:r>
            <a:r>
              <a:rPr lang="en-US" dirty="0"/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05671" y="4276509"/>
            <a:ext cx="26906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write driver</a:t>
            </a:r>
            <a:r>
              <a:rPr lang="en-US" dirty="0"/>
              <a:t> forces: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</a:t>
            </a:r>
            <a:r>
              <a:rPr lang="en-US" dirty="0" err="1"/>
              <a:t>bitline</a:t>
            </a:r>
            <a:r>
              <a:rPr lang="en-US" dirty="0"/>
              <a:t> → 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 </a:t>
            </a:r>
            <a:r>
              <a:rPr lang="en-US" dirty="0" err="1"/>
              <a:t>bitline</a:t>
            </a:r>
            <a:r>
              <a:rPr lang="en-US" dirty="0"/>
              <a:t> → HIGH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12457" y="5159131"/>
            <a:ext cx="27758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Signals: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write_s1</a:t>
            </a:r>
            <a:r>
              <a:rPr lang="en-US" dirty="0"/>
              <a:t> → write enable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data_s1</a:t>
            </a:r>
            <a:r>
              <a:rPr lang="en-US" dirty="0"/>
              <a:t> → data 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1732226"/>
            <a:ext cx="28151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Example: Write ‘1’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bit = HIGH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bit_b</a:t>
            </a:r>
            <a:r>
              <a:rPr lang="en-US" dirty="0"/>
              <a:t> = LOW </a:t>
            </a:r>
          </a:p>
          <a:p>
            <a:r>
              <a:rPr lang="en-US" dirty="0"/>
              <a:t>👉 Write driver: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Pulls </a:t>
            </a:r>
            <a:r>
              <a:rPr lang="en-US" b="1" dirty="0" err="1"/>
              <a:t>bit_b</a:t>
            </a:r>
            <a:r>
              <a:rPr lang="en-US" b="1" dirty="0"/>
              <a:t> strongly to GND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391400" y="3374476"/>
            <a:ext cx="26571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Assume: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Initial: Q = 0, Q̅ = 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want: Q =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4882" y="4668069"/>
            <a:ext cx="35560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Step 1: </a:t>
            </a:r>
            <a:r>
              <a:rPr lang="en-US" b="1" dirty="0" err="1"/>
              <a:t>bit_b</a:t>
            </a:r>
            <a:r>
              <a:rPr lang="en-US" b="1" dirty="0"/>
              <a:t> = 0 pulls Q̅ down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Through: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Write driver → </a:t>
            </a:r>
            <a:r>
              <a:rPr lang="en-US" dirty="0" err="1"/>
              <a:t>bit_b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Access transistor (A2)</a:t>
            </a:r>
          </a:p>
        </p:txBody>
      </p:sp>
    </p:spTree>
    <p:extLst>
      <p:ext uri="{BB962C8B-B14F-4D97-AF65-F5344CB8AC3E}">
        <p14:creationId xmlns:p14="http://schemas.microsoft.com/office/powerpoint/2010/main" val="16120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1676399"/>
            <a:ext cx="5120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Why the Read Path Can't Be Used for Writing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86000"/>
            <a:ext cx="8938356" cy="31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1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85313" y="1676399"/>
            <a:ext cx="62483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The Correct Write Strategy: Force the Opposite Side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667000"/>
            <a:ext cx="9517548" cy="297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1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85313" y="1676399"/>
            <a:ext cx="62483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The Correct Write Strategy: Force the Opposite Side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66582"/>
            <a:ext cx="8534400" cy="376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0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5650" y="1752600"/>
            <a:ext cx="3377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Introduction to Row Circuitry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05000"/>
            <a:ext cx="4458130" cy="419669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53770" y="3002667"/>
            <a:ext cx="6096000" cy="21698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The row circuitry consists of: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Decoders: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Translate binary addresses into a unique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selection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Wordline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Drivers: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Buffer and drive the heavily loaded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632834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1600200"/>
            <a:ext cx="3749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quote-cjk-patch"/>
              </a:rPr>
              <a:t>Basic Decoder Implementations </a:t>
            </a:r>
            <a:endParaRPr lang="en-US" b="1" dirty="0">
              <a:solidFill>
                <a:srgbClr val="C00000"/>
              </a:solidFill>
              <a:effectLst/>
              <a:latin typeface="quote-cjk-patc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6712" y="2160185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Static NAND + Inverter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NAND gate followed by inverter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Useful for 5–6 inputs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NAND transistors typically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minimum size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to reduce load on address lines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Good for moderate speed requirements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72300" y="1784866"/>
            <a:ext cx="4800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NOR + Buffers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NOR gate with two inverters for buffering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Easy to build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Drawbacks: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Requires ratio constraint verification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High static power consumption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Not suitable for large arrays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19232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3743" y="1676400"/>
            <a:ext cx="3211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Predecoding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Fundamentals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24000" y="1961111"/>
            <a:ext cx="838853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The Problem: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Decoders have high electrical and branching effort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Many NAND gates share identical inputs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Direct implementation creates redundant circuitry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The Solution: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Predecoding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Factor out common NAND gates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Blocks of </a:t>
            </a:r>
            <a:r>
              <a:rPr lang="en-US" dirty="0" err="1">
                <a:solidFill>
                  <a:srgbClr val="0F1115"/>
                </a:solidFill>
                <a:latin typeface="KaTeX_Main"/>
              </a:rPr>
              <a:t>p</a:t>
            </a:r>
            <a:r>
              <a:rPr lang="en-US" i="1" dirty="0" err="1">
                <a:solidFill>
                  <a:srgbClr val="0F1115"/>
                </a:solidFill>
                <a:latin typeface="KaTeX_Math"/>
              </a:rPr>
              <a:t>p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address bits are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predecoded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into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1-of-</a:t>
            </a:r>
            <a:r>
              <a:rPr lang="en-US" b="1" dirty="0">
                <a:solidFill>
                  <a:srgbClr val="0F1115"/>
                </a:solidFill>
                <a:latin typeface="KaTeX_Main"/>
              </a:rPr>
              <a:t>2p2</a:t>
            </a:r>
            <a:r>
              <a:rPr lang="en-US" b="1" i="1" dirty="0">
                <a:solidFill>
                  <a:srgbClr val="0F1115"/>
                </a:solidFill>
                <a:latin typeface="KaTeX_Math"/>
              </a:rPr>
              <a:t>p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-hot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codes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F1115"/>
                </a:solidFill>
                <a:latin typeface="quote-cjk-patch"/>
              </a:rPr>
              <a:t>Predecoded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lines feed the final stage decoder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09786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600200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Dynamic Decoders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92946" y="1505055"/>
            <a:ext cx="717025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Why Dynamic Decoders?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Lower logical effort than static CMOS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Faster operation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Suitable for high-performance applications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The Power Problem with Traditional Domino: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All 256 AND gates must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precharge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every cycle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Only one evaluates (rises)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Clock load is extremely large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High power consumption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80843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752600"/>
            <a:ext cx="3732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Hierarchical (Divided)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Wordlines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9" y="2362200"/>
            <a:ext cx="5639587" cy="35819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70710" y="2438400"/>
            <a:ext cx="518160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The Problem with Single-Level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Wordlines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Long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have high resistance (narrow lower-level metal)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High capacitance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Long RC flight time in large arrays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77113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752600"/>
            <a:ext cx="2822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Hierarchical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Wordlines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86200" y="1734148"/>
            <a:ext cx="6096000" cy="38318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Global Decoding: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Address bits select a global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Global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runs across the array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Local Decoding: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Global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enables local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drivers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Local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activate only a small group of cells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Distributed Architecture: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One more level of decoding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Also called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"divided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wordline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"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architecture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30743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752600"/>
            <a:ext cx="2326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Dynamic Decoders 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64546" y="1645658"/>
            <a:ext cx="777965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Lower logical effort than static CMOS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Faster operation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Suitable for high-performance applications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The Power Problem with Traditional Domino: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All 256 AND gates must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precharge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every cycle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Only one evaluates (rises)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Clock load is extremely large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High power consumption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71837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7421" y="1828800"/>
            <a:ext cx="3749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Introduction to Column Circuitry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3009" y="2434578"/>
            <a:ext cx="111697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F1115"/>
                </a:solidFill>
                <a:latin typeface="quote-cjk-patch"/>
              </a:rPr>
              <a:t>The column circuitry manages data transfer between the SRAM array and the outside world.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83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523815"/>
            <a:ext cx="2537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Dynamic RAMs (DRAMs)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3495" t="10104" r="7934"/>
          <a:stretch/>
        </p:blipFill>
        <p:spPr>
          <a:xfrm>
            <a:off x="304800" y="1896462"/>
            <a:ext cx="2081040" cy="22505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7" y="4358557"/>
            <a:ext cx="4618966" cy="176427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1708481"/>
            <a:ext cx="7614274" cy="30153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273" y="4939930"/>
            <a:ext cx="6992636" cy="92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2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752600"/>
            <a:ext cx="19030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Read Operation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6000"/>
            <a:ext cx="9906000" cy="375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3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158470"/>
            <a:ext cx="5740065" cy="402583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6607" y="1662819"/>
            <a:ext cx="4613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DRAM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Subarrays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&amp;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Architectures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121" y="1688146"/>
            <a:ext cx="3791479" cy="10764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791202" y="361321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quote-cjk-patch"/>
              </a:rPr>
              <a:t>A sense amplifier is placed at the bottom (or top) of each </a:t>
            </a:r>
            <a:r>
              <a:rPr lang="en-US" b="1" dirty="0" err="1">
                <a:solidFill>
                  <a:srgbClr val="FF0000"/>
                </a:solidFill>
                <a:latin typeface="quote-cjk-patch"/>
              </a:rPr>
              <a:t>bitline</a:t>
            </a:r>
            <a:r>
              <a:rPr lang="en-US" b="1" dirty="0">
                <a:solidFill>
                  <a:srgbClr val="FF0000"/>
                </a:solidFill>
                <a:latin typeface="quote-cjk-patch"/>
              </a:rPr>
              <a:t> column.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27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1713433"/>
            <a:ext cx="3421960" cy="46873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7935" y="1650091"/>
            <a:ext cx="2958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Open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Architecture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181761"/>
            <a:ext cx="76200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F1115"/>
                </a:solidFill>
                <a:latin typeface="quote-cjk-patch"/>
              </a:rPr>
              <a:t>In the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open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architecture, each sense amplifier takes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one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from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Subarray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A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and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one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from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Subarray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B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.</a:t>
            </a:r>
            <a:endParaRPr lang="en-US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387290" y="3014573"/>
            <a:ext cx="7536758" cy="24929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quote-cjk-patch"/>
              </a:rPr>
              <a:t>Advantage: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“The arrays are very dense.”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 – No extra area for reference lines.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quote-cjk-patch"/>
              </a:rPr>
              <a:t>Disadvantage: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“Any noise that affects one array more than the other will appear as differential noise at the sense amplifier.”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1771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10195"/>
          <a:stretch/>
        </p:blipFill>
        <p:spPr>
          <a:xfrm>
            <a:off x="6400800" y="1828800"/>
            <a:ext cx="5662711" cy="391835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2796" y="1752600"/>
            <a:ext cx="31255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Folded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Architecture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7313" y="219789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>
                <a:solidFill>
                  <a:srgbClr val="0F1115"/>
                </a:solidFill>
                <a:latin typeface="quote-cjk-patch"/>
              </a:rPr>
              <a:t>In the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folded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architecture,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both inputs of the sense amplifier come from the same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subarray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, using two adjacent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bitlines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: one active, one reference.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03202" y="322447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>
                <a:solidFill>
                  <a:srgbClr val="0F1115"/>
                </a:solidFill>
                <a:latin typeface="quote-cjk-patch"/>
              </a:rPr>
              <a:t>When a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is asserted, one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switches. Its immediate neighbor stays at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precharge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voltage and serves as the reference. The two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bitlines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run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parallel and close together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for their entire length.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38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2796" y="1752600"/>
            <a:ext cx="31255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Folded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Architecture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04800" y="2306598"/>
            <a:ext cx="11582402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 advantage: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“Many noise sources will couple equally onto the two adjacent </a:t>
            </a:r>
            <a:r>
              <a:rPr kumimoji="0" lang="en-US" sz="16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bitlines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 they tend to appear as common mode noise that is rejected by the sense amplifier.”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 common-mode rejection: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 noise spike couples into both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bitlines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equally, the difference between them stays the same. The sense amplifier (differential) ignores it.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Disadvantage: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“This noise advantage comes at the expense of greater layout area.”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Because each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bitline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connects to only half as many cells (the other half are on the reference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bitline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you need more physical area.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result: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Folded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bitlines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used in all modern DRAM (DDR2, DDR3, DDR4, DDR5, LPDDR).</a:t>
            </a:r>
          </a:p>
        </p:txBody>
      </p:sp>
    </p:spTree>
    <p:extLst>
      <p:ext uri="{BB962C8B-B14F-4D97-AF65-F5344CB8AC3E}">
        <p14:creationId xmlns:p14="http://schemas.microsoft.com/office/powerpoint/2010/main" val="397997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1722" y="1752600"/>
            <a:ext cx="2813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DRAM Column Circuitry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574" y="1828800"/>
            <a:ext cx="7039628" cy="421517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37313" y="2572689"/>
            <a:ext cx="42298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solidFill>
                  <a:srgbClr val="0F1115"/>
                </a:solidFill>
                <a:latin typeface="quote-cjk-patch"/>
              </a:rPr>
              <a:t>The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job of the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column circuitry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– sense amplifiers, write drivers,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precharge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circuits, and the column multiplexer that selects which column connects to the outside world.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6306" y="1671872"/>
            <a:ext cx="4933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Sense Amplifier – Cross-Coupled Inverters 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06" y="2054784"/>
            <a:ext cx="2509283" cy="2438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10000" y="2106179"/>
            <a:ext cx="754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F1115"/>
                </a:solidFill>
                <a:latin typeface="quote-cjk-patch"/>
              </a:rPr>
              <a:t>A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sense amplifier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is a special circuit that takes this tiny voltage difference and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amplifies it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to a full </a:t>
            </a:r>
            <a:r>
              <a:rPr lang="en-US" i="1" dirty="0" smtClean="0">
                <a:solidFill>
                  <a:srgbClr val="0F1115"/>
                </a:solidFill>
                <a:latin typeface="KaTeX_Math"/>
              </a:rPr>
              <a:t>VDD</a:t>
            </a:r>
            <a:r>
              <a:rPr lang="en-US" dirty="0">
                <a:solidFill>
                  <a:srgbClr val="0F1115"/>
                </a:solidFill>
                <a:latin typeface="KaTeX_Main"/>
              </a:rPr>
              <a:t>​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(logic '1') or GND (logic '0').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962400" y="300215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It </a:t>
            </a:r>
            <a:r>
              <a:rPr lang="en-US" dirty="0"/>
              <a:t>amplifies any tiny difference between bit and bit* until one is at </a:t>
            </a:r>
            <a:r>
              <a:rPr lang="en-US" dirty="0" smtClean="0"/>
              <a:t>VDD  </a:t>
            </a:r>
            <a:r>
              <a:rPr lang="en-US" dirty="0"/>
              <a:t>and the other at GND.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This is called positive feedback or regeneration.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06" y="4679362"/>
            <a:ext cx="3781953" cy="154326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564" y="4452121"/>
            <a:ext cx="7114662" cy="137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7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1752600"/>
            <a:ext cx="3813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F1115"/>
                </a:solidFill>
                <a:latin typeface="quote-cjk-patch"/>
              </a:rPr>
              <a:t>The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voltage change on the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is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90" y="2054826"/>
            <a:ext cx="4920810" cy="22578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582" y="1600200"/>
            <a:ext cx="5115639" cy="22577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582" y="3854234"/>
            <a:ext cx="4762565" cy="24037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23" y="4340626"/>
            <a:ext cx="5293153" cy="19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0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1600200"/>
            <a:ext cx="2121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Embedded DRAM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90600" y="2420218"/>
            <a:ext cx="9042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F1115"/>
                </a:solidFill>
                <a:latin typeface="quote-cjk-patch"/>
              </a:rPr>
              <a:t>"Memories now account for half or more of the area of many chips."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1" y="3162003"/>
            <a:ext cx="8610600" cy="22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7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0093" y="1711858"/>
            <a:ext cx="5865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DRAM Process (Standalone DRAM chips like DDR5)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33863"/>
            <a:ext cx="8763000" cy="421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0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7800" y="1491733"/>
            <a:ext cx="919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Logic Process (Standard CMOS for CPUs, GPUs, FPGAs)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133600"/>
            <a:ext cx="8382000" cy="406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80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0020" y="1600200"/>
            <a:ext cx="3223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Embedded DRAM (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eDRAM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) 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1669" y="2171102"/>
            <a:ext cx="10693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eDRAM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= Embedded DRAM. It is a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logic process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(so you get fast transistors) that has been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modified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to include dense capacitor structures.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192947" y="3041568"/>
            <a:ext cx="4487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Get DRAM density without losing logic speed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33600" y="3661317"/>
            <a:ext cx="843189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Capacitor Implementation (Critical Problem)</a:t>
            </a:r>
          </a:p>
          <a:p>
            <a:r>
              <a:rPr lang="en-US" b="1" dirty="0"/>
              <a:t>In standard DRAM: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high capacitance (deep trench / stacked)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Specialized process </a:t>
            </a:r>
          </a:p>
          <a:p>
            <a:r>
              <a:rPr lang="en-US" b="1" dirty="0"/>
              <a:t>In </a:t>
            </a:r>
            <a:r>
              <a:rPr lang="en-US" b="1" dirty="0" err="1"/>
              <a:t>eDRAM</a:t>
            </a:r>
            <a:r>
              <a:rPr lang="en-US" b="1" dirty="0"/>
              <a:t>:</a:t>
            </a:r>
          </a:p>
          <a:p>
            <a:r>
              <a:rPr lang="en-US" dirty="0"/>
              <a:t>You have </a:t>
            </a:r>
            <a:r>
              <a:rPr lang="en-US" b="1" dirty="0"/>
              <a:t>3 options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26002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92202" y="1486275"/>
            <a:ext cx="10109198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1</a:t>
            </a:r>
            <a:r>
              <a:rPr lang="en-US" b="1" dirty="0"/>
              <a:t>. MOS Capacitor 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Definition: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MOS capacitor uses the gate oxide and substrate of a transistor to store charge.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Translation: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👉 Use the transistor itself as a capacitor.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Key Points: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Easy to integrate with logic process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major extra fabrication steps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Capacitance is small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Problem: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👉 Small capacitor → small signal → harder to </a:t>
            </a:r>
            <a:r>
              <a:rPr lang="en-US" dirty="0" smtClean="0"/>
              <a:t>detect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9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2" y="1704314"/>
            <a:ext cx="11430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🔹 2. Deep Trench Capacitor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Definition </a:t>
            </a:r>
            <a:r>
              <a:rPr lang="en-US" b="1" dirty="0" smtClean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deep trench capacitor is formed by etching deep into the silicon substrate and filling it with dielectric and conductive material to create high capacitance.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Key </a:t>
            </a:r>
            <a:r>
              <a:rPr lang="en-US" b="1" dirty="0"/>
              <a:t>Points: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Very high capacitance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Better signal (larger ΔV)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Used in advanced designs (like IBM)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Problem: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👉 Hard to manufacture (complex process)</a:t>
            </a:r>
          </a:p>
        </p:txBody>
      </p:sp>
    </p:spTree>
    <p:extLst>
      <p:ext uri="{BB962C8B-B14F-4D97-AF65-F5344CB8AC3E}">
        <p14:creationId xmlns:p14="http://schemas.microsoft.com/office/powerpoint/2010/main" val="369920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720840"/>
            <a:ext cx="11201402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🔹 3. MIM Capacitor (Metal-Insulator-Metal)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Definition: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MIM capacitor uses two metal plates separated by a dielectric layer to store charge.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Translation: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👉 Build a capacitor using metal layers above the transistor.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Key Points: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Higher capacitance than MOS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More stable performance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Good for analog + memory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Problem: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👉 Needs extra fabrication steps → increases cost</a:t>
            </a:r>
          </a:p>
        </p:txBody>
      </p:sp>
    </p:spTree>
    <p:extLst>
      <p:ext uri="{BB962C8B-B14F-4D97-AF65-F5344CB8AC3E}">
        <p14:creationId xmlns:p14="http://schemas.microsoft.com/office/powerpoint/2010/main" val="2599590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0647" y="1689979"/>
            <a:ext cx="5816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</a:t>
            </a:r>
            <a:r>
              <a:rPr lang="en-US" b="1" dirty="0" err="1">
                <a:solidFill>
                  <a:srgbClr val="FF0000"/>
                </a:solidFill>
              </a:rPr>
              <a:t>eDRAM</a:t>
            </a:r>
            <a:r>
              <a:rPr lang="en-US" b="1" dirty="0">
                <a:solidFill>
                  <a:srgbClr val="FF0000"/>
                </a:solidFill>
              </a:rPr>
              <a:t> gets DRAM density without losing logic speed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783" y="228089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🔹 1. Uses logic process</a:t>
            </a:r>
          </a:p>
          <a:p>
            <a:r>
              <a:rPr lang="en-US" dirty="0"/>
              <a:t>👉 Fast transistors → CPU speed maintained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783" y="303435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🔹 2. Adds only few extra steps</a:t>
            </a:r>
          </a:p>
          <a:p>
            <a:r>
              <a:rPr lang="en-US" dirty="0"/>
              <a:t>👉 Capacitors added without slowing logic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3202" y="41055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🔹 3. 1T + 1C cell</a:t>
            </a:r>
          </a:p>
          <a:p>
            <a:r>
              <a:rPr lang="en-US" dirty="0"/>
              <a:t>👉 DRAM-style cell → high density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313" y="513951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🔹 4. Smaller arrays</a:t>
            </a:r>
          </a:p>
          <a:p>
            <a:r>
              <a:rPr lang="en-US" dirty="0"/>
              <a:t>👉 Short </a:t>
            </a:r>
            <a:r>
              <a:rPr lang="en-US" dirty="0" err="1"/>
              <a:t>bitlines</a:t>
            </a:r>
            <a:r>
              <a:rPr lang="en-US" dirty="0"/>
              <a:t> → low delay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62600" y="241939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🔹 5. Strong sense amplifiers</a:t>
            </a:r>
          </a:p>
          <a:p>
            <a:r>
              <a:rPr lang="en-US" dirty="0"/>
              <a:t>👉 Detect small signals quickly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2792" y="331487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🔹 6. On-chip placement</a:t>
            </a:r>
          </a:p>
          <a:p>
            <a:r>
              <a:rPr lang="en-US" dirty="0"/>
              <a:t>👉 Near CPU → low latency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44493" y="410552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smtClean="0"/>
              <a:t>🔹 7. Wide internal buses</a:t>
            </a:r>
          </a:p>
          <a:p>
            <a:r>
              <a:rPr lang="en-US" smtClean="0"/>
              <a:t>👉 High bandwidth (no pin limitation)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5486400" y="492999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🔹 8. Hidden refresh</a:t>
            </a:r>
          </a:p>
          <a:p>
            <a:r>
              <a:rPr lang="en-US" dirty="0"/>
              <a:t>👉 No visible delay to CPU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8983" y="5821961"/>
            <a:ext cx="1051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eDRAM</a:t>
            </a:r>
            <a:r>
              <a:rPr lang="en-US" b="1" dirty="0">
                <a:solidFill>
                  <a:srgbClr val="FF0000"/>
                </a:solidFill>
              </a:rPr>
              <a:t> = Logic speed + DRAM density through minimal process changes and smart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6205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574" y="1676400"/>
            <a:ext cx="1749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What is ROM?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2000" y="1999600"/>
            <a:ext cx="108204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>
                <a:solidFill>
                  <a:srgbClr val="0F1115"/>
                </a:solidFill>
                <a:latin typeface="quote-cjk-patch"/>
              </a:rPr>
              <a:t>Read-Only Memory (ROM)</a:t>
            </a:r>
            <a:r>
              <a:rPr lang="en-US" sz="2000" dirty="0">
                <a:solidFill>
                  <a:srgbClr val="0F1115"/>
                </a:solidFill>
                <a:latin typeface="quote-cjk-patch"/>
              </a:rPr>
              <a:t> is a type of non‑volatile memory.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1115"/>
                </a:solidFill>
                <a:latin typeface="quote-cjk-patch"/>
              </a:rPr>
              <a:t>Non‑volatile</a:t>
            </a:r>
            <a:r>
              <a:rPr lang="en-US" sz="2000" dirty="0">
                <a:solidFill>
                  <a:srgbClr val="0F1115"/>
                </a:solidFill>
                <a:latin typeface="quote-cjk-patch"/>
              </a:rPr>
              <a:t> means it retains its stored data even when power is turned off.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1115"/>
                </a:solidFill>
                <a:latin typeface="quote-cjk-patch"/>
              </a:rPr>
              <a:t>Read‑only</a:t>
            </a:r>
            <a:r>
              <a:rPr lang="en-US" sz="2000" dirty="0">
                <a:solidFill>
                  <a:srgbClr val="0F1115"/>
                </a:solidFill>
                <a:latin typeface="quote-cjk-patch"/>
              </a:rPr>
              <a:t> means that under normal operation, you can only read data from it; you cannot easily change it.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rgbClr val="0F1115"/>
                </a:solidFill>
                <a:latin typeface="quote-cjk-patch"/>
              </a:rPr>
              <a:t>ROM is used to store fixed information that must not be lost when the power goes away – for example, the </a:t>
            </a:r>
            <a:r>
              <a:rPr lang="en-US" sz="2000" b="1" dirty="0">
                <a:solidFill>
                  <a:srgbClr val="0F1115"/>
                </a:solidFill>
                <a:latin typeface="quote-cjk-patch"/>
              </a:rPr>
              <a:t>bootstrap code</a:t>
            </a:r>
            <a:r>
              <a:rPr lang="en-US" sz="2000" dirty="0">
                <a:solidFill>
                  <a:srgbClr val="0F1115"/>
                </a:solidFill>
                <a:latin typeface="quote-cjk-patch"/>
              </a:rPr>
              <a:t> (BIOS/UEFI) that a computer runs when it first starts, or fixed tables in a microcontroller.</a:t>
            </a:r>
            <a:endParaRPr lang="en-US" sz="20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39788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440"/>
          <a:stretch/>
        </p:blipFill>
        <p:spPr>
          <a:xfrm>
            <a:off x="152400" y="2111374"/>
            <a:ext cx="4686278" cy="375511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1513504"/>
            <a:ext cx="3305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The NOR Array Organization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48138" y="1502688"/>
            <a:ext cx="7591462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115"/>
                </a:solidFill>
                <a:latin typeface="quote-cjk-patch"/>
              </a:rPr>
              <a:t>The ROM is built as a </a:t>
            </a:r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NOR array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Wordlines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run </a:t>
            </a:r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horizontally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Bitlines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run </a:t>
            </a:r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vertically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1115"/>
                </a:solidFill>
                <a:latin typeface="quote-cjk-patch"/>
              </a:rPr>
              <a:t>Each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is connected to the drains of </a:t>
            </a:r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many transistors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 (one from each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wordline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1115"/>
                </a:solidFill>
                <a:latin typeface="quote-cjk-patch"/>
              </a:rPr>
              <a:t>All those transistors share the same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and all have their sources to ground.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115"/>
                </a:solidFill>
                <a:latin typeface="quote-cjk-patch"/>
              </a:rPr>
              <a:t>This arrangement acts like a </a:t>
            </a:r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NOR gate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 on each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:</a:t>
            </a:r>
            <a:br>
              <a:rPr lang="en-US" sz="1600" dirty="0">
                <a:solidFill>
                  <a:srgbClr val="0F1115"/>
                </a:solidFill>
                <a:latin typeface="quote-cjk-patch"/>
              </a:rPr>
            </a:br>
            <a:r>
              <a:rPr lang="en-US" sz="1600" dirty="0">
                <a:solidFill>
                  <a:srgbClr val="0F1115"/>
                </a:solidFill>
                <a:latin typeface="quote-cjk-patch"/>
              </a:rPr>
              <a:t>If </a:t>
            </a:r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any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 of the transistors on that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is turned ON (because its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wordline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is high), the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will be pulled </a:t>
            </a:r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low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.</a:t>
            </a:r>
            <a:br>
              <a:rPr lang="en-US" sz="1600" dirty="0">
                <a:solidFill>
                  <a:srgbClr val="0F1115"/>
                </a:solidFill>
                <a:latin typeface="quote-cjk-patch"/>
              </a:rPr>
            </a:br>
            <a:r>
              <a:rPr lang="en-US" sz="1600" dirty="0">
                <a:solidFill>
                  <a:srgbClr val="0F1115"/>
                </a:solidFill>
                <a:latin typeface="quote-cjk-patch"/>
              </a:rPr>
              <a:t>So the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voltage = </a:t>
            </a:r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NOR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 of the selected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wordline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signals (only the selected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wordline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matters; the others are low, so they don’t affect the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115"/>
                </a:solidFill>
                <a:latin typeface="quote-cjk-patch"/>
              </a:rPr>
              <a:t>Because the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is low when the transistor is present, and high when no transistor is present, the </a:t>
            </a:r>
            <a:r>
              <a:rPr lang="en-US" sz="1600" b="1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 voltage is the inverse of the stored data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 algn="just"/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1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0890" y="1524000"/>
            <a:ext cx="3044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Pseudo‑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– The Load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938923"/>
            <a:ext cx="7747002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4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600200"/>
            <a:ext cx="3313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The Inversion – Dot Diagram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09" y="2057400"/>
            <a:ext cx="2810267" cy="25340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385" y="1843554"/>
            <a:ext cx="7887801" cy="40105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55" y="4497946"/>
            <a:ext cx="2133745" cy="128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2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1738" y="1676400"/>
            <a:ext cx="2531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Programmable ROMs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95962"/>
            <a:ext cx="11048409" cy="289244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990271" y="5292810"/>
            <a:ext cx="81352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PROMs use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fuses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EPROM, EEPROM, Flash use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charge stored on a floating gate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591961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28" y="2362200"/>
            <a:ext cx="4158342" cy="330402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856" y="1804724"/>
            <a:ext cx="7325747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4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42738"/>
            <a:ext cx="8458200" cy="452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5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81200"/>
            <a:ext cx="9066125" cy="405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2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5627" y="1752600"/>
            <a:ext cx="173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Flash Memory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2143703"/>
            <a:ext cx="1143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F1115"/>
                </a:solidFill>
                <a:latin typeface="quote-cjk-patch"/>
              </a:rPr>
              <a:t>Flash is a type of memory that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keeps data even when power is off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(non‑volatile) and </a:t>
            </a:r>
            <a:r>
              <a:rPr lang="en-US" dirty="0" smtClean="0">
                <a:solidFill>
                  <a:srgbClr val="0F1115"/>
                </a:solidFill>
                <a:latin typeface="quote-cjk-patch"/>
              </a:rPr>
              <a:t>can be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reprogrammed electrically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without removing the chip. It is the memory used in USB drives, SSDs, and memory cards.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01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6" y="1676400"/>
            <a:ext cx="4296679" cy="381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36360" y="1467337"/>
            <a:ext cx="800804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F1115"/>
                </a:solidFill>
                <a:latin typeface="quote-cjk-patch"/>
              </a:rPr>
              <a:t>1. </a:t>
            </a:r>
            <a:r>
              <a:rPr lang="en-US" sz="1600" b="1" dirty="0" err="1">
                <a:solidFill>
                  <a:srgbClr val="0F1115"/>
                </a:solidFill>
                <a:latin typeface="quote-cjk-patch"/>
              </a:rPr>
              <a:t>Bitlines</a:t>
            </a:r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 (Vertical Conductors)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Bitlines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run vertically through the array.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1115"/>
                </a:solidFill>
                <a:latin typeface="quote-cjk-patch"/>
              </a:rPr>
              <a:t>Each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(bit0, bit1, …, bit4095) is a metal line that connects to </a:t>
            </a:r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one string per block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1115"/>
                </a:solidFill>
                <a:latin typeface="quote-cjk-patch"/>
              </a:rPr>
              <a:t>During read and program, the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carries the data (or voltage) for one bit of the page.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1115"/>
                </a:solidFill>
                <a:latin typeface="quote-cjk-patch"/>
              </a:rPr>
              <a:t>The number of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bitlines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determines the page width (here, 4096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bitlines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= 4096 bits per page).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91000" y="3527597"/>
            <a:ext cx="7924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2. Strings (Series Chain of Cells)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1115"/>
                </a:solidFill>
                <a:latin typeface="quote-cjk-patch"/>
              </a:rPr>
              <a:t>A string is a </a:t>
            </a:r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series connection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 of floating‑gate transistors (memory cells) plus two select transistors.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1115"/>
                </a:solidFill>
                <a:latin typeface="quote-cjk-patch"/>
              </a:rPr>
              <a:t>In the diagram, each string has 16 memory cells (controlled by word0 to word15), a string select transistor (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ssl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) at the top, and a ground select transistor (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gsl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) at the bottom.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1115"/>
                </a:solidFill>
                <a:latin typeface="quote-cjk-patch"/>
              </a:rPr>
              <a:t>All transistors in a string share the same </a:t>
            </a:r>
            <a:r>
              <a:rPr lang="en-US" sz="1600" b="1" dirty="0">
                <a:solidFill>
                  <a:srgbClr val="0F1115"/>
                </a:solidFill>
                <a:latin typeface="quote-cjk-patch"/>
              </a:rPr>
              <a:t>diffusion region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 (active area) and are connected in series between the </a:t>
            </a:r>
            <a:r>
              <a:rPr lang="en-US" sz="1600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sz="1600" dirty="0">
                <a:solidFill>
                  <a:srgbClr val="0F1115"/>
                </a:solidFill>
                <a:latin typeface="quote-cjk-patch"/>
              </a:rPr>
              <a:t> and ground.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1115"/>
                </a:solidFill>
                <a:latin typeface="quote-cjk-patch"/>
              </a:rPr>
              <a:t>The series arrangement eliminates the need for a contact to ground per cell, drastically reducing cell size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77683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5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7165" y="683567"/>
            <a:ext cx="3474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Array Subsystem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1431" y="1600200"/>
            <a:ext cx="553356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3.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Wordlines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(Horizontal Conductors)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run horizontally and connect the control gates of all memory cells that belong to the same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page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across all strings in the block.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Each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corresponds to one page. In the diagram, word0 to word15 → 16 pages per block.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are used to select a page during read/program and to bias the control gates during erase.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3091" y="4038600"/>
            <a:ext cx="539950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4. Pages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A page is the set of all memory cells that share the same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within a block.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It is the smallest unit that can be read or programmed (written) in NAND Flash.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The page size equals the number of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bitlines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(here 4096 bits = 512 bytes).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33340" y="1624202"/>
            <a:ext cx="645866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5. Blocks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A block is the set of all pages that share the same set of strings.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It is the smallest unit that can be erased.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The block contains multiple strings (one per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bitline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) and multiple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(pages). In this diagram, block j contains 4096 strings (each of 16 cells) → total 4096 × 16 = 65,536 cells per block.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Erase is performed on all cells of a block simultaneously by applying a high voltage to the substrate (p‑well) while grounding all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wordlines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in the block.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85113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EAA2D99-0CE9-4B69-B1A8-E624B1F7EC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4186D1F-D4E6-44E9-AD04-D064F5A4A04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D457791-EB65-4FF3-9D92-0133897C55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8444026-1171-4F07-A90B-DB793F7B39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5789C73-14EE-4C88-82A7-0C34117A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192" y="1676400"/>
            <a:ext cx="5158416" cy="34121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FEF60984-8AAE-607C-F252-7AA4CF9A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48226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EE Presentation 2019-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EEE Presentation 2019-1</Template>
  <TotalTime>3611</TotalTime>
  <Words>2683</Words>
  <Application>Microsoft Office PowerPoint</Application>
  <PresentationFormat>Widescreen</PresentationFormat>
  <Paragraphs>743</Paragraphs>
  <Slides>62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3" baseType="lpstr">
      <vt:lpstr>Arial</vt:lpstr>
      <vt:lpstr>Arial Black</vt:lpstr>
      <vt:lpstr>Bookman Old Style</vt:lpstr>
      <vt:lpstr>Calibri</vt:lpstr>
      <vt:lpstr>KaTeX_Main</vt:lpstr>
      <vt:lpstr>KaTeX_Math</vt:lpstr>
      <vt:lpstr>Lucida Bright</vt:lpstr>
      <vt:lpstr>quote-cjk-patch</vt:lpstr>
      <vt:lpstr>Times New Roman</vt:lpstr>
      <vt:lpstr>Wingdings</vt:lpstr>
      <vt:lpstr>EEE Presentation 2019-1</vt:lpstr>
      <vt:lpstr>PowerPoint Presentation</vt:lpstr>
      <vt:lpstr>20EC214 - DIGITAL CMOS VLSI CIRCUITS COURSE OUTCOMES</vt:lpstr>
      <vt:lpstr>20EC214 - DIGITAL CMOS VLSI CIRCUITS COURSE CONTENTS</vt:lpstr>
      <vt:lpstr>20EC214 - DIGITAL CMOS VLSI CIRCUITS COURSE CONTENTS</vt:lpstr>
      <vt:lpstr>MODULE 5 MEMORY ARRAY SUBSYSTEM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5 </vt:lpstr>
      <vt:lpstr>MODULE 1  MOS TRANSISTOR AND PROCESSING TECHNOLOGY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Gopu</dc:creator>
  <cp:lastModifiedBy>Microsoft account</cp:lastModifiedBy>
  <cp:revision>417</cp:revision>
  <dcterms:created xsi:type="dcterms:W3CDTF">2019-05-31T06:52:53Z</dcterms:created>
  <dcterms:modified xsi:type="dcterms:W3CDTF">2026-04-14T07:00:33Z</dcterms:modified>
</cp:coreProperties>
</file>