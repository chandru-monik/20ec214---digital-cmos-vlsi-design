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notesMasterIdLst>
    <p:notesMasterId r:id="rId78"/>
  </p:notesMasterIdLst>
  <p:sldIdLst>
    <p:sldId id="256" r:id="rId2"/>
    <p:sldId id="653" r:id="rId3"/>
    <p:sldId id="654" r:id="rId4"/>
    <p:sldId id="655" r:id="rId5"/>
    <p:sldId id="656" r:id="rId6"/>
    <p:sldId id="580" r:id="rId7"/>
    <p:sldId id="581" r:id="rId8"/>
    <p:sldId id="582" r:id="rId9"/>
    <p:sldId id="591" r:id="rId10"/>
    <p:sldId id="592" r:id="rId11"/>
    <p:sldId id="583" r:id="rId12"/>
    <p:sldId id="584" r:id="rId13"/>
    <p:sldId id="585" r:id="rId14"/>
    <p:sldId id="586" r:id="rId15"/>
    <p:sldId id="587" r:id="rId16"/>
    <p:sldId id="588" r:id="rId17"/>
    <p:sldId id="593" r:id="rId18"/>
    <p:sldId id="594" r:id="rId19"/>
    <p:sldId id="595" r:id="rId20"/>
    <p:sldId id="596" r:id="rId21"/>
    <p:sldId id="589" r:id="rId22"/>
    <p:sldId id="590" r:id="rId23"/>
    <p:sldId id="597" r:id="rId24"/>
    <p:sldId id="598" r:id="rId25"/>
    <p:sldId id="599" r:id="rId26"/>
    <p:sldId id="600" r:id="rId27"/>
    <p:sldId id="601" r:id="rId28"/>
    <p:sldId id="602" r:id="rId29"/>
    <p:sldId id="603" r:id="rId30"/>
    <p:sldId id="604" r:id="rId31"/>
    <p:sldId id="605" r:id="rId32"/>
    <p:sldId id="606" r:id="rId33"/>
    <p:sldId id="607" r:id="rId34"/>
    <p:sldId id="608" r:id="rId35"/>
    <p:sldId id="609" r:id="rId36"/>
    <p:sldId id="610" r:id="rId37"/>
    <p:sldId id="611" r:id="rId38"/>
    <p:sldId id="612" r:id="rId39"/>
    <p:sldId id="613" r:id="rId40"/>
    <p:sldId id="614" r:id="rId41"/>
    <p:sldId id="615" r:id="rId42"/>
    <p:sldId id="616" r:id="rId43"/>
    <p:sldId id="617" r:id="rId44"/>
    <p:sldId id="618" r:id="rId45"/>
    <p:sldId id="619" r:id="rId46"/>
    <p:sldId id="620" r:id="rId47"/>
    <p:sldId id="621" r:id="rId48"/>
    <p:sldId id="622" r:id="rId49"/>
    <p:sldId id="623" r:id="rId50"/>
    <p:sldId id="624" r:id="rId51"/>
    <p:sldId id="625" r:id="rId52"/>
    <p:sldId id="626" r:id="rId53"/>
    <p:sldId id="632" r:id="rId54"/>
    <p:sldId id="627" r:id="rId55"/>
    <p:sldId id="628" r:id="rId56"/>
    <p:sldId id="629" r:id="rId57"/>
    <p:sldId id="633" r:id="rId58"/>
    <p:sldId id="634" r:id="rId59"/>
    <p:sldId id="635" r:id="rId60"/>
    <p:sldId id="636" r:id="rId61"/>
    <p:sldId id="637" r:id="rId62"/>
    <p:sldId id="638" r:id="rId63"/>
    <p:sldId id="639" r:id="rId64"/>
    <p:sldId id="640" r:id="rId65"/>
    <p:sldId id="642" r:id="rId66"/>
    <p:sldId id="643" r:id="rId67"/>
    <p:sldId id="644" r:id="rId68"/>
    <p:sldId id="645" r:id="rId69"/>
    <p:sldId id="646" r:id="rId70"/>
    <p:sldId id="647" r:id="rId71"/>
    <p:sldId id="648" r:id="rId72"/>
    <p:sldId id="649" r:id="rId73"/>
    <p:sldId id="650" r:id="rId74"/>
    <p:sldId id="651" r:id="rId75"/>
    <p:sldId id="652" r:id="rId76"/>
    <p:sldId id="491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52" autoAdjust="0"/>
  </p:normalViewPr>
  <p:slideViewPr>
    <p:cSldViewPr>
      <p:cViewPr varScale="1">
        <p:scale>
          <a:sx n="84" d="100"/>
          <a:sy n="84" d="100"/>
        </p:scale>
        <p:origin x="595" y="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335A0-DBCE-44E5-9B40-295659989D62}" type="datetimeFigureOut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05C9B3-241D-4FF0-B990-4FABA7B21D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3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05C9B3-241D-4FF0-B990-4FABA7B21D3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17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28804" y="152402"/>
            <a:ext cx="8839202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14" y="2362202"/>
            <a:ext cx="10791497" cy="3733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Date Placeholder 9"/>
          <p:cNvSpPr>
            <a:spLocks noGrp="1"/>
          </p:cNvSpPr>
          <p:nvPr userDrawn="1"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365AEF63-01FC-4134-AE19-ADFEE9DC515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 userDrawn="1"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 userDrawn="1"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6096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2" y="1828802"/>
            <a:ext cx="11582400" cy="4495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154B9F69-0570-4328-A351-624C6148D36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5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41656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6" name="Slide Number Placeholder 10"/>
          <p:cNvSpPr>
            <a:spLocks noGrp="1"/>
          </p:cNvSpPr>
          <p:nvPr>
            <p:ph type="sldNum" sz="quarter" idx="4"/>
          </p:nvPr>
        </p:nvSpPr>
        <p:spPr>
          <a:xfrm>
            <a:off x="8737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3"/>
          </p:nvPr>
        </p:nvSpPr>
        <p:spPr>
          <a:xfrm>
            <a:off x="304802" y="1981200"/>
            <a:ext cx="11582400" cy="43434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>
                <a:latin typeface="Times New Roman" pitchFamily="18" charset="0"/>
                <a:cs typeface="Times New Roman" pitchFamily="18" charset="0"/>
              </a:defRPr>
            </a:lvl1pPr>
            <a:lvl2pPr>
              <a:defRPr sz="3600">
                <a:latin typeface="Times New Roman" pitchFamily="18" charset="0"/>
                <a:cs typeface="Times New Roman" pitchFamily="18" charset="0"/>
              </a:defRPr>
            </a:lvl2pPr>
            <a:lvl3pPr>
              <a:defRPr sz="3200">
                <a:latin typeface="Times New Roman" pitchFamily="18" charset="0"/>
                <a:cs typeface="Times New Roman" pitchFamily="18" charset="0"/>
              </a:defRPr>
            </a:lvl3pPr>
            <a:lvl4pPr>
              <a:defRPr sz="2800">
                <a:latin typeface="Times New Roman" pitchFamily="18" charset="0"/>
                <a:cs typeface="Times New Roman" pitchFamily="18" charset="0"/>
              </a:defRPr>
            </a:lvl4pPr>
            <a:lvl5pPr>
              <a:defRPr sz="2800">
                <a:latin typeface="Times New Roman" pitchFamily="18" charset="0"/>
                <a:cs typeface="Times New Roman" pitchFamily="18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4"/>
          </p:nvPr>
        </p:nvSpPr>
        <p:spPr>
          <a:xfrm>
            <a:off x="609600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 algn="ctr"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fld id="{BAC2C7B5-640A-463A-A6C4-C7EBD7B37899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5"/>
          </p:nvPr>
        </p:nvSpPr>
        <p:spPr>
          <a:xfrm>
            <a:off x="9042402" y="6400805"/>
            <a:ext cx="2844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‹#›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6"/>
          </p:nvPr>
        </p:nvSpPr>
        <p:spPr>
          <a:xfrm>
            <a:off x="4368802" y="6400805"/>
            <a:ext cx="3860800" cy="365126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+mn-lt"/>
              </a:defRPr>
            </a:lvl1pPr>
          </a:lstStyle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625600" y="251461"/>
            <a:ext cx="8940800" cy="58674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35" y="457200"/>
            <a:ext cx="393276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38" y="987429"/>
            <a:ext cx="6172201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35" y="2057403"/>
            <a:ext cx="3932766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6894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4" y="152402"/>
            <a:ext cx="8839202" cy="76200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"/>
            <a:ext cx="12192000" cy="6858000"/>
          </a:xfrm>
          <a:prstGeom prst="rect">
            <a:avLst/>
          </a:prstGeom>
          <a:noFill/>
          <a:ln w="952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80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76200" y="1447800"/>
            <a:ext cx="12115800" cy="0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37203" y="116175"/>
            <a:ext cx="972478" cy="1179225"/>
          </a:xfrm>
          <a:prstGeom prst="rect">
            <a:avLst/>
          </a:prstGeom>
        </p:spPr>
      </p:pic>
      <p:pic>
        <p:nvPicPr>
          <p:cNvPr id="11" name="Picture 10" descr="A logo with text and a flower&#10;&#10;AI-generated content may be incorrect."/>
          <p:cNvPicPr/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0893" y="116175"/>
            <a:ext cx="998220" cy="11049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76" r:id="rId2"/>
    <p:sldLayoutId id="2147483674" r:id="rId3"/>
    <p:sldLayoutId id="2147483678" r:id="rId4"/>
  </p:sldLayoutIdLst>
  <p:hf hdr="0"/>
  <p:txStyles>
    <p:titleStyle>
      <a:lvl1pPr marL="0" algn="ctr" defTabSz="914400" rtl="0" eaLnBrk="1" latinLnBrk="0" hangingPunct="1">
        <a:spcBef>
          <a:spcPct val="0"/>
        </a:spcBef>
        <a:buNone/>
        <a:defRPr lang="en-US" sz="3600" b="1" kern="1200" dirty="0">
          <a:solidFill>
            <a:schemeClr val="bg1"/>
          </a:solidFill>
          <a:latin typeface="+mn-lt"/>
          <a:ea typeface="+mn-ea"/>
          <a:cs typeface="+mn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0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1498611" y="2"/>
            <a:ext cx="9140827" cy="1692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endParaRPr lang="en-US" sz="2800" b="1" dirty="0"/>
          </a:p>
          <a:p>
            <a:pPr algn="ctr"/>
            <a:r>
              <a:rPr lang="en-US" sz="3200" b="1" dirty="0"/>
              <a:t>SRI RAMAKRISHNA ENGINEERING COLLEGE</a:t>
            </a:r>
            <a:endParaRPr lang="en-US" sz="3200" dirty="0"/>
          </a:p>
          <a:p>
            <a:pPr algn="ctr"/>
            <a:endParaRPr lang="en-US" sz="2000" b="1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sp>
        <p:nvSpPr>
          <p:cNvPr id="11" name="TextBox 10"/>
          <p:cNvSpPr txBox="1"/>
          <p:nvPr/>
        </p:nvSpPr>
        <p:spPr>
          <a:xfrm>
            <a:off x="1266835" y="4791430"/>
            <a:ext cx="6629403" cy="1430614"/>
          </a:xfrm>
          <a:prstGeom prst="rect">
            <a:avLst/>
          </a:prstGeom>
        </p:spPr>
        <p:txBody>
          <a:bodyPr lIns="0" tIns="0" rIns="0" bIns="0"/>
          <a:lstStyle/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600" b="1" dirty="0">
                <a:latin typeface="+mj-lt"/>
                <a:cs typeface="Arial" pitchFamily="34" charset="0"/>
              </a:rPr>
              <a:t>Course </a:t>
            </a:r>
            <a:r>
              <a:rPr lang="en-US" sz="2600" b="1" dirty="0" smtClean="0">
                <a:latin typeface="+mj-lt"/>
                <a:cs typeface="Arial" pitchFamily="34" charset="0"/>
              </a:rPr>
              <a:t>Instructor:</a:t>
            </a:r>
            <a:endParaRPr lang="en-US" sz="2600" b="1" dirty="0">
              <a:latin typeface="+mj-lt"/>
              <a:cs typeface="Arial" pitchFamily="34" charset="0"/>
            </a:endParaRP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err="1">
                <a:solidFill>
                  <a:srgbClr val="0070C0"/>
                </a:solidFill>
                <a:latin typeface="+mj-lt"/>
                <a:cs typeface="Arial" pitchFamily="34" charset="0"/>
              </a:rPr>
              <a:t>Mr.R.Chandru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,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Assistant Professor(</a:t>
            </a:r>
            <a:r>
              <a:rPr lang="en-US" sz="2400" b="1" dirty="0" err="1" smtClean="0">
                <a:solidFill>
                  <a:srgbClr val="0070C0"/>
                </a:solidFill>
                <a:latin typeface="+mj-lt"/>
                <a:cs typeface="Arial" pitchFamily="34" charset="0"/>
              </a:rPr>
              <a:t>Sl.G</a:t>
            </a:r>
            <a:r>
              <a:rPr lang="en-US" sz="2400" b="1" dirty="0" smtClean="0">
                <a:solidFill>
                  <a:srgbClr val="0070C0"/>
                </a:solidFill>
                <a:latin typeface="+mj-lt"/>
                <a:cs typeface="Arial" pitchFamily="34" charset="0"/>
              </a:rPr>
              <a:t>)/</a:t>
            </a:r>
            <a:r>
              <a:rPr lang="en-US" sz="2400" b="1" dirty="0">
                <a:solidFill>
                  <a:srgbClr val="0070C0"/>
                </a:solidFill>
                <a:latin typeface="+mj-lt"/>
                <a:cs typeface="Arial" pitchFamily="34" charset="0"/>
              </a:rPr>
              <a:t>ECE </a:t>
            </a:r>
          </a:p>
          <a:p>
            <a:pPr defTabSz="914363">
              <a:lnSpc>
                <a:spcPct val="90000"/>
              </a:lnSpc>
              <a:spcBef>
                <a:spcPct val="20000"/>
              </a:spcBef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7896234" y="5137409"/>
            <a:ext cx="2743202" cy="467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fr-FR" sz="2400" b="1" dirty="0"/>
              <a:t>No. of </a:t>
            </a:r>
            <a:r>
              <a:rPr lang="fr-FR" sz="2400" b="1" dirty="0" err="1"/>
              <a:t>Credits</a:t>
            </a:r>
            <a:r>
              <a:rPr lang="fr-FR" sz="2400" b="1" dirty="0"/>
              <a:t> </a:t>
            </a:r>
            <a:r>
              <a:rPr lang="fr-FR" sz="2400" b="1" dirty="0" smtClean="0"/>
              <a:t>: 3</a:t>
            </a:r>
            <a:endParaRPr lang="en-US" sz="2400" b="1" dirty="0">
              <a:latin typeface="Lucida Bright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09600" y="3758631"/>
            <a:ext cx="95964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3200" b="1" dirty="0" smtClean="0">
                <a:solidFill>
                  <a:srgbClr val="7030A0"/>
                </a:solidFill>
              </a:rPr>
              <a:t>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20EC214 </a:t>
            </a:r>
            <a:r>
              <a:rPr lang="en-US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&amp; </a:t>
            </a:r>
            <a:r>
              <a:rPr lang="en-IN" sz="3200" b="1" dirty="0">
                <a:solidFill>
                  <a:srgbClr val="7030A0"/>
                </a:solidFill>
                <a:latin typeface="Bookman Old Style" panose="02050604050505020204" pitchFamily="18" charset="0"/>
                <a:cs typeface="Arial" pitchFamily="34" charset="0"/>
              </a:rPr>
              <a:t>DIGITAL CMOS VLSI CIRCUITS</a:t>
            </a:r>
            <a:endParaRPr lang="fr-FR" sz="3200" b="1" dirty="0">
              <a:solidFill>
                <a:srgbClr val="7030A0"/>
              </a:solidFill>
              <a:latin typeface="Bookman Old Style" panose="02050604050505020204" pitchFamily="18" charset="0"/>
              <a:cs typeface="Arial" pitchFamily="34" charset="0"/>
            </a:endParaRPr>
          </a:p>
          <a:p>
            <a:pPr algn="ctr">
              <a:defRPr/>
            </a:pPr>
            <a:endParaRPr lang="fr-FR" sz="3200" b="1" dirty="0">
              <a:solidFill>
                <a:srgbClr val="7030A0"/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266835" y="3037182"/>
            <a:ext cx="9604400" cy="5366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Department of  Electronics and Communication  Engineering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808" y="1588171"/>
            <a:ext cx="759301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[Educational Service : SNR Sons Charitable Trust]</a:t>
            </a:r>
          </a:p>
          <a:p>
            <a:pPr algn="ctr"/>
            <a:r>
              <a:rPr lang="en-US" sz="1600" dirty="0"/>
              <a:t>  [Autonomous Institution, </a:t>
            </a:r>
            <a:r>
              <a:rPr lang="en-US" sz="1600" dirty="0" smtClean="0"/>
              <a:t>Reaccredited </a:t>
            </a:r>
            <a:r>
              <a:rPr lang="en-US" sz="1600" dirty="0"/>
              <a:t>by NAAC with ‘</a:t>
            </a:r>
            <a:r>
              <a:rPr lang="en-US" sz="1600" dirty="0" smtClean="0"/>
              <a:t>A+’ </a:t>
            </a:r>
            <a:r>
              <a:rPr lang="en-US" sz="1600" dirty="0"/>
              <a:t>Grade]</a:t>
            </a:r>
          </a:p>
          <a:p>
            <a:pPr algn="ctr"/>
            <a:r>
              <a:rPr lang="en-US" sz="1600" dirty="0"/>
              <a:t>      [Approved by AICTE and Permanently Affiliated to Anna University, Chennai]</a:t>
            </a:r>
          </a:p>
          <a:p>
            <a:pPr algn="ctr"/>
            <a:r>
              <a:rPr lang="en-US" sz="1600" dirty="0"/>
              <a:t>        [ISO 9001-2015 Certified and all eligible programmes Accredited by NBA]   </a:t>
            </a:r>
          </a:p>
          <a:p>
            <a:pPr algn="ctr"/>
            <a:r>
              <a:rPr lang="en-US" sz="1600" dirty="0"/>
              <a:t>             VATTAMALAIPALAYAM, N.G.G.O. COLONY POST, COIMBATORE – 641 022.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64C9258C-6A34-4EEA-AE4D-5206E875D86B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/>
              <a:t>CAPGEMINI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52400" y="1371600"/>
            <a:ext cx="11734802" cy="4343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On successful completion of the course, students will be able to,</a:t>
            </a: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b="1" dirty="0">
              <a:latin typeface="Bookman Old Style" panose="020506040505050202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US" sz="2400" dirty="0">
              <a:latin typeface="Bookman Old Style" panose="02050604050505020204" pitchFamily="18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246006A2-30E0-43FC-876C-CE2836461F4D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25600" y="441958"/>
            <a:ext cx="89408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OUTCOMES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="" xmlns:a16="http://schemas.microsoft.com/office/drawing/2014/main" id="{7A19BD47-2C52-48CB-86AB-EE9530EE5BF0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09600" y="2209801"/>
          <a:ext cx="10820400" cy="3784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4073">
                  <a:extLst>
                    <a:ext uri="{9D8B030D-6E8A-4147-A177-3AD203B41FA5}">
                      <a16:colId xmlns="" xmlns:a16="http://schemas.microsoft.com/office/drawing/2014/main" val="2579258821"/>
                    </a:ext>
                  </a:extLst>
                </a:gridCol>
                <a:gridCol w="9776327">
                  <a:extLst>
                    <a:ext uri="{9D8B030D-6E8A-4147-A177-3AD203B41FA5}">
                      <a16:colId xmlns="" xmlns:a16="http://schemas.microsoft.com/office/drawing/2014/main" val="2600226381"/>
                    </a:ext>
                  </a:extLst>
                </a:gridCol>
              </a:tblGrid>
              <a:tr h="38640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C00000"/>
                          </a:solidFill>
                          <a:latin typeface="Bookman Old Style" panose="02050604050505020204" pitchFamily="18" charset="0"/>
                        </a:rPr>
                        <a:t>COURSE OUTCOMES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just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065368251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1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Interpret the characteristics and manufacturing process technology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of MOS transistor.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843555094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2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Analyze the various logic styles of CMOS combinational and</a:t>
                      </a:r>
                      <a:r>
                        <a:rPr lang="en-IN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sequential circuits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709568410"/>
                  </a:ext>
                </a:extLst>
              </a:tr>
              <a:tr h="476383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3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Design the various digital arithmetic logic circuits.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31673281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4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Illustrate the performance of the digital circuits by examining the timing issues.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983873499"/>
                  </a:ext>
                </a:extLst>
              </a:tr>
              <a:tr h="73045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atin typeface="Bookman Old Style" panose="02050604050505020204" pitchFamily="18" charset="0"/>
                        </a:rPr>
                        <a:t>CO</a:t>
                      </a:r>
                      <a:r>
                        <a:rPr lang="en-US" sz="2400" b="1" baseline="-25000" dirty="0">
                          <a:latin typeface="Bookman Old Style" panose="02050604050505020204" pitchFamily="18" charset="0"/>
                        </a:rPr>
                        <a:t>5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Bookman Old Style" panose="02050604050505020204" pitchFamily="18" charset="0"/>
                          <a:ea typeface="+mn-ea"/>
                          <a:cs typeface="+mn-cs"/>
                        </a:rPr>
                        <a:t>Make use of MOS concepts in construction of Memory Array Subsystem.</a:t>
                      </a:r>
                      <a:endParaRPr lang="en-IN" sz="2000" b="0" i="0" u="none" strike="noStrike" kern="1200" baseline="0" dirty="0">
                        <a:solidFill>
                          <a:schemeClr val="dk1"/>
                        </a:solidFill>
                        <a:latin typeface="Bookman Old Style" panose="02050604050505020204" pitchFamily="18" charset="0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933061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6485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996B7060-1BA4-42E1-85AD-7DA4ABB17366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03355A1C-B111-4CCF-9F99-3D8DA29B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42899" y="1660531"/>
            <a:ext cx="11506202" cy="5105400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PREREQUISITES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20EC204 - Digital System Design</a:t>
            </a:r>
          </a:p>
          <a:p>
            <a:pPr marL="0" indent="0">
              <a:buNone/>
            </a:pPr>
            <a:endParaRPr lang="en-IN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MOS TRANSISTOR AND PROCESSING			  			10</a:t>
            </a:r>
            <a:endParaRPr lang="en-US" sz="5600" b="1" dirty="0"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MOSFET theory - Transistor switches - Compound gates - Design equations - IV characteristics - CV characteristics - Second order effects - Energy and Power - Resistance Estimation - Capacitance Estimation - Switching Characteristics - RC Delay Models - Logical Effort for gates - CMOS Process technology - Design Rules and Layout.</a:t>
            </a:r>
          </a:p>
          <a:p>
            <a:pPr marL="0" indent="0">
              <a:buNone/>
            </a:pPr>
            <a:endParaRPr lang="fr-FR" sz="20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fr-FR" sz="56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CMOS LOGIC STRUCTURES 							11</a:t>
            </a:r>
          </a:p>
          <a:p>
            <a:pPr marL="0" indent="0" algn="just">
              <a:buNone/>
            </a:pP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Combinational Circuits: CMOS Inverter - DC Characteristics - Complementary Logic Structures - Ratioed logic - Pass transistor logic - Transmission gate - Tristate Inverter - Multiplexers - Dynamic logic structures. Sequential 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Circuits: Static latches and Registers, Dynamic latches and Registers, Pulse Registers, Sense Amplifier Based </a:t>
            </a:r>
            <a:r>
              <a:rPr lang="en-IN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Register, Pipelining.</a:t>
            </a:r>
          </a:p>
          <a:p>
            <a:pPr marL="0" indent="0">
              <a:buNone/>
            </a:pPr>
            <a:endParaRPr lang="en-US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US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DESIGN OF ARITHMETIC BUILDING BLOCKS 				8</a:t>
            </a:r>
          </a:p>
          <a:p>
            <a:pPr marL="0" indent="0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Full adder, Ripple carry adder, Carry bypass adder, Linear and Square root carry-select adder, Carry look-ahead adder - Multipliers - Barrel and logarithmic shifter.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TIMING ISSUES 		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Timing Basics, Sources of Skew and Jitter, Clock-Distribution Techniques, Latch-Based locking, Self-Timed Circuit Design, Synchronizers and Arbiters, Clock Synthesis and Synchronization Using a Phase-Locked Loop.</a:t>
            </a:r>
          </a:p>
          <a:p>
            <a:pPr marL="0" indent="0">
              <a:buNone/>
            </a:pPr>
            <a:endParaRPr lang="en-IN" sz="2400" b="1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64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MEMORY ARRAY SUBSYSTEM 						8</a:t>
            </a:r>
          </a:p>
          <a:p>
            <a:pPr marL="0" indent="0" algn="just">
              <a:buNone/>
            </a:pP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SRAM: SRAM Cells, Row Circuitry, Column Circuitry. </a:t>
            </a:r>
            <a:r>
              <a:rPr lang="en-US" sz="56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Multiported</a:t>
            </a:r>
            <a:r>
              <a:rPr lang="en-US" sz="5600" dirty="0">
                <a:solidFill>
                  <a:srgbClr val="0070C0"/>
                </a:solidFill>
                <a:latin typeface="Bookman Old Style" panose="02050604050505020204" pitchFamily="18" charset="0"/>
              </a:rPr>
              <a:t> SRAM and Register files  DRAM: Subarray Architectures, Column Circuitry, Embedded DRAM. Read-Only Memory: Programmable ROMs, NAND ROMs, Flash.</a:t>
            </a:r>
            <a:endParaRPr lang="en-IN" sz="55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357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222D12AE-D5EC-4008-B1F1-5E958AD29A1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7ED5F23E-4B97-4B63-96EF-1A2CA42953CA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48F5864-67D6-46A9-BCE3-D7973A5B0B0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95F5EF3-7E02-4900-B56C-6955F979C6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8" name="Text Placeholder 1">
            <a:extLst>
              <a:ext uri="{FF2B5EF4-FFF2-40B4-BE49-F238E27FC236}">
                <a16:creationId xmlns="" xmlns:a16="http://schemas.microsoft.com/office/drawing/2014/main" id="{F21E3ABD-DD2D-4924-85FA-E2761F7796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4800" y="1752600"/>
            <a:ext cx="11811000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TEXT BOOKS</a:t>
            </a:r>
          </a:p>
          <a:p>
            <a:pPr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Neil H.E.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Weste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David Harris, "CMOS VLSI Design A Circuits and Systems Perspective", 4th Edition, 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Pearson Education, Reprint 2010.</a:t>
            </a:r>
          </a:p>
          <a:p>
            <a:pPr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Jan M.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Rabaey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Anantha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Chandrakasan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 and B Nikolic, "Digital Integrated Circuits: A Design Perspective", 2nd 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Edition, Pearson Education India, 2016.</a:t>
            </a:r>
            <a:endParaRPr lang="en-IN" sz="1900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marL="0" indent="0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REFERENCES</a:t>
            </a:r>
            <a:r>
              <a:rPr lang="en-IN" dirty="0"/>
              <a:t> 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Douglas. A.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Pucknell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Kamran </a:t>
            </a:r>
            <a:r>
              <a:rPr lang="en-IN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Eshraghian</a:t>
            </a: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"Basic VLSI Design", 3rd Edition, Prentice Hall India, 2010.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John </a:t>
            </a:r>
            <a:r>
              <a:rPr lang="en-US" sz="1900" dirty="0" err="1">
                <a:solidFill>
                  <a:srgbClr val="0070C0"/>
                </a:solidFill>
                <a:latin typeface="Bookman Old Style" panose="02050604050505020204" pitchFamily="18" charset="0"/>
              </a:rPr>
              <a:t>P.Uyemura</a:t>
            </a:r>
            <a:r>
              <a:rPr lang="en-US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, "Introduction to VLSI Circuits and Systems", John Wiley &amp; Sons, 2012.</a:t>
            </a:r>
          </a:p>
          <a:p>
            <a:pPr marL="0" indent="0" algn="just">
              <a:buNone/>
            </a:pPr>
            <a:r>
              <a:rPr lang="en-IN" sz="2500" b="1" dirty="0">
                <a:solidFill>
                  <a:srgbClr val="FF0000"/>
                </a:solidFill>
                <a:latin typeface="Bookman Old Style" panose="02050604050505020204" pitchFamily="18" charset="0"/>
              </a:rPr>
              <a:t>WEB REFERENCES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https://nptel.ac.in/courses/108/107/108107129/</a:t>
            </a:r>
          </a:p>
          <a:p>
            <a:pPr marL="457200" indent="-457200">
              <a:buFont typeface="+mj-lt"/>
              <a:buAutoNum type="arabicPeriod"/>
            </a:pPr>
            <a:r>
              <a:rPr lang="en-IN" sz="1900" dirty="0">
                <a:solidFill>
                  <a:srgbClr val="0070C0"/>
                </a:solidFill>
                <a:latin typeface="Bookman Old Style" panose="02050604050505020204" pitchFamily="18" charset="0"/>
              </a:rPr>
              <a:t>https://nptel.ac.in/courses/117/106/117106093/</a:t>
            </a:r>
          </a:p>
        </p:txBody>
      </p:sp>
      <p:sp>
        <p:nvSpPr>
          <p:cNvPr id="7" name="Title 5">
            <a:extLst>
              <a:ext uri="{FF2B5EF4-FFF2-40B4-BE49-F238E27FC236}">
                <a16:creationId xmlns="" xmlns:a16="http://schemas.microsoft.com/office/drawing/2014/main" id="{ADA0AE8C-4FFC-FDA7-3637-9AC9C3332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51460"/>
            <a:ext cx="6705600" cy="586740"/>
          </a:xfrm>
        </p:spPr>
        <p:txBody>
          <a:bodyPr/>
          <a:lstStyle/>
          <a:p>
            <a:r>
              <a:rPr lang="en-IN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20EC214 - DIGITAL CMOS VLSI CIRCUITS</a:t>
            </a:r>
            <a:r>
              <a:rPr lang="en-IN" sz="2800" dirty="0">
                <a:solidFill>
                  <a:srgbClr val="0070C0"/>
                </a:solidFill>
              </a:rPr>
              <a:t/>
            </a:r>
            <a:br>
              <a:rPr lang="en-IN" sz="2800" dirty="0">
                <a:solidFill>
                  <a:srgbClr val="0070C0"/>
                </a:solidFill>
              </a:rPr>
            </a:br>
            <a:r>
              <a:rPr lang="en-US" sz="2400" dirty="0">
                <a:solidFill>
                  <a:srgbClr val="C00000"/>
                </a:solidFill>
                <a:latin typeface="Bookman Old Style" panose="02050604050505020204" pitchFamily="18" charset="0"/>
              </a:rPr>
              <a:t>COURSE CONTENTS</a:t>
            </a:r>
          </a:p>
        </p:txBody>
      </p:sp>
    </p:spTree>
    <p:extLst>
      <p:ext uri="{BB962C8B-B14F-4D97-AF65-F5344CB8AC3E}">
        <p14:creationId xmlns:p14="http://schemas.microsoft.com/office/powerpoint/2010/main" val="156464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="" xmlns:a16="http://schemas.microsoft.com/office/drawing/2014/main" id="{BB8E4B51-1B8E-4E4E-8A93-7E22AE309A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52600" y="1600200"/>
            <a:ext cx="8686800" cy="4724400"/>
          </a:xfrm>
        </p:spPr>
        <p:txBody>
          <a:bodyPr>
            <a:normAutofit fontScale="70000" lnSpcReduction="20000"/>
          </a:bodyPr>
          <a:lstStyle/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Timing Basics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Sources of Delay in CMOS Circuits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Propagation Delay and Contamination Delay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Rise Time and Fall Time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Clock Skew and Jitter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Sources of Clock Skew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Clock Distribution Techniques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Latch-Based Clocking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Edge Triggered Flip-Flops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Timing Constraints: Setup Time and Hold Time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Self-Timed Circuit Design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Synchronizers and Arbiters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</a:t>
            </a:r>
            <a:r>
              <a:rPr lang="en-IN" sz="2100" dirty="0" err="1">
                <a:solidFill>
                  <a:srgbClr val="FF0000"/>
                </a:solidFill>
                <a:latin typeface="Bookman Old Style" panose="02050604050505020204" pitchFamily="18" charset="0"/>
              </a:rPr>
              <a:t>Metastability</a:t>
            </a: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  </a:t>
            </a:r>
          </a:p>
          <a:p>
            <a:pPr marL="0" indent="0" algn="just">
              <a:buNone/>
            </a:pP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Clock Synthesis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Phase-Locked Loop (PLL)  </a:t>
            </a:r>
          </a:p>
          <a:p>
            <a:pPr marL="0" indent="0" algn="just">
              <a:buNone/>
            </a:pPr>
            <a:r>
              <a:rPr lang="en-IN" sz="2100" dirty="0">
                <a:solidFill>
                  <a:srgbClr val="FF0000"/>
                </a:solidFill>
                <a:latin typeface="Bookman Old Style" panose="02050604050505020204" pitchFamily="18" charset="0"/>
              </a:rPr>
              <a:t>□ Clock Synchronization Techniques</a:t>
            </a:r>
            <a:endParaRPr lang="en-IN" sz="2100" dirty="0">
              <a:solidFill>
                <a:srgbClr val="FF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7D00F0B4-33BA-48A4-8960-F3E68BD377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CC8DBC-17AA-405C-9FF1-39D3EE8894D4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5C77551-F1A1-4B49-8894-B2BB15489D5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EC1679C-11D5-4753-B542-E03E8DAE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="" xmlns:a16="http://schemas.microsoft.com/office/drawing/2014/main" id="{01A0B170-8F2D-43D0-A264-D31E94A28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TIMING ISSUES</a:t>
            </a: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907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034" y="1597021"/>
            <a:ext cx="2480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Need for a Clock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65100" y="1828608"/>
            <a:ext cx="5156200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A clock signal controls when operations happen in the circuit.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0F1115"/>
                </a:solidFill>
                <a:latin typeface="quote-cjk-patch"/>
              </a:rPr>
              <a:t>Synchronous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systems use a </a:t>
            </a:r>
            <a:r>
              <a:rPr lang="en-US" b="1" dirty="0">
                <a:solidFill>
                  <a:srgbClr val="C00000"/>
                </a:solidFill>
                <a:latin typeface="quote-cjk-patch"/>
              </a:rPr>
              <a:t>clock to sequence 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operations.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The clock distinguishes one step in a computation from the next.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Ideal Goal: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The clock arrives at </a:t>
            </a:r>
            <a:r>
              <a:rPr lang="en-US" i="1" dirty="0">
                <a:solidFill>
                  <a:srgbClr val="0F1115"/>
                </a:solidFill>
                <a:latin typeface="quote-cjk-patch"/>
              </a:rPr>
              <a:t>all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clocked elements (flip-flops, latches, memory) at </a:t>
            </a:r>
            <a:r>
              <a:rPr lang="en-US" b="1" i="1" dirty="0">
                <a:solidFill>
                  <a:srgbClr val="C00000"/>
                </a:solidFill>
                <a:latin typeface="quote-cjk-patch"/>
              </a:rPr>
              <a:t>the exact same time.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This creates a common, universal time reference for the entire chip.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740211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600200"/>
            <a:ext cx="2864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F1115"/>
                </a:solidFill>
                <a:latin typeface="quote-cjk-patch"/>
              </a:rPr>
              <a:t>The Ideal vs. The Reality</a:t>
            </a:r>
            <a:endParaRPr lang="en-US" b="1" dirty="0"/>
          </a:p>
        </p:txBody>
      </p:sp>
      <p:sp>
        <p:nvSpPr>
          <p:cNvPr id="2" name="Rectangle 1"/>
          <p:cNvSpPr/>
          <p:nvPr/>
        </p:nvSpPr>
        <p:spPr>
          <a:xfrm>
            <a:off x="304800" y="2193126"/>
            <a:ext cx="5562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• In an </a:t>
            </a:r>
            <a:r>
              <a:rPr lang="en-US" b="1" dirty="0"/>
              <a:t>ideal system</a:t>
            </a:r>
            <a:r>
              <a:rPr lang="en-US" dirty="0"/>
              <a:t>, the clock should arrive at </a:t>
            </a:r>
            <a:r>
              <a:rPr lang="en-US" b="1" dirty="0"/>
              <a:t>all flip-flops at exactly the same time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• This ensures </a:t>
            </a:r>
            <a:r>
              <a:rPr lang="en-US" b="1" dirty="0"/>
              <a:t>perfect synchronization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• Ideal condition:</a:t>
            </a:r>
          </a:p>
          <a:p>
            <a:pPr>
              <a:lnSpc>
                <a:spcPct val="150000"/>
              </a:lnSpc>
            </a:pPr>
            <a:r>
              <a:rPr lang="en-US" dirty="0"/>
              <a:t>Clock arrival time at all elements = </a:t>
            </a:r>
            <a:r>
              <a:rPr lang="en-US" b="1" dirty="0"/>
              <a:t>same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• No timing mismatch between circuit components.</a:t>
            </a:r>
          </a:p>
          <a:p>
            <a:pPr>
              <a:lnSpc>
                <a:spcPct val="150000"/>
              </a:lnSpc>
            </a:pPr>
            <a:r>
              <a:rPr lang="en-US" dirty="0"/>
              <a:t>• This assumption is often used during </a:t>
            </a:r>
            <a:r>
              <a:rPr lang="en-US" b="1" dirty="0"/>
              <a:t>initial design and modeling</a:t>
            </a:r>
            <a:r>
              <a:rPr lang="en-US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4402" y="1676399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accent2"/>
                </a:solidFill>
                <a:latin typeface="quote-cjk-patch"/>
              </a:rPr>
              <a:t>A clock signal controls when operations happen in the circuit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F1115"/>
                </a:solidFill>
                <a:latin typeface="quote-cjk-patch"/>
              </a:rPr>
              <a:t>The 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Problem: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In practice, the clock signal doesn't arrive everywhere at once.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F1115"/>
                </a:solidFill>
                <a:latin typeface="quote-cjk-patch"/>
              </a:rPr>
              <a:t>Variations in wire length, manufacturing, temperature, and voltage cause different arrival times.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Definition: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This difference in arrival time is called </a:t>
            </a:r>
            <a:r>
              <a:rPr lang="en-US" b="1" dirty="0">
                <a:solidFill>
                  <a:srgbClr val="0F1115"/>
                </a:solidFill>
                <a:latin typeface="quote-cjk-patch"/>
              </a:rPr>
              <a:t>Clock Skew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2255464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642796" y="1752600"/>
            <a:ext cx="1244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Clock Skew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2362200"/>
            <a:ext cx="43434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practice, the clock signal </a:t>
            </a:r>
            <a:r>
              <a:rPr lang="en-US" b="1" dirty="0"/>
              <a:t>does not arrive everywhere at the same time</a:t>
            </a:r>
            <a:r>
              <a:rPr lang="en-US" dirty="0"/>
              <a:t>.</a:t>
            </a:r>
          </a:p>
          <a:p>
            <a:r>
              <a:rPr lang="en-US" dirty="0"/>
              <a:t>• The clock travels through: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long wires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buffers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trees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routing paths</a:t>
            </a:r>
          </a:p>
          <a:p>
            <a:r>
              <a:rPr lang="en-US" dirty="0"/>
              <a:t>• These introduce </a:t>
            </a:r>
            <a:r>
              <a:rPr lang="en-US" b="1" dirty="0"/>
              <a:t>propagation delays</a:t>
            </a:r>
            <a:r>
              <a:rPr lang="en-US" dirty="0"/>
              <a:t>.</a:t>
            </a:r>
          </a:p>
          <a:p>
            <a:r>
              <a:rPr lang="en-US" dirty="0"/>
              <a:t>• Due to this, different flip-flops receive the clock at </a:t>
            </a:r>
            <a:r>
              <a:rPr lang="en-US" b="1" dirty="0"/>
              <a:t>slightly different times</a:t>
            </a:r>
            <a:r>
              <a:rPr lang="en-US" dirty="0"/>
              <a:t>.</a:t>
            </a:r>
          </a:p>
          <a:p>
            <a:r>
              <a:rPr lang="en-US" dirty="0"/>
              <a:t>• This timing difference is called </a:t>
            </a:r>
            <a:r>
              <a:rPr lang="en-US" b="1" dirty="0"/>
              <a:t>Clock Skew</a:t>
            </a:r>
            <a:r>
              <a:rPr lang="en-US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791202" y="2444898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• </a:t>
            </a:r>
            <a:r>
              <a:rPr lang="en-US" b="1" dirty="0"/>
              <a:t>Clock Skew</a:t>
            </a:r>
            <a:r>
              <a:rPr lang="en-US" dirty="0"/>
              <a:t> is the difference in arrival time of the same clock signal at different clocked elements.</a:t>
            </a:r>
          </a:p>
          <a:p>
            <a:r>
              <a:rPr lang="en-US" b="1" dirty="0">
                <a:solidFill>
                  <a:srgbClr val="C00000"/>
                </a:solidFill>
              </a:rPr>
              <a:t>Clock Skew=tarrival2−</a:t>
            </a:r>
            <a:r>
              <a:rPr lang="en-US" b="1" dirty="0" smtClean="0">
                <a:solidFill>
                  <a:srgbClr val="C00000"/>
                </a:solidFill>
              </a:rPr>
              <a:t>tarrival1</a:t>
            </a:r>
          </a:p>
          <a:p>
            <a:r>
              <a:rPr lang="en-US" dirty="0" smtClean="0"/>
              <a:t>​ </a:t>
            </a:r>
            <a:r>
              <a:rPr lang="en-US" dirty="0"/>
              <a:t>• If one flip-flop receives the clock </a:t>
            </a:r>
            <a:r>
              <a:rPr lang="en-US" b="1" dirty="0"/>
              <a:t>earlier</a:t>
            </a:r>
            <a:r>
              <a:rPr lang="en-US" dirty="0"/>
              <a:t> than another, skew occurs.</a:t>
            </a:r>
          </a:p>
          <a:p>
            <a:r>
              <a:rPr lang="en-US" dirty="0"/>
              <a:t>• Clock skew is usually measured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picoseconds (</a:t>
            </a:r>
            <a:r>
              <a:rPr lang="en-US" dirty="0" err="1"/>
              <a:t>ps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nanoseconds (ns)</a:t>
            </a:r>
          </a:p>
          <a:p>
            <a:r>
              <a:rPr lang="en-US" dirty="0"/>
              <a:t>• Even </a:t>
            </a:r>
            <a:r>
              <a:rPr lang="en-US" b="1" dirty="0"/>
              <a:t>very small skew</a:t>
            </a:r>
            <a:r>
              <a:rPr lang="en-US" dirty="0"/>
              <a:t> can affect high-speed circuits.</a:t>
            </a:r>
          </a:p>
        </p:txBody>
      </p:sp>
    </p:spTree>
    <p:extLst>
      <p:ext uri="{BB962C8B-B14F-4D97-AF65-F5344CB8AC3E}">
        <p14:creationId xmlns:p14="http://schemas.microsoft.com/office/powerpoint/2010/main" val="16700238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0338" t="-1639" r="6969" b="9880"/>
          <a:stretch/>
        </p:blipFill>
        <p:spPr>
          <a:xfrm>
            <a:off x="426277" y="1634137"/>
            <a:ext cx="6096000" cy="4267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332907" y="1538653"/>
            <a:ext cx="2282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Clock timing diagrams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907985"/>
            <a:ext cx="396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</a:t>
            </a:r>
            <a:r>
              <a:rPr lang="en-US" b="1" dirty="0" err="1" smtClean="0"/>
              <a:t>Cf</a:t>
            </a:r>
            <a:r>
              <a:rPr lang="en-US" b="1" dirty="0" smtClean="0"/>
              <a:t> rising edge happens first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Then </a:t>
            </a:r>
            <a:r>
              <a:rPr lang="en-US" b="1" dirty="0" err="1" smtClean="0"/>
              <a:t>Ci</a:t>
            </a:r>
            <a:r>
              <a:rPr lang="en-US" b="1" dirty="0" smtClean="0"/>
              <a:t> rising edge happens later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7921784" y="2764172"/>
            <a:ext cx="396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Cf</a:t>
            </a:r>
            <a:r>
              <a:rPr lang="en-US" dirty="0"/>
              <a:t>  ↑ first</a:t>
            </a:r>
          </a:p>
          <a:p>
            <a:r>
              <a:rPr lang="en-US" dirty="0" err="1"/>
              <a:t>Ci</a:t>
            </a:r>
            <a:r>
              <a:rPr lang="en-US" dirty="0"/>
              <a:t>      ↑ later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09111" y="3680135"/>
            <a:ext cx="36665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clock reaches </a:t>
            </a:r>
            <a:r>
              <a:rPr lang="en-US" b="1" dirty="0"/>
              <a:t>R2 earlier than </a:t>
            </a:r>
            <a:r>
              <a:rPr lang="en-US" b="1" dirty="0" smtClean="0"/>
              <a:t>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79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829918"/>
            <a:ext cx="11018520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611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81328"/>
            <a:ext cx="10416091" cy="4688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043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209800"/>
            <a:ext cx="10649949" cy="301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261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1295400" y="1828800"/>
            <a:ext cx="5289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Performance Improvement Using Localized Clock Skew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69" y="2362200"/>
            <a:ext cx="4991797" cy="34294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27722" y="2362200"/>
            <a:ext cx="24472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Case 1: </a:t>
            </a:r>
            <a:r>
              <a:rPr lang="en-US" b="1" dirty="0"/>
              <a:t>Zero Clock Skew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0200" y="2379432"/>
            <a:ext cx="981212" cy="400106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400" y="3013376"/>
            <a:ext cx="1609950" cy="155279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06" y="3038280"/>
            <a:ext cx="2324424" cy="8668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34008" y="4583673"/>
            <a:ext cx="1609950" cy="77163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0" y="4461687"/>
            <a:ext cx="2267266" cy="92405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0866" y="5402088"/>
            <a:ext cx="1076475" cy="41915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63200" y="4461687"/>
            <a:ext cx="1333686" cy="1600423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672375" y="5926359"/>
            <a:ext cx="33864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Without clock skew → 111.1 MHz</a:t>
            </a:r>
          </a:p>
        </p:txBody>
      </p:sp>
    </p:spTree>
    <p:extLst>
      <p:ext uri="{BB962C8B-B14F-4D97-AF65-F5344CB8AC3E}">
        <p14:creationId xmlns:p14="http://schemas.microsoft.com/office/powerpoint/2010/main" val="104390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325571" y="1600200"/>
            <a:ext cx="3412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Case 2: </a:t>
            </a:r>
            <a:r>
              <a:rPr lang="en-US" b="1" dirty="0"/>
              <a:t>With Localized Clock Skew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71" y="2575218"/>
            <a:ext cx="2295845" cy="16099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85726" y="2087709"/>
            <a:ext cx="788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Path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635" y="4303345"/>
            <a:ext cx="1189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New delay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912" y="4911933"/>
            <a:ext cx="2229161" cy="762106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624956" y="2004991"/>
            <a:ext cx="788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Path 2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575218"/>
            <a:ext cx="2229161" cy="1238423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3489859" y="4303345"/>
            <a:ext cx="11892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New delay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8911" y="4827476"/>
            <a:ext cx="2314898" cy="724001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0242" y="1719915"/>
            <a:ext cx="1514686" cy="847843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03745" y="2683804"/>
            <a:ext cx="6392167" cy="1200318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5754234" y="445319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mtClean="0"/>
              <a:t>Clock skew is usually considered </a:t>
            </a:r>
            <a:r>
              <a:rPr lang="en-US" b="1" smtClean="0"/>
              <a:t>bad</a:t>
            </a:r>
            <a:r>
              <a:rPr lang="en-US" smtClean="0"/>
              <a:t>, but here </a:t>
            </a:r>
            <a:r>
              <a:rPr lang="en-US" b="1" smtClean="0"/>
              <a:t>intentional skew improved performance</a:t>
            </a:r>
            <a:r>
              <a:rPr lang="en-US" smtClean="0"/>
              <a:t>.</a:t>
            </a:r>
          </a:p>
          <a:p>
            <a:r>
              <a:rPr lang="en-US" smtClean="0"/>
              <a:t>This technique is called: </a:t>
            </a:r>
            <a:r>
              <a:rPr lang="en-US" b="1" smtClean="0"/>
              <a:t>Useful Clock Skew</a:t>
            </a:r>
          </a:p>
          <a:p>
            <a:r>
              <a:rPr lang="en-US" smtClean="0"/>
              <a:t>It </a:t>
            </a:r>
            <a:r>
              <a:rPr lang="en-US" b="1" smtClean="0"/>
              <a:t>balances delays between pipeline stages</a:t>
            </a:r>
            <a:r>
              <a:rPr lang="en-US" smtClean="0"/>
              <a:t>.</a:t>
            </a:r>
            <a:endParaRPr lang="en-US" dirty="0"/>
          </a:p>
        </p:txBody>
      </p:sp>
      <p:sp>
        <p:nvSpPr>
          <p:cNvPr id="20" name="Rectangle 19"/>
          <p:cNvSpPr/>
          <p:nvPr/>
        </p:nvSpPr>
        <p:spPr>
          <a:xfrm>
            <a:off x="174242" y="5722944"/>
            <a:ext cx="116367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By intentionally adjusting clock arrival times, the critical path delay is reduced, increasing the maximum clock frequency.</a:t>
            </a:r>
          </a:p>
        </p:txBody>
      </p:sp>
    </p:spTree>
    <p:extLst>
      <p:ext uri="{BB962C8B-B14F-4D97-AF65-F5344CB8AC3E}">
        <p14:creationId xmlns:p14="http://schemas.microsoft.com/office/powerpoint/2010/main" val="2528167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828800"/>
            <a:ext cx="2088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Setup Time (</a:t>
            </a:r>
            <a:r>
              <a:rPr lang="en-US" b="1" dirty="0" err="1" smtClean="0"/>
              <a:t>Tsetup</a:t>
            </a:r>
            <a:r>
              <a:rPr lang="en-US" b="1" dirty="0" smtClean="0"/>
              <a:t>)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8800"/>
            <a:ext cx="3581900" cy="4382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743200"/>
            <a:ext cx="1848108" cy="38105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2400237"/>
            <a:ext cx="5382376" cy="202910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800" y="4565037"/>
            <a:ext cx="2061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Total Register Delay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4533404"/>
            <a:ext cx="1962424" cy="162900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7127" y="1868067"/>
            <a:ext cx="1247949" cy="40963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5066959" y="46677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Register delay is the sum of </a:t>
            </a:r>
            <a:r>
              <a:rPr lang="en-US" b="1" dirty="0">
                <a:solidFill>
                  <a:srgbClr val="C00000"/>
                </a:solidFill>
              </a:rPr>
              <a:t>clock-to-Q delay of the launching flip-flop and setup time of the capturing </a:t>
            </a:r>
            <a:r>
              <a:rPr lang="en-US" b="1" dirty="0" smtClean="0">
                <a:solidFill>
                  <a:srgbClr val="C00000"/>
                </a:solidFill>
              </a:rPr>
              <a:t>flip-flop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6532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752600"/>
            <a:ext cx="26755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Sources of Skew and Jitter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29659" y="2286000"/>
            <a:ext cx="589014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Clock Distribution Problems in VLSI</a:t>
            </a:r>
          </a:p>
          <a:p>
            <a:r>
              <a:rPr lang="en-US" dirty="0"/>
              <a:t>Clock signals in large VLSI chips do not reach all registers at the same time.</a:t>
            </a:r>
            <a:br>
              <a:rPr lang="en-US" dirty="0"/>
            </a:br>
            <a:r>
              <a:rPr lang="en-US" dirty="0"/>
              <a:t>Two major timing problems occur:</a:t>
            </a:r>
          </a:p>
          <a:p>
            <a:r>
              <a:rPr lang="en-US" b="1" dirty="0"/>
              <a:t>Clock Skew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Difference in clock arrival time at different registers.</a:t>
            </a:r>
          </a:p>
          <a:p>
            <a:r>
              <a:rPr lang="en-US" b="1" dirty="0"/>
              <a:t>Clock Jitter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Variation of the clock edge timing from its ideal position.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752600"/>
            <a:ext cx="43847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Unequal Clock Path Length (Source of Skew)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25659" y="2155882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clock signal travels through </a:t>
            </a:r>
            <a:r>
              <a:rPr lang="en-US" b="1" dirty="0"/>
              <a:t>metal wires</a:t>
            </a:r>
            <a:r>
              <a:rPr lang="en-US" dirty="0"/>
              <a:t> from the clock source to different registers.</a:t>
            </a:r>
          </a:p>
          <a:p>
            <a:r>
              <a:rPr lang="en-US" dirty="0"/>
              <a:t>If the wire lengths are different: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registers receive the clock </a:t>
            </a:r>
            <a:r>
              <a:rPr lang="en-US" b="1" dirty="0"/>
              <a:t>earlier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 registers receive the clock </a:t>
            </a:r>
            <a:r>
              <a:rPr lang="en-US" b="1" dirty="0"/>
              <a:t>later</a:t>
            </a:r>
            <a:endParaRPr lang="en-US" dirty="0"/>
          </a:p>
          <a:p>
            <a:r>
              <a:rPr lang="en-US" b="1" dirty="0"/>
              <a:t>Reason</a:t>
            </a:r>
          </a:p>
          <a:p>
            <a:r>
              <a:rPr lang="en-US" dirty="0"/>
              <a:t>Longer wires have: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resistance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Higher capacitance</a:t>
            </a:r>
          </a:p>
          <a:p>
            <a:r>
              <a:rPr lang="en-US" dirty="0"/>
              <a:t>This increases propagation delay.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Different arrival times of the clock signal create </a:t>
            </a:r>
            <a:r>
              <a:rPr lang="en-US" b="1" dirty="0"/>
              <a:t>clock skew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49053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1828800"/>
            <a:ext cx="47285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Buffer / Driver Delay Variation (Source of Skew)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2286000"/>
            <a:ext cx="4953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Explanation</a:t>
            </a:r>
          </a:p>
          <a:p>
            <a:r>
              <a:rPr lang="en-US" dirty="0"/>
              <a:t>Clock networks use </a:t>
            </a:r>
            <a:r>
              <a:rPr lang="en-US" b="1" dirty="0"/>
              <a:t>buffers and drivers</a:t>
            </a:r>
            <a:r>
              <a:rPr lang="en-US" dirty="0"/>
              <a:t> to distribute the clock signal across the chip.</a:t>
            </a:r>
          </a:p>
          <a:p>
            <a:r>
              <a:rPr lang="en-US" dirty="0"/>
              <a:t>Each buffer introduces a </a:t>
            </a:r>
            <a:r>
              <a:rPr lang="en-US" b="1" dirty="0"/>
              <a:t>small delay</a:t>
            </a:r>
            <a:r>
              <a:rPr lang="en-US" dirty="0"/>
              <a:t>.</a:t>
            </a:r>
          </a:p>
          <a:p>
            <a:r>
              <a:rPr lang="en-US" b="1" dirty="0"/>
              <a:t>Problem</a:t>
            </a:r>
          </a:p>
          <a:p>
            <a:r>
              <a:rPr lang="en-US" dirty="0"/>
              <a:t>Different paths may contain: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number of buffers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Different buffer sizes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Some clock paths become slower than others, producing </a:t>
            </a:r>
            <a:r>
              <a:rPr lang="en-US" b="1" dirty="0"/>
              <a:t>clock skew</a:t>
            </a:r>
            <a:r>
              <a:rPr lang="en-US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91928" y="1828800"/>
            <a:ext cx="34728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Process Variation (Source of Skew)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94402" y="236220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Explanation</a:t>
            </a:r>
          </a:p>
          <a:p>
            <a:r>
              <a:rPr lang="en-US" dirty="0"/>
              <a:t>During semiconductor fabrication, small variations occur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Transistor dimensions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Oxide thickness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Doping concentration</a:t>
            </a:r>
          </a:p>
          <a:p>
            <a:r>
              <a:rPr lang="en-US" b="1" dirty="0"/>
              <a:t>Effect</a:t>
            </a:r>
          </a:p>
          <a:p>
            <a:r>
              <a:rPr lang="en-US" dirty="0"/>
              <a:t>These variations change: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Transistor switching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Gate delay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Clock signals propagate with </a:t>
            </a:r>
            <a:r>
              <a:rPr lang="en-US" b="1" dirty="0"/>
              <a:t>different delays in different chip regions</a:t>
            </a:r>
            <a:r>
              <a:rPr lang="en-US" dirty="0"/>
              <a:t>, causing skew.</a:t>
            </a:r>
          </a:p>
        </p:txBody>
      </p:sp>
    </p:spTree>
    <p:extLst>
      <p:ext uri="{BB962C8B-B14F-4D97-AF65-F5344CB8AC3E}">
        <p14:creationId xmlns:p14="http://schemas.microsoft.com/office/powerpoint/2010/main" val="1307992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800" y="1752600"/>
            <a:ext cx="3974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Temperature Variation (Source of Skew)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210747" y="2198831"/>
            <a:ext cx="4742253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Explanation</a:t>
            </a:r>
          </a:p>
          <a:p>
            <a:r>
              <a:rPr lang="en-US" dirty="0"/>
              <a:t>Different areas of a chip operate at </a:t>
            </a:r>
            <a:r>
              <a:rPr lang="en-US" b="1" dirty="0"/>
              <a:t>different temperatures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ALU area may become hotter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Memory area may remain cooler</a:t>
            </a:r>
          </a:p>
          <a:p>
            <a:r>
              <a:rPr lang="en-US" b="1" dirty="0"/>
              <a:t>Effect</a:t>
            </a:r>
          </a:p>
          <a:p>
            <a:r>
              <a:rPr lang="en-US" dirty="0"/>
              <a:t>Higher temperature causes: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resistance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Slower transistor switching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Clock signal delay changes, producing </a:t>
            </a:r>
            <a:r>
              <a:rPr lang="en-US" b="1" dirty="0"/>
              <a:t>clock skew</a:t>
            </a:r>
            <a:r>
              <a:rPr lang="en-US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29400" y="1829499"/>
            <a:ext cx="40596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Power </a:t>
            </a:r>
            <a:r>
              <a:rPr lang="en-US" b="1" dirty="0">
                <a:solidFill>
                  <a:srgbClr val="C00000"/>
                </a:solidFill>
              </a:rPr>
              <a:t>Supply Variation (Source of Skew)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9018" y="236220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Explanation</a:t>
            </a:r>
            <a:endParaRPr lang="en-US" b="1" dirty="0"/>
          </a:p>
          <a:p>
            <a:r>
              <a:rPr lang="en-US" dirty="0"/>
              <a:t>The supply voltage may not be uniform across the chip.</a:t>
            </a:r>
          </a:p>
          <a:p>
            <a:r>
              <a:rPr lang="en-US" dirty="0"/>
              <a:t>Voltage drops may occur due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IR drop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Heavy current consumption</a:t>
            </a:r>
          </a:p>
          <a:p>
            <a:r>
              <a:rPr lang="en-US" b="1" dirty="0"/>
              <a:t>Effect</a:t>
            </a:r>
          </a:p>
          <a:p>
            <a:r>
              <a:rPr lang="en-US" dirty="0"/>
              <a:t>Lower voltage causes: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Slower transistor switching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Increased gate delay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Clock signals reach registers at different times → </a:t>
            </a:r>
            <a:r>
              <a:rPr lang="en-US" b="1" dirty="0"/>
              <a:t>clock skew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512202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752600"/>
            <a:ext cx="3714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Power Supply Noise (Source of Jitter)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2209800"/>
            <a:ext cx="57912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Explanation</a:t>
            </a:r>
          </a:p>
          <a:p>
            <a:r>
              <a:rPr lang="en-US" dirty="0"/>
              <a:t>Noise in the power supply causes </a:t>
            </a:r>
            <a:r>
              <a:rPr lang="en-US" b="1" dirty="0"/>
              <a:t>small fluctuations in voltage</a:t>
            </a:r>
            <a:r>
              <a:rPr lang="en-US" dirty="0"/>
              <a:t>.</a:t>
            </a:r>
          </a:p>
          <a:p>
            <a:r>
              <a:rPr lang="en-US" b="1" dirty="0"/>
              <a:t>Effect</a:t>
            </a:r>
          </a:p>
          <a:p>
            <a:r>
              <a:rPr lang="en-US" dirty="0"/>
              <a:t>These fluctuations change transistor switching speed continuously.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The clock edge does not occur at a fixed time every cycle.</a:t>
            </a:r>
          </a:p>
          <a:p>
            <a:r>
              <a:rPr lang="en-US" dirty="0"/>
              <a:t>This produces </a:t>
            </a:r>
            <a:r>
              <a:rPr lang="en-US" b="1" dirty="0"/>
              <a:t>clock jitter</a:t>
            </a:r>
            <a:r>
              <a:rPr lang="en-US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1840468"/>
            <a:ext cx="2678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Crosstalk (Source of Jitter)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835077" y="2121932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Explanation</a:t>
            </a:r>
          </a:p>
          <a:p>
            <a:r>
              <a:rPr lang="en-US" dirty="0"/>
              <a:t>Adjacent signal wires can interfere with the clock line.</a:t>
            </a:r>
          </a:p>
          <a:p>
            <a:r>
              <a:rPr lang="en-US" dirty="0"/>
              <a:t>When nearby signals switch, they induce </a:t>
            </a:r>
            <a:r>
              <a:rPr lang="en-US" b="1" dirty="0"/>
              <a:t>electromagnetic coupling</a:t>
            </a:r>
            <a:r>
              <a:rPr lang="en-US" dirty="0"/>
              <a:t>.</a:t>
            </a:r>
          </a:p>
          <a:p>
            <a:r>
              <a:rPr lang="en-US" b="1" dirty="0"/>
              <a:t>Effect</a:t>
            </a:r>
          </a:p>
          <a:p>
            <a:r>
              <a:rPr lang="en-US" dirty="0"/>
              <a:t>This temporarily changes the voltage on the clock line.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The clock edge shifts slightly forward or backward, creating </a:t>
            </a:r>
            <a:r>
              <a:rPr lang="en-US" b="1" dirty="0"/>
              <a:t>jitter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77906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Clock Skew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828800"/>
            <a:ext cx="35742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PLL/DLL Instability (Source of Jitter)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4800" y="2341857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Explanation</a:t>
            </a:r>
          </a:p>
          <a:p>
            <a:r>
              <a:rPr lang="en-US" dirty="0"/>
              <a:t>Clock signals are often generated using: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PLL (Phase Locked Loop)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DLL (Delay Locked Loop)</a:t>
            </a:r>
            <a:endParaRPr lang="en-US" dirty="0"/>
          </a:p>
          <a:p>
            <a:r>
              <a:rPr lang="en-US" b="1" dirty="0"/>
              <a:t>Problem</a:t>
            </a:r>
          </a:p>
          <a:p>
            <a:r>
              <a:rPr lang="en-US" dirty="0"/>
              <a:t>If the PLL loop is unstable or noisy: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Phase fluctuations occur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Frequency variations occur</a:t>
            </a:r>
          </a:p>
          <a:p>
            <a:r>
              <a:rPr lang="en-US" b="1" dirty="0"/>
              <a:t>Result</a:t>
            </a:r>
          </a:p>
          <a:p>
            <a:r>
              <a:rPr lang="en-US" dirty="0"/>
              <a:t>Clock edges move randomly → </a:t>
            </a:r>
            <a:r>
              <a:rPr lang="en-US" b="1" dirty="0"/>
              <a:t>clock jitter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53927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8451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Interconnect Methodologies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0" y="1972526"/>
            <a:ext cx="105156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two modules communicate in a digital system, the relationship between their </a:t>
            </a:r>
            <a:r>
              <a:rPr lang="en-US" b="1" dirty="0"/>
              <a:t>clocks</a:t>
            </a:r>
            <a:r>
              <a:rPr lang="en-US" dirty="0"/>
              <a:t> determines the communication method.</a:t>
            </a:r>
          </a:p>
          <a:p>
            <a:r>
              <a:rPr lang="en-US" dirty="0"/>
              <a:t>Four major types of interconnects: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Synchronous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Mesochronous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Plesiochronous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Asynchronous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These interconnect types differ based 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</a:t>
            </a:r>
            <a:r>
              <a:rPr lang="en-US" b="1" dirty="0"/>
              <a:t>frequency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</a:t>
            </a:r>
            <a:r>
              <a:rPr lang="en-US" b="1" dirty="0"/>
              <a:t>phase relationship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627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7785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Synchronous Interconnect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1787860"/>
            <a:ext cx="10210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a </a:t>
            </a:r>
            <a:r>
              <a:rPr lang="en-US" b="1" dirty="0"/>
              <a:t>synchronous interconnect</a:t>
            </a:r>
            <a:r>
              <a:rPr lang="en-US" dirty="0"/>
              <a:t>, all modules use the </a:t>
            </a:r>
            <a:r>
              <a:rPr lang="en-US" b="1" dirty="0"/>
              <a:t>same clock signal</a:t>
            </a:r>
            <a:r>
              <a:rPr lang="en-US" dirty="0"/>
              <a:t>.</a:t>
            </a:r>
          </a:p>
          <a:p>
            <a:r>
              <a:rPr lang="en-US" dirty="0"/>
              <a:t>Characteristics: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Same </a:t>
            </a:r>
            <a:r>
              <a:rPr lang="en-US" b="1" dirty="0"/>
              <a:t>clock frequency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Same </a:t>
            </a:r>
            <a:r>
              <a:rPr lang="en-US" b="1" dirty="0"/>
              <a:t>clock phase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Registers operate with the </a:t>
            </a:r>
            <a:r>
              <a:rPr lang="en-US" b="1" dirty="0"/>
              <a:t>same clock edge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06400" y="322241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Operation: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 is stored in </a:t>
            </a:r>
            <a:r>
              <a:rPr lang="en-US" b="1" dirty="0"/>
              <a:t>R1</a:t>
            </a:r>
            <a:r>
              <a:rPr lang="en-US" dirty="0"/>
              <a:t> at a clock edge.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 travels through </a:t>
            </a:r>
            <a:r>
              <a:rPr lang="en-US" b="1" dirty="0"/>
              <a:t>combinational logic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On the next clock edge, </a:t>
            </a:r>
            <a:r>
              <a:rPr lang="en-US" b="1" dirty="0"/>
              <a:t>R2 captures the data</a:t>
            </a:r>
            <a:r>
              <a:rPr lang="en-US" dirty="0"/>
              <a:t>.</a:t>
            </a:r>
          </a:p>
          <a:p>
            <a:r>
              <a:rPr lang="en-US" b="1" dirty="0">
                <a:solidFill>
                  <a:srgbClr val="FF0000"/>
                </a:solidFill>
              </a:rPr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Simple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Easy timing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common in digital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450572"/>
            <a:ext cx="5639587" cy="179095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781800" y="4511625"/>
            <a:ext cx="39765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Synchronous interconnect </a:t>
            </a:r>
            <a:r>
              <a:rPr lang="en-US" b="1" dirty="0" smtClean="0">
                <a:solidFill>
                  <a:srgbClr val="00B0F0"/>
                </a:solidFill>
              </a:rPr>
              <a:t>methodology</a:t>
            </a:r>
            <a:endParaRPr lang="en-US" b="1" dirty="0">
              <a:solidFill>
                <a:srgbClr val="00B0F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8002" y="5512916"/>
            <a:ext cx="111505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synchronous systems, every register uses the same clock. Because the clock edges are perfectly aligned, the receiver knows exactly when to sample the data.</a:t>
            </a:r>
          </a:p>
        </p:txBody>
      </p:sp>
    </p:spTree>
    <p:extLst>
      <p:ext uri="{BB962C8B-B14F-4D97-AF65-F5344CB8AC3E}">
        <p14:creationId xmlns:p14="http://schemas.microsoft.com/office/powerpoint/2010/main" val="23102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8451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Mesochronous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Interconnect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160020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a </a:t>
            </a:r>
            <a:r>
              <a:rPr lang="en-US" b="1" dirty="0" err="1"/>
              <a:t>mesochronous</a:t>
            </a:r>
            <a:r>
              <a:rPr lang="en-US" b="1" dirty="0"/>
              <a:t> system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frequencies are </a:t>
            </a:r>
            <a:r>
              <a:rPr lang="en-US" b="1" dirty="0"/>
              <a:t>same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Phase difference between clocks is </a:t>
            </a:r>
            <a:r>
              <a:rPr lang="en-US" b="1" dirty="0"/>
              <a:t>unknown</a:t>
            </a:r>
            <a:endParaRPr lang="en-US" dirty="0"/>
          </a:p>
          <a:p>
            <a:r>
              <a:rPr lang="en-US" b="1" dirty="0">
                <a:solidFill>
                  <a:srgbClr val="C00000"/>
                </a:solidFill>
              </a:rPr>
              <a:t>Example:</a:t>
            </a:r>
          </a:p>
          <a:p>
            <a:r>
              <a:rPr lang="en-US" dirty="0"/>
              <a:t>Two chips both operate at </a:t>
            </a:r>
            <a:r>
              <a:rPr lang="en-US" b="1" dirty="0"/>
              <a:t>100 MHz</a:t>
            </a:r>
            <a:r>
              <a:rPr lang="en-US" dirty="0"/>
              <a:t>, but their clock edges are </a:t>
            </a:r>
            <a:r>
              <a:rPr lang="en-US" b="1" dirty="0"/>
              <a:t>shifted in time</a:t>
            </a:r>
            <a:r>
              <a:rPr lang="en-US" dirty="0"/>
              <a:t>.</a:t>
            </a:r>
          </a:p>
          <a:p>
            <a:r>
              <a:rPr lang="en-US" dirty="0"/>
              <a:t>Problem:</a:t>
            </a:r>
          </a:p>
          <a:p>
            <a:r>
              <a:rPr lang="en-US" dirty="0"/>
              <a:t>The receiver does not know </a:t>
            </a:r>
            <a:r>
              <a:rPr lang="en-US" b="1" dirty="0"/>
              <a:t>exactly when the data arrives</a:t>
            </a:r>
            <a:r>
              <a:rPr lang="en-US" dirty="0"/>
              <a:t>.</a:t>
            </a:r>
          </a:p>
          <a:p>
            <a:r>
              <a:rPr lang="en-US" dirty="0"/>
              <a:t>Solution:</a:t>
            </a:r>
          </a:p>
          <a:p>
            <a:r>
              <a:rPr lang="en-US" dirty="0"/>
              <a:t>A </a:t>
            </a:r>
            <a:r>
              <a:rPr lang="en-US" b="1" dirty="0"/>
              <a:t>variable delay circuit</a:t>
            </a:r>
            <a:r>
              <a:rPr lang="en-US" dirty="0"/>
              <a:t> is used to align the data with the receiving clock.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464647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Main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Transmitting register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Interconnect delay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Variable delay element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Phase detector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Receiving register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038600" y="5095210"/>
            <a:ext cx="78486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chemeClr val="accent1"/>
                </a:solidFill>
              </a:rPr>
              <a:t>In </a:t>
            </a:r>
            <a:r>
              <a:rPr lang="en-US" b="1" dirty="0" err="1">
                <a:solidFill>
                  <a:schemeClr val="accent1"/>
                </a:solidFill>
              </a:rPr>
              <a:t>mesochronous</a:t>
            </a:r>
            <a:r>
              <a:rPr lang="en-US" b="1" dirty="0">
                <a:solidFill>
                  <a:schemeClr val="accent1"/>
                </a:solidFill>
              </a:rPr>
              <a:t> systems, both modules run at the same frequency, but their clock edges are not aligned. Because of this phase difference, we adjust the data timing using a delay circuit before capturing it.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988331"/>
            <a:ext cx="5620010" cy="1815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38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8451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Mesochronous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Interconnect</a:t>
            </a:r>
          </a:p>
        </p:txBody>
      </p:sp>
      <p:sp>
        <p:nvSpPr>
          <p:cNvPr id="2" name="Rectangle 1"/>
          <p:cNvSpPr/>
          <p:nvPr/>
        </p:nvSpPr>
        <p:spPr>
          <a:xfrm>
            <a:off x="598283" y="1752600"/>
            <a:ext cx="33183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Role of the Variable Delay Circuit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2084339"/>
            <a:ext cx="114808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a </a:t>
            </a:r>
            <a:r>
              <a:rPr lang="en-US" b="1" dirty="0" err="1"/>
              <a:t>mesochronous</a:t>
            </a:r>
            <a:r>
              <a:rPr lang="en-US" b="1" dirty="0"/>
              <a:t> system</a:t>
            </a:r>
            <a:r>
              <a:rPr lang="en-US" dirty="0"/>
              <a:t>, the transmitting and receiving clocks have the </a:t>
            </a:r>
            <a:r>
              <a:rPr lang="en-US" b="1" dirty="0"/>
              <a:t>same frequency</a:t>
            </a:r>
            <a:r>
              <a:rPr lang="en-US" dirty="0"/>
              <a:t>, but the </a:t>
            </a:r>
            <a:r>
              <a:rPr lang="en-US" b="1" dirty="0"/>
              <a:t>phase difference between them is unknown</a:t>
            </a:r>
            <a:r>
              <a:rPr lang="en-US" dirty="0"/>
              <a:t>. Because of this, the receiver may not know the exact time when data arrives.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3061039"/>
            <a:ext cx="5334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Purpose of the Variable Delay Circuit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Adjusts the </a:t>
            </a:r>
            <a:r>
              <a:rPr lang="en-US" b="1" dirty="0"/>
              <a:t>arrival time of the data signal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Aligns the </a:t>
            </a:r>
            <a:r>
              <a:rPr lang="en-US" b="1" dirty="0"/>
              <a:t>data signal with the receiving clock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Ensures the receiver samples the data during the </a:t>
            </a:r>
            <a:r>
              <a:rPr lang="en-US" b="1" dirty="0"/>
              <a:t>stable period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Prevents </a:t>
            </a:r>
            <a:r>
              <a:rPr lang="en-US" b="1" dirty="0"/>
              <a:t>sampling errors and </a:t>
            </a:r>
            <a:r>
              <a:rPr lang="en-US" b="1" dirty="0" err="1"/>
              <a:t>metastability</a:t>
            </a:r>
            <a:r>
              <a:rPr lang="en-US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0200" y="2762357"/>
            <a:ext cx="6096000" cy="258532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How it Works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Data from the transmitter passes through the </a:t>
            </a:r>
            <a:r>
              <a:rPr lang="en-US" b="1" dirty="0"/>
              <a:t>interconnect path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phase detector</a:t>
            </a:r>
            <a:r>
              <a:rPr lang="en-US" dirty="0"/>
              <a:t> compares the data timing with the </a:t>
            </a:r>
            <a:r>
              <a:rPr lang="en-US" b="1" dirty="0"/>
              <a:t>receiving clock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b="1" dirty="0"/>
              <a:t>variable delay line adjusts the data timing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Data is shifted </a:t>
            </a:r>
            <a:r>
              <a:rPr lang="en-US" b="1" dirty="0"/>
              <a:t>forward or backward in time</a:t>
            </a:r>
            <a:r>
              <a:rPr lang="en-US" dirty="0"/>
              <a:t> until it aligns with the receiving clock.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receiving register then </a:t>
            </a:r>
            <a:r>
              <a:rPr lang="en-US" b="1" dirty="0"/>
              <a:t>captures the data safely</a:t>
            </a:r>
            <a:r>
              <a:rPr lang="en-US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596" y="5494068"/>
            <a:ext cx="109396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The variable delay circuit shifts the data signal in time so that it arrives exactly when the receiving clock samples it.</a:t>
            </a:r>
          </a:p>
        </p:txBody>
      </p:sp>
    </p:spTree>
    <p:extLst>
      <p:ext uri="{BB962C8B-B14F-4D97-AF65-F5344CB8AC3E}">
        <p14:creationId xmlns:p14="http://schemas.microsoft.com/office/powerpoint/2010/main" val="35397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908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Plesiochronous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Interconnect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800" y="147650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</a:t>
            </a:r>
            <a:r>
              <a:rPr lang="en-US" b="1" dirty="0" err="1"/>
              <a:t>plesiochronous</a:t>
            </a:r>
            <a:r>
              <a:rPr lang="en-US" b="1" dirty="0"/>
              <a:t> communication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frequencies are </a:t>
            </a:r>
            <a:r>
              <a:rPr lang="en-US" b="1" dirty="0"/>
              <a:t>almost the same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But </a:t>
            </a:r>
            <a:r>
              <a:rPr lang="en-US" b="1" dirty="0"/>
              <a:t>not exactly equal</a:t>
            </a:r>
            <a:endParaRPr lang="en-US" dirty="0"/>
          </a:p>
          <a:p>
            <a:r>
              <a:rPr lang="en-US" dirty="0"/>
              <a:t>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Sender clock = </a:t>
            </a:r>
            <a:r>
              <a:rPr lang="en-US" b="1" dirty="0"/>
              <a:t>100 MHz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Receiver clock = </a:t>
            </a:r>
            <a:r>
              <a:rPr lang="en-US" b="1" dirty="0"/>
              <a:t>100.01 MHz</a:t>
            </a:r>
            <a:endParaRPr lang="en-US" dirty="0"/>
          </a:p>
          <a:p>
            <a:r>
              <a:rPr lang="en-US" dirty="0"/>
              <a:t>Because of this small difference, the clocks </a:t>
            </a:r>
            <a:r>
              <a:rPr lang="en-US" b="1" dirty="0"/>
              <a:t>drift apart over time</a:t>
            </a:r>
            <a:r>
              <a:rPr lang="en-US" dirty="0"/>
              <a:t>.</a:t>
            </a:r>
          </a:p>
          <a:p>
            <a:r>
              <a:rPr lang="en-US" dirty="0"/>
              <a:t>This means: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Sometimes </a:t>
            </a:r>
            <a:r>
              <a:rPr lang="en-US" b="1" dirty="0"/>
              <a:t>data arrives faster than the receiver reads it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Sometimes </a:t>
            </a:r>
            <a:r>
              <a:rPr lang="en-US" b="1" dirty="0"/>
              <a:t>data arrives slower than the receiver reads it</a:t>
            </a:r>
            <a:endParaRPr lang="en-US" dirty="0"/>
          </a:p>
          <a:p>
            <a:r>
              <a:rPr lang="en-US" dirty="0"/>
              <a:t>This can cause </a:t>
            </a:r>
            <a:r>
              <a:rPr lang="en-US" b="1" dirty="0"/>
              <a:t>data loss or errors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1560" y="4081738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Solution:</a:t>
            </a:r>
          </a:p>
          <a:p>
            <a:r>
              <a:rPr lang="en-US" dirty="0"/>
              <a:t>A </a:t>
            </a:r>
            <a:r>
              <a:rPr lang="en-US" b="1" dirty="0"/>
              <a:t>FIFO buffer</a:t>
            </a:r>
            <a:r>
              <a:rPr lang="en-US" dirty="0"/>
              <a:t> is used to absorb timing differences.</a:t>
            </a:r>
          </a:p>
          <a:p>
            <a:r>
              <a:rPr lang="en-US" b="1" dirty="0"/>
              <a:t>System components: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Originating module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Timing recovery unit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FIFO buffer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Receiving module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797" y="1914149"/>
            <a:ext cx="6095210" cy="1729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9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9085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Plesiochronous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Interconnect</a:t>
            </a:r>
          </a:p>
        </p:txBody>
      </p:sp>
      <p:sp>
        <p:nvSpPr>
          <p:cNvPr id="2" name="Rectangle 1"/>
          <p:cNvSpPr/>
          <p:nvPr/>
        </p:nvSpPr>
        <p:spPr>
          <a:xfrm>
            <a:off x="406400" y="1643203"/>
            <a:ext cx="11252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FIFO Buffer</a:t>
            </a:r>
          </a:p>
          <a:p>
            <a:r>
              <a:rPr lang="en-US" dirty="0"/>
              <a:t>To handle this timing difference, we use a </a:t>
            </a:r>
            <a:r>
              <a:rPr lang="en-US" b="1" dirty="0"/>
              <a:t>FIFO (First-In First-Out) buffer</a:t>
            </a:r>
            <a:r>
              <a:rPr lang="en-US" dirty="0"/>
              <a:t>.</a:t>
            </a:r>
          </a:p>
          <a:p>
            <a:r>
              <a:rPr lang="en-US" dirty="0"/>
              <a:t>A FIFO is a </a:t>
            </a:r>
            <a:r>
              <a:rPr lang="en-US" b="1" dirty="0"/>
              <a:t>temporary storage memory</a:t>
            </a:r>
            <a:r>
              <a:rPr lang="en-US" dirty="0"/>
              <a:t> placed between the sender and receiver</a:t>
            </a: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406400" y="33528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sender writes data into the FIFO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its own clock.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receiver reads data from the FIFO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its own clock.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FIFO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incoming data temporarily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sender is faster, the FIFO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stores extra data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receiver is faster, it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reads data already stored in the FIFO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4121716"/>
            <a:ext cx="10591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The FIFO </a:t>
            </a:r>
            <a:r>
              <a:rPr lang="en-US" b="1" dirty="0">
                <a:solidFill>
                  <a:srgbClr val="C00000"/>
                </a:solidFill>
              </a:rPr>
              <a:t>absorbs the small timing differences</a:t>
            </a:r>
            <a:r>
              <a:rPr lang="en-US" dirty="0">
                <a:solidFill>
                  <a:srgbClr val="C00000"/>
                </a:solidFill>
              </a:rPr>
              <a:t> between the two clocks.</a:t>
            </a:r>
          </a:p>
          <a:p>
            <a:r>
              <a:rPr lang="en-US" dirty="0">
                <a:solidFill>
                  <a:srgbClr val="C00000"/>
                </a:solidFill>
              </a:rPr>
              <a:t>This allows reliable communication even though the clocks are </a:t>
            </a:r>
            <a:r>
              <a:rPr lang="en-US" b="1" dirty="0">
                <a:solidFill>
                  <a:srgbClr val="C00000"/>
                </a:solidFill>
              </a:rPr>
              <a:t>not perfectly matched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5086" y="5075297"/>
            <a:ext cx="1078871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A FIFO buffer temporarily stores incoming data so that differences between the sending and receiving clock speeds do not cause data loss.</a:t>
            </a:r>
          </a:p>
        </p:txBody>
      </p:sp>
    </p:spTree>
    <p:extLst>
      <p:ext uri="{BB962C8B-B14F-4D97-AF65-F5344CB8AC3E}">
        <p14:creationId xmlns:p14="http://schemas.microsoft.com/office/powerpoint/2010/main" val="2120095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8451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Asynchronous Interconnect</a:t>
            </a:r>
          </a:p>
        </p:txBody>
      </p:sp>
      <p:sp>
        <p:nvSpPr>
          <p:cNvPr id="2" name="Rectangle 1"/>
          <p:cNvSpPr/>
          <p:nvPr/>
        </p:nvSpPr>
        <p:spPr>
          <a:xfrm>
            <a:off x="203202" y="1535434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</a:t>
            </a:r>
            <a:r>
              <a:rPr lang="en-US" b="1" dirty="0"/>
              <a:t>asynchronous systems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There is </a:t>
            </a:r>
            <a:r>
              <a:rPr lang="en-US" b="1" dirty="0"/>
              <a:t>no global clock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transfer occurs using </a:t>
            </a:r>
            <a:r>
              <a:rPr lang="en-US" b="1" dirty="0"/>
              <a:t>handshake signals</a:t>
            </a:r>
            <a:endParaRPr lang="en-US" dirty="0"/>
          </a:p>
          <a:p>
            <a:r>
              <a:rPr lang="en-US" dirty="0"/>
              <a:t>Two signals control communication: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Req</a:t>
            </a:r>
            <a:r>
              <a:rPr lang="en-US" b="1" dirty="0"/>
              <a:t> (Request)</a:t>
            </a:r>
            <a:r>
              <a:rPr lang="en-US" dirty="0"/>
              <a:t> – sender requests data transfer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Ack</a:t>
            </a:r>
            <a:r>
              <a:rPr lang="en-US" b="1" dirty="0"/>
              <a:t> (Acknowledge)</a:t>
            </a:r>
            <a:r>
              <a:rPr lang="en-US" dirty="0"/>
              <a:t> – receiver confirms data reception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19" y="3657601"/>
            <a:ext cx="5991384" cy="214474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481833"/>
            <a:ext cx="3200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Operation:</a:t>
            </a:r>
          </a:p>
          <a:p>
            <a:pPr>
              <a:buFont typeface="+mj-lt"/>
              <a:buAutoNum type="arabicPeriod"/>
            </a:pPr>
            <a:r>
              <a:rPr lang="en-US" dirty="0"/>
              <a:t>Sender places data on the bus</a:t>
            </a:r>
          </a:p>
          <a:p>
            <a:pPr>
              <a:buFont typeface="+mj-lt"/>
              <a:buAutoNum type="arabicPeriod"/>
            </a:pPr>
            <a:r>
              <a:rPr lang="en-US" dirty="0"/>
              <a:t>Sender sends </a:t>
            </a:r>
            <a:r>
              <a:rPr lang="en-US" b="1" dirty="0" err="1"/>
              <a:t>Req</a:t>
            </a:r>
            <a:r>
              <a:rPr lang="en-US" b="1" dirty="0"/>
              <a:t> signal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Receiver reads the data</a:t>
            </a:r>
          </a:p>
          <a:p>
            <a:pPr>
              <a:buFont typeface="+mj-lt"/>
              <a:buAutoNum type="arabicPeriod"/>
            </a:pPr>
            <a:r>
              <a:rPr lang="en-US" dirty="0"/>
              <a:t>Receiver sends </a:t>
            </a:r>
            <a:r>
              <a:rPr lang="en-US" b="1" dirty="0" err="1"/>
              <a:t>Ack</a:t>
            </a:r>
            <a:r>
              <a:rPr lang="en-US" b="1" dirty="0"/>
              <a:t> signal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Sender sends the next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3200" y="3203297"/>
            <a:ext cx="5410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clock distribution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Useful for communication between independent systems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52147" y="4573131"/>
            <a:ext cx="57403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dirty="0">
                <a:solidFill>
                  <a:srgbClr val="C00000"/>
                </a:solidFill>
              </a:rPr>
              <a:t>In asynchronous systems, there is no shared clock. Instead, communication happens using request and acknowledge signals. Data is transferred only when both sender and receiver agree.</a:t>
            </a:r>
          </a:p>
        </p:txBody>
      </p:sp>
    </p:spTree>
    <p:extLst>
      <p:ext uri="{BB962C8B-B14F-4D97-AF65-F5344CB8AC3E}">
        <p14:creationId xmlns:p14="http://schemas.microsoft.com/office/powerpoint/2010/main" val="1908807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800" y="1676400"/>
            <a:ext cx="3450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Clock Generation (Source of Jitter)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1907232"/>
            <a:ext cx="1173480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Source</a:t>
            </a:r>
          </a:p>
          <a:p>
            <a:r>
              <a:rPr lang="en-US" dirty="0"/>
              <a:t>The clock signal in a digital system is </a:t>
            </a:r>
            <a:r>
              <a:rPr lang="en-US" b="1" dirty="0"/>
              <a:t>generated by a clock generator circuit</a:t>
            </a:r>
            <a:r>
              <a:rPr lang="en-US" dirty="0"/>
              <a:t>, typically a </a:t>
            </a:r>
            <a:r>
              <a:rPr lang="en-US" b="1" dirty="0"/>
              <a:t>Voltage-Controlled Oscillator (VCO)</a:t>
            </a:r>
            <a:r>
              <a:rPr lang="en-US" dirty="0"/>
              <a:t> inside a </a:t>
            </a:r>
            <a:r>
              <a:rPr lang="en-US" b="1" dirty="0"/>
              <a:t>Phase-Locked Loop (PLL)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low-frequency reference clock is provided.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PLL multiplies it to produce a </a:t>
            </a:r>
            <a:r>
              <a:rPr lang="en-US" b="1" dirty="0"/>
              <a:t>high-frequency system clock</a:t>
            </a:r>
            <a:r>
              <a:rPr lang="en-US" dirty="0"/>
              <a:t>.</a:t>
            </a:r>
          </a:p>
          <a:p>
            <a:r>
              <a:rPr lang="en-US" b="1" dirty="0"/>
              <a:t>The Problem</a:t>
            </a:r>
          </a:p>
          <a:p>
            <a:r>
              <a:rPr lang="en-US" dirty="0"/>
              <a:t>The clock generator is an </a:t>
            </a:r>
            <a:r>
              <a:rPr lang="en-US" b="1" dirty="0"/>
              <a:t>analog circuit operating in a noisy digital environment</a:t>
            </a:r>
            <a:r>
              <a:rPr lang="en-US" dirty="0"/>
              <a:t>.</a:t>
            </a:r>
          </a:p>
          <a:p>
            <a:r>
              <a:rPr lang="en-US" dirty="0"/>
              <a:t>Several noise sources affect the oscillator: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Substrate Noise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Switching activity in nearby digital circuits injects noise into the silicon substrate.</a:t>
            </a:r>
            <a:br>
              <a:rPr lang="en-US" dirty="0"/>
            </a:br>
            <a:r>
              <a:rPr lang="en-US" dirty="0"/>
              <a:t>This noise couples into the sensitive VCO and disturbs its oscillation frequency.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Device Noise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Transistors inside the oscillator generate </a:t>
            </a:r>
            <a:r>
              <a:rPr lang="en-US" b="1" dirty="0"/>
              <a:t>thermal noise and flicker noise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Power Supply Noise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Variations in supply voltage affect the oscillator frequency.</a:t>
            </a:r>
          </a:p>
          <a:p>
            <a:r>
              <a:rPr lang="en-US" dirty="0"/>
              <a:t>Because of these disturbances, the oscillator frequency </a:t>
            </a:r>
            <a:r>
              <a:rPr lang="en-US" b="1" dirty="0"/>
              <a:t>slightly fluctuates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85756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29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13852" y="2490310"/>
            <a:ext cx="1073514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Impact</a:t>
            </a:r>
          </a:p>
          <a:p>
            <a:r>
              <a:rPr lang="en-US" dirty="0"/>
              <a:t>Since the </a:t>
            </a:r>
            <a:r>
              <a:rPr lang="en-US" b="1" dirty="0"/>
              <a:t>starting point of the clock signal is unstable</a:t>
            </a:r>
            <a:r>
              <a:rPr lang="en-US" dirty="0"/>
              <a:t>, each clock period is slightly different.</a:t>
            </a:r>
          </a:p>
          <a:p>
            <a:r>
              <a:rPr lang="en-US" dirty="0"/>
              <a:t>This causes </a:t>
            </a:r>
            <a:r>
              <a:rPr lang="en-US" b="1" dirty="0"/>
              <a:t>cycle-to-cycle variations in the clock period</a:t>
            </a:r>
            <a:r>
              <a:rPr lang="en-US" dirty="0"/>
              <a:t>, which is known as </a:t>
            </a:r>
            <a:r>
              <a:rPr lang="en-US" b="1" dirty="0"/>
              <a:t>clock jitter</a:t>
            </a:r>
            <a:r>
              <a:rPr lang="en-US" dirty="0"/>
              <a:t>.</a:t>
            </a:r>
          </a:p>
          <a:p>
            <a:r>
              <a:rPr lang="en-US" dirty="0"/>
              <a:t>The generated jitter then </a:t>
            </a:r>
            <a:r>
              <a:rPr lang="en-US" b="1" dirty="0"/>
              <a:t>propagates through the entire clock distribution network</a:t>
            </a:r>
            <a:r>
              <a:rPr lang="en-US" dirty="0"/>
              <a:t>, affecting all registers in the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1676400"/>
            <a:ext cx="34500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Clock Generation (Source of Jitter)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066800" y="4851051"/>
            <a:ext cx="10972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Clock jitter can originate from the clock generator itself, because noise in the VCO or PLL causes small variations in the clock period.</a:t>
            </a:r>
          </a:p>
        </p:txBody>
      </p:sp>
    </p:spTree>
    <p:extLst>
      <p:ext uri="{BB962C8B-B14F-4D97-AF65-F5344CB8AC3E}">
        <p14:creationId xmlns:p14="http://schemas.microsoft.com/office/powerpoint/2010/main" val="98720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16349" y="1712613"/>
            <a:ext cx="49503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Manufacturing Device Variations (Source of Skew)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316349" y="2115552"/>
            <a:ext cx="106171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Source</a:t>
            </a:r>
          </a:p>
          <a:p>
            <a:r>
              <a:rPr lang="en-US" dirty="0"/>
              <a:t>Clock distribution networks use </a:t>
            </a:r>
            <a:r>
              <a:rPr lang="en-US" b="1" dirty="0"/>
              <a:t>buffers and drivers</a:t>
            </a:r>
            <a:r>
              <a:rPr lang="en-US" dirty="0"/>
              <a:t> to distribute the clock signal across the chip.</a:t>
            </a:r>
          </a:p>
          <a:p>
            <a:r>
              <a:rPr lang="en-US" b="1" dirty="0"/>
              <a:t>The Problem</a:t>
            </a:r>
          </a:p>
          <a:p>
            <a:r>
              <a:rPr lang="en-US" dirty="0"/>
              <a:t>Due to </a:t>
            </a:r>
            <a:r>
              <a:rPr lang="en-US" b="1" dirty="0"/>
              <a:t>manufacturing process variations</a:t>
            </a:r>
            <a:r>
              <a:rPr lang="en-US" dirty="0"/>
              <a:t>, the electrical parameters of devices differ slightly across the chip.</a:t>
            </a:r>
          </a:p>
          <a:p>
            <a:r>
              <a:rPr lang="en-US" dirty="0"/>
              <a:t>Examples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Oxide thickness variation</a:t>
            </a:r>
            <a:r>
              <a:rPr lang="en-US" dirty="0"/>
              <a:t> → affects transistor gain and threshold voltage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Dopant concentration variation</a:t>
            </a:r>
            <a:r>
              <a:rPr lang="en-US" dirty="0"/>
              <a:t> → changes device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Channel length variation</a:t>
            </a:r>
            <a:r>
              <a:rPr lang="en-US" dirty="0"/>
              <a:t> → affects switching speed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Parasitic capacitance variation</a:t>
            </a:r>
            <a:r>
              <a:rPr lang="en-US" dirty="0"/>
              <a:t> → changes delay of buffers</a:t>
            </a:r>
          </a:p>
          <a:p>
            <a:r>
              <a:rPr lang="en-US" dirty="0"/>
              <a:t>Because of these variations, buffers along different clock paths </a:t>
            </a:r>
            <a:r>
              <a:rPr lang="en-US" b="1" dirty="0"/>
              <a:t>do not behave identically</a:t>
            </a:r>
            <a:r>
              <a:rPr lang="en-US" dirty="0"/>
              <a:t>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6400" y="5211830"/>
            <a:ext cx="10947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Impact</a:t>
            </a:r>
          </a:p>
          <a:p>
            <a:r>
              <a:rPr lang="en-US" b="1" dirty="0">
                <a:solidFill>
                  <a:srgbClr val="C00000"/>
                </a:solidFill>
              </a:rPr>
              <a:t>Some clock paths become faster while others become slower, causing the clock to arrive at registers at different times</a:t>
            </a:r>
          </a:p>
        </p:txBody>
      </p:sp>
    </p:spTree>
    <p:extLst>
      <p:ext uri="{BB962C8B-B14F-4D97-AF65-F5344CB8AC3E}">
        <p14:creationId xmlns:p14="http://schemas.microsoft.com/office/powerpoint/2010/main" val="653924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6349" y="1712613"/>
            <a:ext cx="40546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Interconnect Variations (Source of Skew)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2097034"/>
            <a:ext cx="106680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Source</a:t>
            </a:r>
          </a:p>
          <a:p>
            <a:r>
              <a:rPr lang="en-US" dirty="0"/>
              <a:t>Clock signals travel through </a:t>
            </a:r>
            <a:r>
              <a:rPr lang="en-US" b="1" dirty="0"/>
              <a:t>metal interconnect wires</a:t>
            </a:r>
            <a:r>
              <a:rPr lang="en-US" dirty="0"/>
              <a:t> across the chip.</a:t>
            </a:r>
          </a:p>
          <a:p>
            <a:r>
              <a:rPr lang="en-US" b="1" dirty="0"/>
              <a:t>The Problem</a:t>
            </a:r>
          </a:p>
          <a:p>
            <a:r>
              <a:rPr lang="en-US" dirty="0"/>
              <a:t>Fabrication variations cause changes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Wire width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Wire spacing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Inter-layer dielectric (ILD) thickness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Metal layer thickness</a:t>
            </a:r>
            <a:endParaRPr lang="en-US" dirty="0"/>
          </a:p>
          <a:p>
            <a:r>
              <a:rPr lang="en-US" dirty="0"/>
              <a:t>These variations change the </a:t>
            </a:r>
            <a:r>
              <a:rPr lang="en-US" b="1" dirty="0"/>
              <a:t>resistance (R)</a:t>
            </a:r>
            <a:r>
              <a:rPr lang="en-US" dirty="0"/>
              <a:t> and </a:t>
            </a:r>
            <a:r>
              <a:rPr lang="en-US" b="1" dirty="0"/>
              <a:t>capacitance (C)</a:t>
            </a:r>
            <a:r>
              <a:rPr lang="en-US" dirty="0"/>
              <a:t> of the wires.</a:t>
            </a:r>
          </a:p>
          <a:p>
            <a:r>
              <a:rPr lang="en-US" dirty="0"/>
              <a:t>Since the delay of a wire depends on its </a:t>
            </a:r>
            <a:r>
              <a:rPr lang="en-US" b="1" dirty="0"/>
              <a:t>RC value</a:t>
            </a:r>
            <a:r>
              <a:rPr lang="en-US" dirty="0"/>
              <a:t>, different clock paths experience </a:t>
            </a:r>
            <a:r>
              <a:rPr lang="en-US" b="1" dirty="0"/>
              <a:t>different propagation delays</a:t>
            </a:r>
            <a:r>
              <a:rPr lang="en-US" dirty="0"/>
              <a:t>.</a:t>
            </a:r>
          </a:p>
          <a:p>
            <a:r>
              <a:rPr lang="en-US" b="1" dirty="0"/>
              <a:t>Impact</a:t>
            </a:r>
          </a:p>
          <a:p>
            <a:r>
              <a:rPr lang="en-US" b="1" dirty="0">
                <a:solidFill>
                  <a:srgbClr val="C00000"/>
                </a:solidFill>
              </a:rPr>
              <a:t>Clock signals reach different registers at different times, producing clock skew.</a:t>
            </a:r>
          </a:p>
        </p:txBody>
      </p:sp>
    </p:spTree>
    <p:extLst>
      <p:ext uri="{BB962C8B-B14F-4D97-AF65-F5344CB8AC3E}">
        <p14:creationId xmlns:p14="http://schemas.microsoft.com/office/powerpoint/2010/main" val="100723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74749" y="1676399"/>
            <a:ext cx="41369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Power Supply Variations (Source of Jitter)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673240" y="2286000"/>
            <a:ext cx="102995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Source</a:t>
            </a:r>
          </a:p>
          <a:p>
            <a:r>
              <a:rPr lang="en-US" dirty="0"/>
              <a:t>Clock buffers and drivers operate using the </a:t>
            </a:r>
            <a:r>
              <a:rPr lang="en-US" b="1" dirty="0"/>
              <a:t>power supply voltage (VDD)</a:t>
            </a:r>
            <a:r>
              <a:rPr lang="en-US" dirty="0"/>
              <a:t>.</a:t>
            </a:r>
          </a:p>
          <a:p>
            <a:r>
              <a:rPr lang="en-US" b="1" dirty="0"/>
              <a:t>The Problem</a:t>
            </a:r>
          </a:p>
          <a:p>
            <a:r>
              <a:rPr lang="en-US" dirty="0"/>
              <a:t>Power supply voltage is not perfectly constant because of: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switching activity in digital circuits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IR drops in the power grid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inductive noise in power lines</a:t>
            </a:r>
          </a:p>
          <a:p>
            <a:r>
              <a:rPr lang="en-US" dirty="0"/>
              <a:t>These fluctuations cause the </a:t>
            </a:r>
            <a:r>
              <a:rPr lang="en-US" b="1" dirty="0"/>
              <a:t>transistor switching speed to change dynamically</a:t>
            </a:r>
            <a:r>
              <a:rPr lang="en-US" dirty="0"/>
              <a:t>.</a:t>
            </a:r>
          </a:p>
          <a:p>
            <a:r>
              <a:rPr lang="en-US" b="1" dirty="0"/>
              <a:t>Impact</a:t>
            </a:r>
          </a:p>
          <a:p>
            <a:r>
              <a:rPr lang="en-US" b="1" dirty="0">
                <a:solidFill>
                  <a:srgbClr val="C00000"/>
                </a:solidFill>
              </a:rPr>
              <a:t>Buffer delays vary from cycle to cycle, which changes the timing of clock edges.</a:t>
            </a:r>
          </a:p>
          <a:p>
            <a:r>
              <a:rPr lang="en-US" b="1" dirty="0">
                <a:solidFill>
                  <a:srgbClr val="C00000"/>
                </a:solidFill>
              </a:rPr>
              <a:t>This results in clock jitter.</a:t>
            </a:r>
          </a:p>
        </p:txBody>
      </p:sp>
    </p:spTree>
    <p:extLst>
      <p:ext uri="{BB962C8B-B14F-4D97-AF65-F5344CB8AC3E}">
        <p14:creationId xmlns:p14="http://schemas.microsoft.com/office/powerpoint/2010/main" val="349212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356437" y="1828800"/>
            <a:ext cx="40663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Temperature Variations (Source of Skew)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286000"/>
            <a:ext cx="80772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Source</a:t>
            </a:r>
          </a:p>
          <a:p>
            <a:r>
              <a:rPr lang="en-US" dirty="0"/>
              <a:t>Different regions of the chip operate at </a:t>
            </a:r>
            <a:r>
              <a:rPr lang="en-US" b="1" dirty="0"/>
              <a:t>different temperatures</a:t>
            </a:r>
            <a:r>
              <a:rPr lang="en-US" dirty="0"/>
              <a:t>.</a:t>
            </a:r>
          </a:p>
          <a:p>
            <a:r>
              <a:rPr lang="en-US" b="1" dirty="0"/>
              <a:t>The Problem</a:t>
            </a:r>
          </a:p>
          <a:p>
            <a:r>
              <a:rPr lang="en-US" dirty="0"/>
              <a:t>Temperature strongly affects transistor parameters such as: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threshold voltage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carrier mobility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switching speed</a:t>
            </a:r>
          </a:p>
          <a:p>
            <a:r>
              <a:rPr lang="en-US" dirty="0"/>
              <a:t>For example: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Active logic regions become </a:t>
            </a:r>
            <a:r>
              <a:rPr lang="en-US" b="1" dirty="0"/>
              <a:t>hotter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Idle regions remain </a:t>
            </a:r>
            <a:r>
              <a:rPr lang="en-US" b="1" dirty="0"/>
              <a:t>cooler</a:t>
            </a:r>
            <a:endParaRPr lang="en-US" dirty="0"/>
          </a:p>
          <a:p>
            <a:r>
              <a:rPr lang="en-US" dirty="0"/>
              <a:t>Thus, clock buffers located in different areas experience </a:t>
            </a:r>
            <a:r>
              <a:rPr lang="en-US" b="1" dirty="0"/>
              <a:t>different delays</a:t>
            </a:r>
            <a:r>
              <a:rPr lang="en-US" dirty="0"/>
              <a:t>.</a:t>
            </a:r>
          </a:p>
          <a:p>
            <a:r>
              <a:rPr lang="en-US" b="1" dirty="0"/>
              <a:t>Impact</a:t>
            </a:r>
          </a:p>
          <a:p>
            <a:r>
              <a:rPr lang="en-US" b="1" dirty="0">
                <a:solidFill>
                  <a:srgbClr val="C00000"/>
                </a:solidFill>
              </a:rPr>
              <a:t>Clock signals arrive at registers at different times, creating clock skew.</a:t>
            </a:r>
          </a:p>
        </p:txBody>
      </p:sp>
    </p:spTree>
    <p:extLst>
      <p:ext uri="{BB962C8B-B14F-4D97-AF65-F5344CB8AC3E}">
        <p14:creationId xmlns:p14="http://schemas.microsoft.com/office/powerpoint/2010/main" val="307924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0" y="1905000"/>
            <a:ext cx="4339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Capacitive Load Variations (Source of Skew)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928" y="2274332"/>
            <a:ext cx="9689471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Source</a:t>
            </a:r>
          </a:p>
          <a:p>
            <a:r>
              <a:rPr lang="en-US" dirty="0"/>
              <a:t>Each clock buffer drives a </a:t>
            </a:r>
            <a:r>
              <a:rPr lang="en-US" b="1" dirty="0"/>
              <a:t>capacitive load</a:t>
            </a:r>
            <a:r>
              <a:rPr lang="en-US" dirty="0"/>
              <a:t>, which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interconnect capacitance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gate capacitance of registers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latch inputs</a:t>
            </a:r>
          </a:p>
          <a:p>
            <a:r>
              <a:rPr lang="en-US" b="1" dirty="0"/>
              <a:t>The Problem</a:t>
            </a:r>
          </a:p>
          <a:p>
            <a:r>
              <a:rPr lang="en-US" dirty="0"/>
              <a:t>Different clock paths may drive </a:t>
            </a:r>
            <a:r>
              <a:rPr lang="en-US" b="1" dirty="0"/>
              <a:t>different numbers of registers or gates</a:t>
            </a:r>
            <a:r>
              <a:rPr lang="en-US" dirty="0"/>
              <a:t>, causing variation in load capacitance.</a:t>
            </a:r>
          </a:p>
          <a:p>
            <a:r>
              <a:rPr lang="en-US" dirty="0"/>
              <a:t>Since buffer delay depends on the </a:t>
            </a:r>
            <a:r>
              <a:rPr lang="en-US" b="1" dirty="0"/>
              <a:t>load it drives</a:t>
            </a:r>
            <a:r>
              <a:rPr lang="en-US" dirty="0"/>
              <a:t>, different loads cause </a:t>
            </a:r>
            <a:r>
              <a:rPr lang="en-US" b="1" dirty="0"/>
              <a:t>different delays</a:t>
            </a:r>
            <a:r>
              <a:rPr lang="en-US" dirty="0"/>
              <a:t>.</a:t>
            </a:r>
          </a:p>
          <a:p>
            <a:r>
              <a:rPr lang="en-US" b="1" dirty="0"/>
              <a:t>Impact</a:t>
            </a:r>
          </a:p>
          <a:p>
            <a:r>
              <a:rPr lang="en-US" b="1" dirty="0">
                <a:solidFill>
                  <a:srgbClr val="C00000"/>
                </a:solidFill>
              </a:rPr>
              <a:t>Clock signals propagate through paths at different speeds, producing clock skew.</a:t>
            </a:r>
          </a:p>
        </p:txBody>
      </p:sp>
    </p:spTree>
    <p:extLst>
      <p:ext uri="{BB962C8B-B14F-4D97-AF65-F5344CB8AC3E}">
        <p14:creationId xmlns:p14="http://schemas.microsoft.com/office/powerpoint/2010/main" val="445392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sp>
        <p:nvSpPr>
          <p:cNvPr id="2" name="Rectangle 1"/>
          <p:cNvSpPr/>
          <p:nvPr/>
        </p:nvSpPr>
        <p:spPr>
          <a:xfrm>
            <a:off x="605787" y="1981200"/>
            <a:ext cx="4345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Coupling to Adjacent Lines (Source of Jitter)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67000"/>
            <a:ext cx="10134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The </a:t>
            </a:r>
            <a:r>
              <a:rPr lang="en-US" b="1" dirty="0"/>
              <a:t>Source</a:t>
            </a:r>
          </a:p>
          <a:p>
            <a:r>
              <a:rPr lang="en-US" dirty="0"/>
              <a:t>Clock wires run close to </a:t>
            </a:r>
            <a:r>
              <a:rPr lang="en-US" b="1" dirty="0"/>
              <a:t>other signal wires</a:t>
            </a:r>
            <a:r>
              <a:rPr lang="en-US" dirty="0"/>
              <a:t> on the chip.</a:t>
            </a:r>
          </a:p>
          <a:p>
            <a:r>
              <a:rPr lang="en-US" b="1" dirty="0"/>
              <a:t>The Problem</a:t>
            </a:r>
          </a:p>
          <a:p>
            <a:r>
              <a:rPr lang="en-US" dirty="0"/>
              <a:t>Switching activity on neighboring wires causes </a:t>
            </a:r>
            <a:r>
              <a:rPr lang="en-US" b="1" dirty="0"/>
              <a:t>capacitive coupling</a:t>
            </a:r>
            <a:r>
              <a:rPr lang="en-US" dirty="0"/>
              <a:t>.</a:t>
            </a:r>
          </a:p>
          <a:p>
            <a:r>
              <a:rPr lang="en-US" dirty="0"/>
              <a:t>Since nearby signals switch randomly, the coupling noise injected into the clock line </a:t>
            </a:r>
            <a:r>
              <a:rPr lang="en-US" b="1" dirty="0"/>
              <a:t>changes continuously</a:t>
            </a:r>
            <a:r>
              <a:rPr lang="en-US" dirty="0"/>
              <a:t>.</a:t>
            </a:r>
          </a:p>
          <a:p>
            <a:r>
              <a:rPr lang="en-US" b="1" dirty="0"/>
              <a:t>Impact</a:t>
            </a:r>
          </a:p>
          <a:p>
            <a:r>
              <a:rPr lang="en-US" b="1" dirty="0">
                <a:solidFill>
                  <a:srgbClr val="C00000"/>
                </a:solidFill>
              </a:rPr>
              <a:t>The clock signal experiences timing variations from cycle to cycle, resulting in clock jitter.</a:t>
            </a:r>
          </a:p>
        </p:txBody>
      </p:sp>
    </p:spTree>
    <p:extLst>
      <p:ext uri="{BB962C8B-B14F-4D97-AF65-F5344CB8AC3E}">
        <p14:creationId xmlns:p14="http://schemas.microsoft.com/office/powerpoint/2010/main" val="3404609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36848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Sources of Skew and Jitter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4865497"/>
              </p:ext>
            </p:extLst>
          </p:nvPr>
        </p:nvGraphicFramePr>
        <p:xfrm>
          <a:off x="1066802" y="1981200"/>
          <a:ext cx="10820400" cy="3581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47675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Source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Main Cause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C00000"/>
                          </a:solidFill>
                        </a:rPr>
                        <a:t>Result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lang="en-US"/>
                        <a:t>Clock generation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VCO / PLL instability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Jitter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lang="en-US"/>
                        <a:t>Device variations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transistor mismatch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Skew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lang="en-US"/>
                        <a:t>Interconnect variations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RC delay differences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Skew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lang="en-US"/>
                        <a:t>Power supply noise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VDD fluctuation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Jitter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lang="en-US"/>
                        <a:t>Temperature variation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mobility &amp; threshold change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Skew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lang="en-US"/>
                        <a:t>Capacitive load variation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different 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Skew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lang="en-US"/>
                        <a:t>Coupling with nearby wires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switching interference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Jitter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9011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4289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Clock-Distribution Techniques</a:t>
            </a:r>
          </a:p>
        </p:txBody>
      </p:sp>
      <p:sp>
        <p:nvSpPr>
          <p:cNvPr id="2" name="Rectangle 1"/>
          <p:cNvSpPr/>
          <p:nvPr/>
        </p:nvSpPr>
        <p:spPr>
          <a:xfrm>
            <a:off x="571500" y="1970144"/>
            <a:ext cx="10972800" cy="4204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digital systems, the </a:t>
            </a:r>
            <a:r>
              <a:rPr lang="en-US" b="1" dirty="0"/>
              <a:t>clock signal must reach all registers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However, two major problems occur: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Clock Skew</a:t>
            </a:r>
            <a:r>
              <a:rPr lang="en-US" dirty="0"/>
              <a:t> → clock arrives at different times at different registers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Clock Jitter</a:t>
            </a:r>
            <a:r>
              <a:rPr lang="en-US" dirty="0"/>
              <a:t> → clock edge timing varies from cycle to cycle</a:t>
            </a:r>
          </a:p>
          <a:p>
            <a:pPr>
              <a:lnSpc>
                <a:spcPct val="150000"/>
              </a:lnSpc>
            </a:pPr>
            <a:r>
              <a:rPr lang="en-US" dirty="0"/>
              <a:t>Therefore, designers must design a </a:t>
            </a:r>
            <a:r>
              <a:rPr lang="en-US" b="1" dirty="0"/>
              <a:t>clock distribution network</a:t>
            </a:r>
            <a:r>
              <a:rPr lang="en-US" dirty="0"/>
              <a:t> that: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minimizes skew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minimizes jitter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reduces power consumption</a:t>
            </a:r>
          </a:p>
          <a:p>
            <a:pPr>
              <a:lnSpc>
                <a:spcPct val="150000"/>
              </a:lnSpc>
            </a:pPr>
            <a:r>
              <a:rPr lang="en-US" dirty="0"/>
              <a:t>Another important factor is </a:t>
            </a:r>
            <a:r>
              <a:rPr lang="en-US" b="1" dirty="0"/>
              <a:t>clock gating</a:t>
            </a:r>
            <a:r>
              <a:rPr lang="en-US" dirty="0"/>
              <a:t>, which shuts down unused parts of the clock network to save power.</a:t>
            </a:r>
          </a:p>
          <a:p>
            <a:pPr>
              <a:lnSpc>
                <a:spcPct val="150000"/>
              </a:lnSpc>
            </a:pPr>
            <a:r>
              <a:rPr lang="en-US" dirty="0"/>
              <a:t>But clock gating can introduce </a:t>
            </a:r>
            <a:r>
              <a:rPr lang="en-US" b="1" dirty="0"/>
              <a:t>extra clock uncertainty</a:t>
            </a:r>
            <a:r>
              <a:rPr lang="en-US" dirty="0"/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70311" y="1600812"/>
            <a:ext cx="35991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Why Clock Distribution is Important</a:t>
            </a:r>
          </a:p>
        </p:txBody>
      </p:sp>
    </p:spTree>
    <p:extLst>
      <p:ext uri="{BB962C8B-B14F-4D97-AF65-F5344CB8AC3E}">
        <p14:creationId xmlns:p14="http://schemas.microsoft.com/office/powerpoint/2010/main" val="206579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4289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Clock-Distribution Techniques</a:t>
            </a: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81000" y="2362200"/>
            <a:ext cx="108161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clock is generated at a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central source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distributed across the chip.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Important idea: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absolute delay from the clock source is not important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matters is that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registers receive the clock at the same time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if the clock takes several cycles to travel, it is acceptable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long as the arrival times are equal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achieve this, designers use </a:t>
            </a: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clock paths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799481"/>
            <a:ext cx="3604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Clock Distribution Network Concept</a:t>
            </a:r>
          </a:p>
        </p:txBody>
      </p:sp>
    </p:spTree>
    <p:extLst>
      <p:ext uri="{BB962C8B-B14F-4D97-AF65-F5344CB8AC3E}">
        <p14:creationId xmlns:p14="http://schemas.microsoft.com/office/powerpoint/2010/main" val="100965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39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4289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Clock-Distribution Techniques</a:t>
            </a:r>
          </a:p>
        </p:txBody>
      </p:sp>
      <p:sp>
        <p:nvSpPr>
          <p:cNvPr id="2" name="Rectangle 1"/>
          <p:cNvSpPr/>
          <p:nvPr/>
        </p:nvSpPr>
        <p:spPr>
          <a:xfrm>
            <a:off x="812115" y="1559654"/>
            <a:ext cx="2565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H-Tree Clock Distribution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0" y="1673905"/>
            <a:ext cx="3772426" cy="373432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876800" y="1443073"/>
            <a:ext cx="7772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Example </a:t>
            </a:r>
            <a:r>
              <a:rPr lang="en-US" b="1" dirty="0" smtClean="0">
                <a:solidFill>
                  <a:srgbClr val="C00000"/>
                </a:solidFill>
              </a:rPr>
              <a:t>of an H-tree </a:t>
            </a:r>
            <a:r>
              <a:rPr lang="en-US" b="1" dirty="0">
                <a:solidFill>
                  <a:srgbClr val="C00000"/>
                </a:solidFill>
              </a:rPr>
              <a:t>clock-distribution network for 16 leaf </a:t>
            </a:r>
            <a:r>
              <a:rPr lang="en-US" b="1" dirty="0" smtClean="0">
                <a:solidFill>
                  <a:srgbClr val="C00000"/>
                </a:solidFill>
              </a:rPr>
              <a:t>nodes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03202" y="1849641"/>
            <a:ext cx="741679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H-tree structure distributes the clock symmetrically</a:t>
            </a:r>
            <a:r>
              <a:rPr lang="en-US" dirty="0"/>
              <a:t> across the chip.</a:t>
            </a:r>
          </a:p>
          <a:p>
            <a:r>
              <a:rPr lang="en-US" dirty="0"/>
              <a:t>It looks like the letter </a:t>
            </a:r>
            <a:r>
              <a:rPr lang="en-US" b="1" dirty="0"/>
              <a:t>H repeated multiple times</a:t>
            </a:r>
            <a:r>
              <a:rPr lang="en-US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6988" y="2554050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Clock signal starts from the </a:t>
            </a:r>
            <a:r>
              <a:rPr lang="en-US" b="1" dirty="0"/>
              <a:t>center of the chip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It splits into </a:t>
            </a:r>
            <a:r>
              <a:rPr lang="en-US" b="1" dirty="0"/>
              <a:t>two equal branches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Each branch splits again.</a:t>
            </a:r>
          </a:p>
          <a:p>
            <a:pPr>
              <a:buFont typeface="+mj-lt"/>
              <a:buAutoNum type="arabicPeriod"/>
            </a:pPr>
            <a:r>
              <a:rPr lang="en-US" dirty="0"/>
              <a:t>This continues until the clock reaches all registers.</a:t>
            </a:r>
          </a:p>
          <a:p>
            <a:r>
              <a:rPr lang="en-US" dirty="0"/>
              <a:t>Because each path has </a:t>
            </a:r>
            <a:r>
              <a:rPr lang="en-US" b="1" dirty="0"/>
              <a:t>equal length and similar load</a:t>
            </a:r>
            <a:r>
              <a:rPr lang="en-US" dirty="0"/>
              <a:t>, the delay is approximately equal.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6988" y="4401343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Balanced clock distribution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clock skew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Good for </a:t>
            </a:r>
            <a:r>
              <a:rPr lang="en-US" b="1" dirty="0"/>
              <a:t>regular array structures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85800" y="5561028"/>
            <a:ext cx="109328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F1115"/>
                </a:solidFill>
                <a:latin typeface="quote-cjk-patch"/>
              </a:rPr>
              <a:t>Disadvantage: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 It is rigid. It works beautifully for regular arrays (like a grid of identical processors or a memory array), but it is difficult to fit into an irregular, messy chip </a:t>
            </a:r>
            <a:r>
              <a:rPr lang="en-US" dirty="0" err="1">
                <a:solidFill>
                  <a:srgbClr val="0F1115"/>
                </a:solidFill>
                <a:latin typeface="quote-cjk-patch"/>
              </a:rPr>
              <a:t>floorplan</a:t>
            </a:r>
            <a:r>
              <a:rPr lang="en-US" dirty="0">
                <a:solidFill>
                  <a:srgbClr val="0F1115"/>
                </a:solidFill>
                <a:latin typeface="quote-cjk-patch"/>
              </a:rPr>
              <a:t> with blocks of different sizes.</a:t>
            </a:r>
            <a:endParaRPr 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099702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4289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Clock-Distribution Techniques</a:t>
            </a:r>
          </a:p>
        </p:txBody>
      </p:sp>
      <p:sp>
        <p:nvSpPr>
          <p:cNvPr id="2" name="Rectangle 1"/>
          <p:cNvSpPr/>
          <p:nvPr/>
        </p:nvSpPr>
        <p:spPr>
          <a:xfrm>
            <a:off x="642796" y="1752600"/>
            <a:ext cx="3394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Routed RC Tree Clock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2062" y="2330951"/>
            <a:ext cx="8236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RC-matched distribution is a </a:t>
            </a:r>
            <a:r>
              <a:rPr lang="en-US" b="1" dirty="0"/>
              <a:t>clock distribution technique</a:t>
            </a:r>
            <a:r>
              <a:rPr lang="en-US" dirty="0"/>
              <a:t> where the </a:t>
            </a:r>
            <a:r>
              <a:rPr lang="en-US" b="1" dirty="0"/>
              <a:t>electrical delay (RC delay)</a:t>
            </a:r>
            <a:r>
              <a:rPr lang="en-US" dirty="0"/>
              <a:t> of clock paths is matched instead of matching their physical lengths.</a:t>
            </a:r>
          </a:p>
          <a:p>
            <a:r>
              <a:rPr lang="en-US" dirty="0"/>
              <a:t>It is mainly used in </a:t>
            </a:r>
            <a:r>
              <a:rPr lang="en-US" b="1" dirty="0"/>
              <a:t>irregular chip layouts</a:t>
            </a:r>
            <a:r>
              <a:rPr lang="en-US" dirty="0"/>
              <a:t> where symmetric structures like </a:t>
            </a:r>
            <a:r>
              <a:rPr lang="en-US" b="1" dirty="0"/>
              <a:t>H-trees cannot be implemented easily</a:t>
            </a:r>
            <a:r>
              <a:rPr lang="en-US" dirty="0"/>
              <a:t>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3130" y="1600200"/>
            <a:ext cx="2841987" cy="381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52046" y="3701336"/>
            <a:ext cx="764895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Equivalent RC Model</a:t>
            </a:r>
            <a:endParaRPr lang="en-US" dirty="0"/>
          </a:p>
          <a:p>
            <a:r>
              <a:rPr lang="en-US" dirty="0"/>
              <a:t>Clock path can be represented using an </a:t>
            </a:r>
            <a:r>
              <a:rPr lang="en-US" b="1" dirty="0"/>
              <a:t>RC network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R1, R2</a:t>
            </a:r>
            <a:r>
              <a:rPr lang="en-US" dirty="0"/>
              <a:t> → resistance of clock interconnect wires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C1</a:t>
            </a:r>
            <a:r>
              <a:rPr lang="en-US" dirty="0"/>
              <a:t> → load capacitance from registers or logic gates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C2</a:t>
            </a:r>
            <a:r>
              <a:rPr lang="en-US" dirty="0"/>
              <a:t> → capacitance of interconnect wires</a:t>
            </a:r>
          </a:p>
          <a:p>
            <a:r>
              <a:rPr lang="en-US" dirty="0"/>
              <a:t>These components model the </a:t>
            </a:r>
            <a:r>
              <a:rPr lang="en-US" b="1" dirty="0"/>
              <a:t>real electrical behavior of the clock network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2022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4289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Clock-Distribution Techniques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2796" y="1752600"/>
            <a:ext cx="33940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Routed RC Tree Clock Distribution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533400" y="2388024"/>
            <a:ext cx="105156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Designers adjust: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wire length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wire width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buffer size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load distribution</a:t>
            </a:r>
          </a:p>
          <a:p>
            <a:r>
              <a:rPr lang="en-US" dirty="0"/>
              <a:t>so that each clock path has </a:t>
            </a:r>
            <a:r>
              <a:rPr lang="en-US" b="1" dirty="0"/>
              <a:t>similar RC delay</a:t>
            </a:r>
            <a:r>
              <a:rPr lang="en-US" dirty="0"/>
              <a:t>.</a:t>
            </a:r>
          </a:p>
          <a:p>
            <a:r>
              <a:rPr lang="en-US" dirty="0"/>
              <a:t>Even if two paths have </a:t>
            </a:r>
            <a:r>
              <a:rPr lang="en-US" b="1" dirty="0"/>
              <a:t>different physical lengths</a:t>
            </a:r>
            <a:r>
              <a:rPr lang="en-US" dirty="0"/>
              <a:t>, they can still have the </a:t>
            </a:r>
            <a:r>
              <a:rPr lang="en-US" b="1" dirty="0"/>
              <a:t>same delay</a:t>
            </a:r>
            <a:r>
              <a:rPr lang="en-US" dirty="0"/>
              <a:t> if their RC values match.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4981105"/>
            <a:ext cx="1150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In RC-matched clock distribution, we do not try to make all wires the same length. Instead, we ensure that the electrical delay (R×C delay) of each path is the same so that the clock arrives at all registers at nearly the same time.</a:t>
            </a:r>
          </a:p>
        </p:txBody>
      </p:sp>
    </p:spTree>
    <p:extLst>
      <p:ext uri="{BB962C8B-B14F-4D97-AF65-F5344CB8AC3E}">
        <p14:creationId xmlns:p14="http://schemas.microsoft.com/office/powerpoint/2010/main" val="2144792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42897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Clock-Distribution Techniques</a:t>
            </a:r>
          </a:p>
        </p:txBody>
      </p:sp>
      <p:sp>
        <p:nvSpPr>
          <p:cNvPr id="2" name="Rectangle 1"/>
          <p:cNvSpPr/>
          <p:nvPr/>
        </p:nvSpPr>
        <p:spPr>
          <a:xfrm>
            <a:off x="355349" y="1508148"/>
            <a:ext cx="23461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Grid Clock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860128"/>
            <a:ext cx="89916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this approach, the clock is distributed using a </a:t>
            </a:r>
            <a:r>
              <a:rPr lang="en-US" b="1" dirty="0"/>
              <a:t>grid or mesh network</a:t>
            </a:r>
            <a:r>
              <a:rPr lang="en-US" dirty="0"/>
              <a:t>.</a:t>
            </a:r>
          </a:p>
          <a:p>
            <a:r>
              <a:rPr lang="en-US" dirty="0"/>
              <a:t>Multiple drivers feed the clock into the grid.</a:t>
            </a:r>
          </a:p>
          <a:p>
            <a:r>
              <a:rPr lang="en-US" b="1" dirty="0" smtClean="0"/>
              <a:t>Working</a:t>
            </a:r>
            <a:endParaRPr lang="en-US" b="1" dirty="0"/>
          </a:p>
          <a:p>
            <a:pPr>
              <a:buFont typeface="+mj-lt"/>
              <a:buAutoNum type="arabicPeriod"/>
            </a:pPr>
            <a:r>
              <a:rPr lang="en-US" dirty="0"/>
              <a:t>Global clock driver sends clock signals.</a:t>
            </a:r>
          </a:p>
          <a:p>
            <a:pPr>
              <a:buFont typeface="+mj-lt"/>
              <a:buAutoNum type="arabicPeriod"/>
            </a:pPr>
            <a:r>
              <a:rPr lang="en-US" dirty="0"/>
              <a:t>Clock enters the </a:t>
            </a:r>
            <a:r>
              <a:rPr lang="en-US" b="1" dirty="0"/>
              <a:t>grid network</a:t>
            </a:r>
            <a:r>
              <a:rPr lang="en-US" dirty="0"/>
              <a:t>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grid distributes the clock to </a:t>
            </a:r>
            <a:r>
              <a:rPr lang="en-US" b="1" dirty="0"/>
              <a:t>all registers</a:t>
            </a:r>
            <a:r>
              <a:rPr lang="en-US" dirty="0"/>
              <a:t>.</a:t>
            </a:r>
          </a:p>
          <a:p>
            <a:r>
              <a:rPr lang="en-US" b="1" dirty="0"/>
              <a:t>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</a:t>
            </a:r>
            <a:r>
              <a:rPr lang="en-US" b="1" dirty="0"/>
              <a:t>low clock skew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Clock can be accessed from </a:t>
            </a:r>
            <a:r>
              <a:rPr lang="en-US" b="1" dirty="0"/>
              <a:t>many points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Flexible for late design changes</a:t>
            </a:r>
          </a:p>
          <a:p>
            <a:r>
              <a:rPr lang="en-US" b="1" dirty="0"/>
              <a:t>Disadvantages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Very </a:t>
            </a:r>
            <a:r>
              <a:rPr lang="en-US" b="1" dirty="0"/>
              <a:t>high power consumption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Large number of wires</a:t>
            </a:r>
          </a:p>
          <a:p>
            <a:r>
              <a:rPr lang="en-US" dirty="0"/>
              <a:t>Because of this, grids are usually used </a:t>
            </a:r>
            <a:r>
              <a:rPr lang="en-US" b="1" dirty="0"/>
              <a:t>in the final stage of clock distribution</a:t>
            </a:r>
            <a:r>
              <a:rPr lang="en-US" dirty="0"/>
              <a:t>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299677"/>
            <a:ext cx="5837050" cy="309121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11506" y="5776616"/>
            <a:ext cx="113167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 grid clock distribution spreads the clock through a mesh of wires across the chip so that multiple paths deliver the clock to each register, reducing clock skew.</a:t>
            </a:r>
          </a:p>
        </p:txBody>
      </p:sp>
    </p:spTree>
    <p:extLst>
      <p:ext uri="{BB962C8B-B14F-4D97-AF65-F5344CB8AC3E}">
        <p14:creationId xmlns:p14="http://schemas.microsoft.com/office/powerpoint/2010/main" val="3624622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400" y="1723930"/>
            <a:ext cx="113284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b="1" dirty="0"/>
              <a:t>Latch-Based Clocking and Slack Borrowing</a:t>
            </a:r>
          </a:p>
          <a:p>
            <a:pPr>
              <a:lnSpc>
                <a:spcPct val="200000"/>
              </a:lnSpc>
            </a:pPr>
            <a:r>
              <a:rPr lang="en-US" b="1" dirty="0" smtClean="0"/>
              <a:t>Introduction</a:t>
            </a:r>
            <a:endParaRPr lang="en-US" b="1" dirty="0"/>
          </a:p>
          <a:p>
            <a:pPr>
              <a:lnSpc>
                <a:spcPct val="200000"/>
              </a:lnSpc>
            </a:pPr>
            <a:r>
              <a:rPr lang="en-US" dirty="0"/>
              <a:t>In synchronous digital systems, combinational logic blocks are separated by storage elements to ensure correct sequencing of data. Traditionally, </a:t>
            </a:r>
            <a:r>
              <a:rPr lang="en-US" b="1" dirty="0"/>
              <a:t>edge-triggered flip-flops</a:t>
            </a:r>
            <a:r>
              <a:rPr lang="en-US" dirty="0"/>
              <a:t> are used for this purpose.</a:t>
            </a:r>
          </a:p>
          <a:p>
            <a:pPr>
              <a:lnSpc>
                <a:spcPct val="200000"/>
              </a:lnSpc>
            </a:pPr>
            <a:r>
              <a:rPr lang="en-US" dirty="0"/>
              <a:t>However, an alternative approach uses </a:t>
            </a:r>
            <a:r>
              <a:rPr lang="en-US" b="1" dirty="0"/>
              <a:t>level-sensitive latches</a:t>
            </a:r>
            <a:r>
              <a:rPr lang="en-US" dirty="0"/>
              <a:t> instead of flip-flops. This technique is called </a:t>
            </a:r>
            <a:r>
              <a:rPr lang="en-US" b="1" dirty="0"/>
              <a:t>latch-based clocking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dirty="0"/>
              <a:t>The main advantage of latch-based clocking is that it allows </a:t>
            </a:r>
            <a:r>
              <a:rPr lang="en-US" b="1" dirty="0"/>
              <a:t>timing flexibility between pipeline stages</a:t>
            </a:r>
            <a:r>
              <a:rPr lang="en-US" dirty="0"/>
              <a:t>, enabling </a:t>
            </a:r>
            <a:r>
              <a:rPr lang="en-US" b="1" dirty="0"/>
              <a:t>slack borrowing</a:t>
            </a:r>
            <a:r>
              <a:rPr lang="en-US" dirty="0"/>
              <a:t>, which improves system performance.</a:t>
            </a:r>
          </a:p>
        </p:txBody>
      </p:sp>
    </p:spTree>
    <p:extLst>
      <p:ext uri="{BB962C8B-B14F-4D97-AF65-F5344CB8AC3E}">
        <p14:creationId xmlns:p14="http://schemas.microsoft.com/office/powerpoint/2010/main" val="553303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0" y="1697524"/>
            <a:ext cx="11272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Pipelining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300218" y="2305571"/>
            <a:ext cx="9997968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In synchronous digital circuits, we divide a large combinational circuit into </a:t>
            </a:r>
            <a:r>
              <a:rPr lang="en-US" b="1" dirty="0"/>
              <a:t>multiple smaller stages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Between these stages we place </a:t>
            </a:r>
            <a:r>
              <a:rPr lang="en-US" b="1" dirty="0"/>
              <a:t>storage elements</a:t>
            </a:r>
            <a:r>
              <a:rPr lang="en-US" dirty="0"/>
              <a:t> like registers.</a:t>
            </a:r>
          </a:p>
          <a:p>
            <a:pPr>
              <a:lnSpc>
                <a:spcPct val="150000"/>
              </a:lnSpc>
            </a:pPr>
            <a:r>
              <a:rPr lang="en-US" dirty="0"/>
              <a:t>These storage elements ensure that:</a:t>
            </a:r>
          </a:p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dirty="0">
                <a:solidFill>
                  <a:srgbClr val="FF0000"/>
                </a:solidFill>
              </a:rPr>
              <a:t>data moves stage by stage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each stage works within one clock cycle</a:t>
            </a:r>
            <a:br>
              <a:rPr lang="en-US" dirty="0"/>
            </a:br>
            <a:r>
              <a:rPr lang="en-US" dirty="0"/>
              <a:t>• overall system works synchronously</a:t>
            </a:r>
          </a:p>
          <a:p>
            <a:pPr>
              <a:lnSpc>
                <a:spcPct val="150000"/>
              </a:lnSpc>
            </a:pPr>
            <a:r>
              <a:rPr lang="en-US" dirty="0"/>
              <a:t>Traditionally we use </a:t>
            </a:r>
            <a:r>
              <a:rPr lang="en-US" b="1" dirty="0"/>
              <a:t>edge-triggered flip-flops</a:t>
            </a:r>
            <a:r>
              <a:rPr lang="en-US" dirty="0"/>
              <a:t> for this purpose.</a:t>
            </a:r>
          </a:p>
        </p:txBody>
      </p:sp>
    </p:spTree>
    <p:extLst>
      <p:ext uri="{BB962C8B-B14F-4D97-AF65-F5344CB8AC3E}">
        <p14:creationId xmlns:p14="http://schemas.microsoft.com/office/powerpoint/2010/main" val="2464228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306" y="1828800"/>
            <a:ext cx="37164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Behavior of Edge-Triggered Flip-Flops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2282488"/>
            <a:ext cx="109728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An edge-triggered flip-flop captures data </a:t>
            </a:r>
            <a:r>
              <a:rPr lang="en-US" b="1" dirty="0"/>
              <a:t>only at a clock transition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For example, in a positive edge flip-flop:</a:t>
            </a:r>
          </a:p>
          <a:p>
            <a:pPr>
              <a:lnSpc>
                <a:spcPct val="150000"/>
              </a:lnSpc>
            </a:pPr>
            <a:r>
              <a:rPr lang="en-US" dirty="0"/>
              <a:t>• data is sampled only at the </a:t>
            </a:r>
            <a:r>
              <a:rPr lang="en-US" b="1" dirty="0"/>
              <a:t>rising edge of the clock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after that edge, the flip-flop output remains constant until the next edge</a:t>
            </a:r>
          </a:p>
          <a:p>
            <a:pPr>
              <a:lnSpc>
                <a:spcPct val="150000"/>
              </a:lnSpc>
            </a:pPr>
            <a:r>
              <a:rPr lang="en-US" dirty="0"/>
              <a:t>So the combinational logic between two registers must complete its operation </a:t>
            </a:r>
            <a:r>
              <a:rPr lang="en-US" b="1" dirty="0"/>
              <a:t>within one clock period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The timing requirement becomes:</a:t>
            </a:r>
          </a:p>
          <a:p>
            <a:pPr>
              <a:lnSpc>
                <a:spcPct val="150000"/>
              </a:lnSpc>
            </a:pPr>
            <a:r>
              <a:rPr lang="en-US" dirty="0"/>
              <a:t>Clock period ≥ clock-to-Q delay + combinational logic delay + setup time.</a:t>
            </a:r>
          </a:p>
          <a:p>
            <a:pPr>
              <a:lnSpc>
                <a:spcPct val="150000"/>
              </a:lnSpc>
            </a:pPr>
            <a:r>
              <a:rPr lang="en-US" dirty="0"/>
              <a:t>This means the </a:t>
            </a:r>
            <a:r>
              <a:rPr lang="en-US" b="1" dirty="0"/>
              <a:t>slowest stage in the pipeline determines the clock frequency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3946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743197" y="1828800"/>
            <a:ext cx="37869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Limitation of Edge-Triggered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362200"/>
            <a:ext cx="906779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Now consider two stages of combinational logic.</a:t>
            </a:r>
          </a:p>
          <a:p>
            <a:r>
              <a:rPr lang="en-US" dirty="0" smtClean="0"/>
              <a:t>Suppose: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Stage A delay = 40 ns</a:t>
            </a:r>
            <a:br>
              <a:rPr lang="en-US" dirty="0" smtClean="0">
                <a:solidFill>
                  <a:srgbClr val="FF0000"/>
                </a:solidFill>
              </a:rPr>
            </a:br>
            <a:r>
              <a:rPr lang="en-US" dirty="0" smtClean="0">
                <a:solidFill>
                  <a:srgbClr val="FF0000"/>
                </a:solidFill>
              </a:rPr>
              <a:t>Stage B delay = 80 ns</a:t>
            </a:r>
          </a:p>
          <a:p>
            <a:r>
              <a:rPr lang="en-US" dirty="0" smtClean="0"/>
              <a:t>Since </a:t>
            </a:r>
            <a:r>
              <a:rPr lang="en-US" dirty="0"/>
              <a:t>stage B takes longer, the clock period must be </a:t>
            </a:r>
            <a:r>
              <a:rPr lang="en-US" b="1" dirty="0"/>
              <a:t>at least 80 ns</a:t>
            </a:r>
            <a:r>
              <a:rPr lang="en-US" dirty="0"/>
              <a:t>.</a:t>
            </a:r>
          </a:p>
          <a:p>
            <a:r>
              <a:rPr lang="en-US" dirty="0"/>
              <a:t>But stage A finishes its computation in </a:t>
            </a:r>
            <a:r>
              <a:rPr lang="en-US" b="1" dirty="0"/>
              <a:t>40 ns</a:t>
            </a:r>
            <a:r>
              <a:rPr lang="en-US" dirty="0"/>
              <a:t>.</a:t>
            </a:r>
          </a:p>
          <a:p>
            <a:r>
              <a:rPr lang="en-US" dirty="0"/>
              <a:t>However, the result of stage A </a:t>
            </a:r>
            <a:r>
              <a:rPr lang="en-US" b="1" dirty="0"/>
              <a:t>cannot move forward until the next clock edge</a:t>
            </a:r>
            <a:r>
              <a:rPr lang="en-US" dirty="0"/>
              <a:t>.</a:t>
            </a:r>
          </a:p>
          <a:p>
            <a:r>
              <a:rPr lang="en-US" dirty="0"/>
              <a:t>So the remaining </a:t>
            </a:r>
            <a:r>
              <a:rPr lang="en-US" b="1" dirty="0"/>
              <a:t>40 ns of time is wasted</a:t>
            </a:r>
            <a:r>
              <a:rPr lang="en-US" dirty="0"/>
              <a:t>.</a:t>
            </a:r>
          </a:p>
          <a:p>
            <a:r>
              <a:rPr lang="en-US" dirty="0"/>
              <a:t>This unused time is called </a:t>
            </a:r>
            <a:r>
              <a:rPr lang="en-US" b="1" dirty="0"/>
              <a:t>slack</a:t>
            </a:r>
            <a:r>
              <a:rPr lang="en-US" dirty="0"/>
              <a:t>.</a:t>
            </a:r>
          </a:p>
          <a:p>
            <a:r>
              <a:rPr lang="en-US" dirty="0"/>
              <a:t>In edge-triggered pipelines this slack </a:t>
            </a:r>
            <a:r>
              <a:rPr lang="en-US" b="1" dirty="0"/>
              <a:t>cannot be used by other stages</a:t>
            </a:r>
            <a:r>
              <a:rPr lang="en-US" dirty="0"/>
              <a:t>.</a:t>
            </a:r>
          </a:p>
          <a:p>
            <a:r>
              <a:rPr lang="en-US" dirty="0"/>
              <a:t>As a result, some stages finish early and remain idle while waiting for the next clock edge.</a:t>
            </a:r>
          </a:p>
          <a:p>
            <a:r>
              <a:rPr lang="en-US" b="1" dirty="0">
                <a:solidFill>
                  <a:srgbClr val="FF0000"/>
                </a:solidFill>
              </a:rPr>
              <a:t>This reduces the overall efficiency of the pipeline.</a:t>
            </a:r>
          </a:p>
        </p:txBody>
      </p:sp>
    </p:spTree>
    <p:extLst>
      <p:ext uri="{BB962C8B-B14F-4D97-AF65-F5344CB8AC3E}">
        <p14:creationId xmlns:p14="http://schemas.microsoft.com/office/powerpoint/2010/main" val="380697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252154" y="1524000"/>
            <a:ext cx="36282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Motivation for Latch-Based Clocking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2057400"/>
            <a:ext cx="104394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To overcome this limitation, designers sometimes </a:t>
            </a:r>
            <a:r>
              <a:rPr lang="en-US" dirty="0">
                <a:solidFill>
                  <a:srgbClr val="FF0000"/>
                </a:solidFill>
              </a:rPr>
              <a:t>replace flip-flops with </a:t>
            </a:r>
            <a:r>
              <a:rPr lang="en-US" b="1" dirty="0">
                <a:solidFill>
                  <a:srgbClr val="FF0000"/>
                </a:solidFill>
              </a:rPr>
              <a:t>level-sensitive latches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The key difference is that a </a:t>
            </a:r>
            <a:r>
              <a:rPr lang="en-US" dirty="0">
                <a:solidFill>
                  <a:srgbClr val="FF0000"/>
                </a:solidFill>
              </a:rPr>
              <a:t>latch does not operate only at an edge.</a:t>
            </a:r>
          </a:p>
          <a:p>
            <a:pPr>
              <a:lnSpc>
                <a:spcPct val="200000"/>
              </a:lnSpc>
            </a:pPr>
            <a:r>
              <a:rPr lang="en-US" dirty="0"/>
              <a:t>Instead, a latch is </a:t>
            </a:r>
            <a:r>
              <a:rPr lang="en-US" b="1" dirty="0"/>
              <a:t>transparent during one level of the clock</a:t>
            </a:r>
            <a:r>
              <a:rPr lang="en-US" dirty="0"/>
              <a:t>.</a:t>
            </a:r>
          </a:p>
          <a:p>
            <a:r>
              <a:rPr lang="en-US" dirty="0"/>
              <a:t>For example, a positive level latch behaves like this:</a:t>
            </a:r>
          </a:p>
          <a:p>
            <a:r>
              <a:rPr lang="en-US" b="1" dirty="0">
                <a:solidFill>
                  <a:srgbClr val="00B0F0"/>
                </a:solidFill>
              </a:rPr>
              <a:t>When the clock is high, the latch is transparent and the output follows the input.</a:t>
            </a:r>
          </a:p>
          <a:p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When the clock becomes low, the latch closes and stores the last value.</a:t>
            </a:r>
          </a:p>
          <a:p>
            <a:r>
              <a:rPr lang="en-US" dirty="0"/>
              <a:t>Because of this behavior, data can propagate </a:t>
            </a:r>
            <a:r>
              <a:rPr lang="en-US" b="1" dirty="0"/>
              <a:t>during the time when the latch is transparent</a:t>
            </a:r>
            <a:r>
              <a:rPr lang="en-US" dirty="0"/>
              <a:t>, not just at a single instant.</a:t>
            </a:r>
          </a:p>
          <a:p>
            <a:r>
              <a:rPr lang="en-US" dirty="0"/>
              <a:t>This property provides </a:t>
            </a:r>
            <a:r>
              <a:rPr lang="en-US" b="1" dirty="0"/>
              <a:t>timing flexibility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23982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446020" y="1676400"/>
            <a:ext cx="32310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Two-Phase Latch Based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3062" y="2572056"/>
            <a:ext cx="105723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latch-based designs we typically use </a:t>
            </a:r>
            <a:r>
              <a:rPr lang="en-US" b="1" dirty="0"/>
              <a:t>two sets of latches</a:t>
            </a:r>
            <a:r>
              <a:rPr lang="en-US" dirty="0"/>
              <a:t> controlled by two clock phases.</a:t>
            </a:r>
          </a:p>
          <a:p>
            <a:r>
              <a:rPr lang="en-US" dirty="0"/>
              <a:t>These clocks are usually called:</a:t>
            </a:r>
          </a:p>
          <a:p>
            <a:r>
              <a:rPr lang="en-US" b="1" dirty="0">
                <a:solidFill>
                  <a:srgbClr val="FF0000"/>
                </a:solidFill>
              </a:rPr>
              <a:t>CLK1</a:t>
            </a:r>
            <a:br>
              <a:rPr lang="en-US" b="1" dirty="0">
                <a:solidFill>
                  <a:srgbClr val="FF0000"/>
                </a:solidFill>
              </a:rPr>
            </a:br>
            <a:r>
              <a:rPr lang="en-US" b="1" dirty="0">
                <a:solidFill>
                  <a:srgbClr val="FF0000"/>
                </a:solidFill>
              </a:rPr>
              <a:t>CLK2</a:t>
            </a:r>
          </a:p>
          <a:p>
            <a:r>
              <a:rPr lang="en-US" dirty="0"/>
              <a:t>They operate alternately.</a:t>
            </a:r>
          </a:p>
          <a:p>
            <a:r>
              <a:rPr lang="en-US" b="1" dirty="0">
                <a:solidFill>
                  <a:srgbClr val="0070C0"/>
                </a:solidFill>
              </a:rPr>
              <a:t>When CLK1 is active, the first set of latches becomes transparent.</a:t>
            </a:r>
          </a:p>
          <a:p>
            <a:r>
              <a:rPr lang="en-US" b="1" dirty="0">
                <a:solidFill>
                  <a:srgbClr val="0070C0"/>
                </a:solidFill>
              </a:rPr>
              <a:t>When CLK2 is active, the second set of latches becomes transparent.</a:t>
            </a:r>
          </a:p>
          <a:p>
            <a:r>
              <a:rPr lang="en-US" dirty="0"/>
              <a:t>Thus the pipeline stages are arranged as alternating latches.</a:t>
            </a:r>
          </a:p>
          <a:p>
            <a:r>
              <a:rPr lang="en-US" dirty="0"/>
              <a:t>The data flows from a latch controlled by CLK1 to logic, then to a latch controlled by CLK2, and then to the next logic stage.</a:t>
            </a:r>
          </a:p>
        </p:txBody>
      </p:sp>
    </p:spTree>
    <p:extLst>
      <p:ext uri="{BB962C8B-B14F-4D97-AF65-F5344CB8AC3E}">
        <p14:creationId xmlns:p14="http://schemas.microsoft.com/office/powerpoint/2010/main" val="21081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49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1752600"/>
            <a:ext cx="28200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How Computation Happens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003048"/>
            <a:ext cx="102357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Let us follow the timing conceptually.</a:t>
            </a:r>
          </a:p>
          <a:p>
            <a:pPr>
              <a:lnSpc>
                <a:spcPct val="200000"/>
              </a:lnSpc>
            </a:pPr>
            <a:r>
              <a:rPr lang="en-US" b="1" dirty="0">
                <a:solidFill>
                  <a:srgbClr val="C00000"/>
                </a:solidFill>
              </a:rPr>
              <a:t>When the first latch becomes transparent, the input data passes through it and enters the first logic block.</a:t>
            </a:r>
          </a:p>
          <a:p>
            <a:pPr>
              <a:lnSpc>
                <a:spcPct val="200000"/>
              </a:lnSpc>
            </a:pPr>
            <a:r>
              <a:rPr lang="en-US" dirty="0"/>
              <a:t>After the latch closes, the logic block continues computing.</a:t>
            </a:r>
          </a:p>
          <a:p>
            <a:pPr>
              <a:lnSpc>
                <a:spcPct val="200000"/>
              </a:lnSpc>
            </a:pPr>
            <a:r>
              <a:rPr lang="en-US" dirty="0"/>
              <a:t>When the next clock phase activates, the second latch becomes transparent and captures the output of the logic block.</a:t>
            </a:r>
          </a:p>
          <a:p>
            <a:pPr>
              <a:lnSpc>
                <a:spcPct val="200000"/>
              </a:lnSpc>
            </a:pPr>
            <a:r>
              <a:rPr lang="en-US" dirty="0"/>
              <a:t>Immediately the next stage of logic can start computing.</a:t>
            </a:r>
          </a:p>
          <a:p>
            <a:pPr>
              <a:lnSpc>
                <a:spcPct val="200000"/>
              </a:lnSpc>
            </a:pPr>
            <a:r>
              <a:rPr lang="en-US" dirty="0"/>
              <a:t>Thus computation moves from one stage to the next </a:t>
            </a:r>
            <a:r>
              <a:rPr lang="en-US" b="1" dirty="0"/>
              <a:t>based on clock phases instead of clock edges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2110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600200"/>
            <a:ext cx="17202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Slack Borrowing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922656"/>
            <a:ext cx="965546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most important advantage of latch-based pipelines is </a:t>
            </a:r>
            <a:r>
              <a:rPr lang="en-US" b="1" dirty="0"/>
              <a:t>slack borrowing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Slack borrowing means a pipeline stage can </a:t>
            </a:r>
            <a:r>
              <a:rPr lang="en-US" b="1" dirty="0">
                <a:solidFill>
                  <a:srgbClr val="C00000"/>
                </a:solidFill>
              </a:rPr>
              <a:t>use unused time from a neighboring stage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To understand this concept, imagine two consecutive logic stages.</a:t>
            </a:r>
          </a:p>
          <a:p>
            <a:pPr>
              <a:lnSpc>
                <a:spcPct val="150000"/>
              </a:lnSpc>
            </a:pPr>
            <a:r>
              <a:rPr lang="en-US" dirty="0"/>
              <a:t>Suppose each stage ideally should take half of the clock cycle.</a:t>
            </a:r>
          </a:p>
          <a:p>
            <a:pPr>
              <a:lnSpc>
                <a:spcPct val="150000"/>
              </a:lnSpc>
            </a:pPr>
            <a:r>
              <a:rPr lang="en-US" dirty="0"/>
              <a:t>However, in practice one stage might take longer while the other stage might take less time.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C00000"/>
                </a:solidFill>
              </a:rPr>
              <a:t>Because latches are transparent during part of the clock cycle, the slower stage can continue computing slightly longer than its nominal time.</a:t>
            </a:r>
          </a:p>
          <a:p>
            <a:pPr>
              <a:lnSpc>
                <a:spcPct val="150000"/>
              </a:lnSpc>
            </a:pPr>
            <a:r>
              <a:rPr lang="en-US" dirty="0"/>
              <a:t>Meanwhile the next stage can start computing slightly later.</a:t>
            </a:r>
          </a:p>
          <a:p>
            <a:pPr>
              <a:lnSpc>
                <a:spcPct val="150000"/>
              </a:lnSpc>
            </a:pPr>
            <a:r>
              <a:rPr lang="en-US" dirty="0"/>
              <a:t>Effectively, the slower stage has </a:t>
            </a:r>
            <a:r>
              <a:rPr lang="en-US" b="1" dirty="0"/>
              <a:t>borrowed time from the next stage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Thus the timing slack is redistributed across stages instead of being wasted.</a:t>
            </a:r>
          </a:p>
        </p:txBody>
      </p:sp>
    </p:spTree>
    <p:extLst>
      <p:ext uri="{BB962C8B-B14F-4D97-AF65-F5344CB8AC3E}">
        <p14:creationId xmlns:p14="http://schemas.microsoft.com/office/powerpoint/2010/main" val="1277625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0" y="1676400"/>
            <a:ext cx="32416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Why Slack Borrowing is Possible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422240"/>
            <a:ext cx="8610600" cy="30008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Slack borrowing is possible because of the </a:t>
            </a:r>
            <a:r>
              <a:rPr lang="en-US" b="1" dirty="0"/>
              <a:t>level-sensitive behavior of latches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Since a latch remains transparent for a certain duration of the clock phase, data does not need to wait for a specific clock edge to propagate.</a:t>
            </a:r>
          </a:p>
          <a:p>
            <a:pPr>
              <a:lnSpc>
                <a:spcPct val="150000"/>
              </a:lnSpc>
            </a:pPr>
            <a:r>
              <a:rPr lang="en-US" dirty="0"/>
              <a:t>If a stage finishes early, the next stage can start earlier.</a:t>
            </a:r>
          </a:p>
          <a:p>
            <a:pPr>
              <a:lnSpc>
                <a:spcPct val="150000"/>
              </a:lnSpc>
            </a:pPr>
            <a:r>
              <a:rPr lang="en-US" dirty="0"/>
              <a:t>If a stage finishes slightly late, the next stage can still capture the result during the transparent period.</a:t>
            </a:r>
          </a:p>
          <a:p>
            <a:pPr>
              <a:lnSpc>
                <a:spcPct val="150000"/>
              </a:lnSpc>
            </a:pPr>
            <a:r>
              <a:rPr lang="en-US" dirty="0"/>
              <a:t>Therefore the exact timing boundary between stages becomes </a:t>
            </a:r>
            <a:r>
              <a:rPr lang="en-US" b="1" dirty="0"/>
              <a:t>more flexible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8919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600200"/>
            <a:ext cx="28521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Maximum Borrowable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98127" y="2358554"/>
            <a:ext cx="1000710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There is still a limit to how much time can be borrowed.</a:t>
            </a:r>
          </a:p>
          <a:p>
            <a:pPr>
              <a:lnSpc>
                <a:spcPct val="150000"/>
              </a:lnSpc>
            </a:pPr>
            <a:r>
              <a:rPr lang="en-US" dirty="0"/>
              <a:t>In a two-phase latch system, the maximum time that one stage can borrow from the next stage is approximately </a:t>
            </a:r>
            <a:r>
              <a:rPr lang="en-US" b="1" dirty="0"/>
              <a:t>half of the clock period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This is because each latch is transparent only during its active clock phase.</a:t>
            </a:r>
          </a:p>
          <a:p>
            <a:pPr>
              <a:lnSpc>
                <a:spcPct val="150000"/>
              </a:lnSpc>
            </a:pPr>
            <a:r>
              <a:rPr lang="en-US" dirty="0"/>
              <a:t>If the delay becomes larger than this limit, the data might arrive too late to be captured by the next latch.</a:t>
            </a:r>
          </a:p>
          <a:p>
            <a:pPr>
              <a:lnSpc>
                <a:spcPct val="150000"/>
              </a:lnSpc>
            </a:pPr>
            <a:r>
              <a:rPr lang="en-US" dirty="0"/>
              <a:t>Therefore proper timing analysis is required to ensure correct operation.</a:t>
            </a:r>
          </a:p>
        </p:txBody>
      </p:sp>
    </p:spTree>
    <p:extLst>
      <p:ext uri="{BB962C8B-B14F-4D97-AF65-F5344CB8AC3E}">
        <p14:creationId xmlns:p14="http://schemas.microsoft.com/office/powerpoint/2010/main" val="795230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762000" y="1828800"/>
            <a:ext cx="15610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Disadvantages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3400" y="2286000"/>
            <a:ext cx="11125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Despite the advantages, latch-based clocking also introduces some challenges.</a:t>
            </a:r>
          </a:p>
          <a:p>
            <a:pPr>
              <a:lnSpc>
                <a:spcPct val="200000"/>
              </a:lnSpc>
            </a:pPr>
            <a:r>
              <a:rPr lang="en-US" dirty="0"/>
              <a:t>Clock design becomes more complex because two non-overlapping clock phases must be generated.</a:t>
            </a:r>
          </a:p>
          <a:p>
            <a:pPr>
              <a:lnSpc>
                <a:spcPct val="200000"/>
              </a:lnSpc>
            </a:pPr>
            <a:r>
              <a:rPr lang="en-US" dirty="0"/>
              <a:t>There is also a possibility of </a:t>
            </a:r>
            <a:r>
              <a:rPr lang="en-US" b="1" dirty="0"/>
              <a:t>race conditions</a:t>
            </a:r>
            <a:r>
              <a:rPr lang="en-US" dirty="0"/>
              <a:t> if clock phases overlap.</a:t>
            </a:r>
          </a:p>
          <a:p>
            <a:pPr>
              <a:lnSpc>
                <a:spcPct val="200000"/>
              </a:lnSpc>
            </a:pPr>
            <a:r>
              <a:rPr lang="en-US" dirty="0"/>
              <a:t>The timing analysis is more complicated compared to flip-flop based pipelines.</a:t>
            </a:r>
          </a:p>
          <a:p>
            <a:pPr>
              <a:lnSpc>
                <a:spcPct val="200000"/>
              </a:lnSpc>
            </a:pPr>
            <a:r>
              <a:rPr lang="en-US" dirty="0"/>
              <a:t>Because of these difficulties, many modern designs prefer flip-flop pipelines unless the performance gain from latches is significant.</a:t>
            </a:r>
          </a:p>
        </p:txBody>
      </p:sp>
    </p:spTree>
    <p:extLst>
      <p:ext uri="{BB962C8B-B14F-4D97-AF65-F5344CB8AC3E}">
        <p14:creationId xmlns:p14="http://schemas.microsoft.com/office/powerpoint/2010/main" val="243451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152400" y="1676400"/>
            <a:ext cx="31322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Time Sharing in Latch 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68355" y="2191943"/>
            <a:ext cx="290035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Given</a:t>
            </a:r>
          </a:p>
          <a:p>
            <a:r>
              <a:rPr lang="en-US" dirty="0"/>
              <a:t>Clock period </a:t>
            </a:r>
            <a:r>
              <a:rPr lang="en-US" b="1" dirty="0" err="1"/>
              <a:t>Tclk</a:t>
            </a:r>
            <a:r>
              <a:rPr lang="en-US" b="1" dirty="0"/>
              <a:t> = 10 ns</a:t>
            </a:r>
            <a:endParaRPr lang="en-US" dirty="0"/>
          </a:p>
          <a:p>
            <a:r>
              <a:rPr lang="en-US" dirty="0"/>
              <a:t>Two pipeline stages:</a:t>
            </a:r>
          </a:p>
          <a:p>
            <a:r>
              <a:rPr lang="en-US" dirty="0"/>
              <a:t>Stage A delay = </a:t>
            </a:r>
            <a:r>
              <a:rPr lang="en-US" b="1" dirty="0"/>
              <a:t>3 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Stage B delay = </a:t>
            </a:r>
            <a:r>
              <a:rPr lang="en-US" b="1" dirty="0"/>
              <a:t>7 ns</a:t>
            </a:r>
            <a:endParaRPr lang="en-US" dirty="0"/>
          </a:p>
          <a:p>
            <a:r>
              <a:rPr lang="en-US" dirty="0"/>
              <a:t>Total logic delay:</a:t>
            </a:r>
          </a:p>
          <a:p>
            <a:r>
              <a:rPr lang="en-US" dirty="0"/>
              <a:t>3 ns + 7 ns = </a:t>
            </a:r>
            <a:r>
              <a:rPr lang="en-US" b="1" dirty="0"/>
              <a:t>10 ns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77034" y="1679077"/>
            <a:ext cx="34226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Flip-Flop Pipeline (Edge Triggered)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4668" y="2191943"/>
            <a:ext cx="43717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smtClean="0"/>
              <a:t>Operation</a:t>
            </a:r>
          </a:p>
          <a:p>
            <a:r>
              <a:rPr lang="en-US" smtClean="0"/>
              <a:t>• Data moves </a:t>
            </a:r>
            <a:r>
              <a:rPr lang="en-US" b="1" smtClean="0"/>
              <a:t>only at clock edges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• Each stage must finish before the </a:t>
            </a:r>
            <a:r>
              <a:rPr lang="en-US" b="1" smtClean="0"/>
              <a:t>next clock edge</a:t>
            </a:r>
            <a:endParaRPr lang="en-US" smtClean="0"/>
          </a:p>
          <a:p>
            <a:r>
              <a:rPr lang="en-US" smtClean="0"/>
              <a:t>If the clock period is </a:t>
            </a:r>
            <a:r>
              <a:rPr lang="en-US" b="1" smtClean="0"/>
              <a:t>10 ns</a:t>
            </a:r>
            <a:r>
              <a:rPr lang="en-US" smtClean="0"/>
              <a:t>, the pipeline stages are effectively divided:</a:t>
            </a:r>
          </a:p>
          <a:p>
            <a:r>
              <a:rPr lang="en-US" smtClean="0"/>
              <a:t>Stage A → </a:t>
            </a:r>
            <a:r>
              <a:rPr lang="en-US" b="1" smtClean="0"/>
              <a:t>5 ns</a:t>
            </a:r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Stage B → </a:t>
            </a:r>
            <a:r>
              <a:rPr lang="en-US" b="1" smtClean="0"/>
              <a:t>5 ns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7772400" y="1924089"/>
            <a:ext cx="42672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Execution</a:t>
            </a:r>
          </a:p>
          <a:p>
            <a:r>
              <a:rPr lang="en-US" dirty="0"/>
              <a:t>Stage A computation</a:t>
            </a:r>
          </a:p>
          <a:p>
            <a:r>
              <a:rPr lang="en-US" dirty="0"/>
              <a:t>Start time = </a:t>
            </a:r>
            <a:r>
              <a:rPr lang="en-US" b="1" dirty="0"/>
              <a:t>0 ns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Finish time = </a:t>
            </a:r>
            <a:r>
              <a:rPr lang="en-US" b="1" dirty="0"/>
              <a:t>3 ns</a:t>
            </a:r>
            <a:endParaRPr lang="en-US" dirty="0"/>
          </a:p>
          <a:p>
            <a:r>
              <a:rPr lang="en-US" dirty="0"/>
              <a:t>But the next flip-flop captures data only at </a:t>
            </a:r>
            <a:r>
              <a:rPr lang="en-US" b="1" dirty="0"/>
              <a:t>10 ns</a:t>
            </a:r>
            <a:r>
              <a:rPr lang="en-US" dirty="0"/>
              <a:t>.</a:t>
            </a:r>
          </a:p>
          <a:p>
            <a:r>
              <a:rPr lang="en-US" dirty="0"/>
              <a:t>So Stage B can start only at </a:t>
            </a:r>
            <a:r>
              <a:rPr lang="en-US" b="1" dirty="0"/>
              <a:t>10 ns</a:t>
            </a:r>
            <a:r>
              <a:rPr lang="en-US" dirty="0"/>
              <a:t>.</a:t>
            </a:r>
          </a:p>
          <a:p>
            <a:r>
              <a:rPr lang="en-US" dirty="0"/>
              <a:t>Stage A remains </a:t>
            </a:r>
            <a:r>
              <a:rPr lang="en-US" b="1" dirty="0"/>
              <a:t>idle from 3 ns to 10 ns</a:t>
            </a:r>
            <a:r>
              <a:rPr lang="en-US" dirty="0"/>
              <a:t>.</a:t>
            </a:r>
          </a:p>
          <a:p>
            <a:r>
              <a:rPr lang="en-US" dirty="0"/>
              <a:t>Unused time:</a:t>
            </a:r>
          </a:p>
          <a:p>
            <a:r>
              <a:rPr lang="en-US" dirty="0"/>
              <a:t>5 ns − 3 ns = </a:t>
            </a:r>
            <a:r>
              <a:rPr lang="en-US" b="1" dirty="0"/>
              <a:t>2 ns slack</a:t>
            </a:r>
            <a:endParaRPr lang="en-US" dirty="0"/>
          </a:p>
          <a:p>
            <a:r>
              <a:rPr lang="en-US" dirty="0"/>
              <a:t>But Stage B cannot use this slack.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1247" y="4573372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Result</a:t>
            </a:r>
          </a:p>
          <a:p>
            <a:r>
              <a:rPr lang="en-US" dirty="0"/>
              <a:t>Stage B needs </a:t>
            </a:r>
            <a:r>
              <a:rPr lang="en-US" b="1" dirty="0"/>
              <a:t>7 ns</a:t>
            </a:r>
            <a:r>
              <a:rPr lang="en-US" dirty="0"/>
              <a:t>, but only </a:t>
            </a:r>
            <a:r>
              <a:rPr lang="en-US" b="1" dirty="0"/>
              <a:t>5 ns is available</a:t>
            </a:r>
            <a:r>
              <a:rPr lang="en-US" dirty="0"/>
              <a:t>.</a:t>
            </a:r>
          </a:p>
          <a:p>
            <a:r>
              <a:rPr lang="en-US" dirty="0"/>
              <a:t>Therefore the pipeline </a:t>
            </a:r>
            <a:r>
              <a:rPr lang="en-US" b="1" dirty="0"/>
              <a:t>fails timing</a:t>
            </a:r>
            <a:r>
              <a:rPr lang="en-US" dirty="0"/>
              <a:t>.</a:t>
            </a:r>
          </a:p>
          <a:p>
            <a:r>
              <a:rPr lang="en-US" dirty="0"/>
              <a:t>Even though total delay is </a:t>
            </a:r>
            <a:r>
              <a:rPr lang="en-US" b="1" dirty="0"/>
              <a:t>10 ns</a:t>
            </a:r>
            <a:r>
              <a:rPr lang="en-US" dirty="0"/>
              <a:t>, the rigid stage boundaries prevent sharing of time.</a:t>
            </a:r>
          </a:p>
        </p:txBody>
      </p:sp>
    </p:spTree>
    <p:extLst>
      <p:ext uri="{BB962C8B-B14F-4D97-AF65-F5344CB8AC3E}">
        <p14:creationId xmlns:p14="http://schemas.microsoft.com/office/powerpoint/2010/main" val="112438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</a:t>
            </a:r>
            <a:r>
              <a:rPr lang="en-US" sz="2000" dirty="0" smtClean="0">
                <a:solidFill>
                  <a:srgbClr val="0070C0"/>
                </a:solidFill>
                <a:latin typeface="Bookman Old Style" panose="02050604050505020204" pitchFamily="18" charset="0"/>
              </a:rPr>
              <a:t>2</a:t>
            </a:r>
            <a:r>
              <a:rPr lang="en-US" sz="2000" dirty="0" smtClean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1848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Latch-Based Clocking</a:t>
            </a:r>
          </a:p>
        </p:txBody>
      </p:sp>
      <p:sp>
        <p:nvSpPr>
          <p:cNvPr id="2" name="Rectangle 1"/>
          <p:cNvSpPr/>
          <p:nvPr/>
        </p:nvSpPr>
        <p:spPr>
          <a:xfrm>
            <a:off x="346754" y="1600200"/>
            <a:ext cx="31076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Latch Pipeline (Level Sensitive)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2180274"/>
            <a:ext cx="44704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Operation</a:t>
            </a:r>
          </a:p>
          <a:p>
            <a:r>
              <a:rPr lang="en-US" dirty="0"/>
              <a:t>• Latches are </a:t>
            </a:r>
            <a:r>
              <a:rPr lang="en-US" b="1" dirty="0"/>
              <a:t>transparent during a clock phase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Data can propagate through a latch </a:t>
            </a:r>
            <a:r>
              <a:rPr lang="en-US" b="1" dirty="0"/>
              <a:t>whenever it arrives during that window</a:t>
            </a:r>
            <a:endParaRPr lang="en-US" dirty="0"/>
          </a:p>
          <a:p>
            <a:r>
              <a:rPr lang="en-US" dirty="0"/>
              <a:t>This means stages are </a:t>
            </a:r>
            <a:r>
              <a:rPr lang="en-US" b="1" dirty="0"/>
              <a:t>not strictly divided</a:t>
            </a:r>
            <a:r>
              <a:rPr lang="en-US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39077" y="1636878"/>
            <a:ext cx="41148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Execution</a:t>
            </a:r>
          </a:p>
          <a:p>
            <a:r>
              <a:rPr lang="en-US" dirty="0" smtClean="0"/>
              <a:t>Stage A computation</a:t>
            </a:r>
          </a:p>
          <a:p>
            <a:r>
              <a:rPr lang="en-US" dirty="0" smtClean="0"/>
              <a:t>Start time = </a:t>
            </a:r>
            <a:r>
              <a:rPr lang="en-US" b="1" dirty="0" smtClean="0"/>
              <a:t>0 ns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Finish time = </a:t>
            </a:r>
            <a:r>
              <a:rPr lang="en-US" b="1" dirty="0" smtClean="0"/>
              <a:t>3 ns</a:t>
            </a:r>
            <a:endParaRPr lang="en-US" dirty="0" smtClean="0"/>
          </a:p>
          <a:p>
            <a:r>
              <a:rPr lang="en-US" dirty="0" smtClean="0"/>
              <a:t>Since the next latch is transparent during that phase, the result passes immediately.</a:t>
            </a:r>
          </a:p>
          <a:p>
            <a:r>
              <a:rPr lang="en-US" dirty="0" smtClean="0"/>
              <a:t>Stage B starts computing at </a:t>
            </a:r>
            <a:r>
              <a:rPr lang="en-US" b="1" dirty="0" smtClean="0"/>
              <a:t>3 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Stage B delay = </a:t>
            </a:r>
            <a:r>
              <a:rPr lang="en-US" b="1" dirty="0" smtClean="0"/>
              <a:t>7 ns</a:t>
            </a:r>
            <a:endParaRPr lang="en-US" dirty="0" smtClean="0"/>
          </a:p>
          <a:p>
            <a:r>
              <a:rPr lang="en-US" dirty="0" smtClean="0"/>
              <a:t>Finish time:</a:t>
            </a:r>
          </a:p>
          <a:p>
            <a:r>
              <a:rPr lang="en-US" dirty="0" smtClean="0"/>
              <a:t>3 ns + 7 ns = </a:t>
            </a:r>
            <a:r>
              <a:rPr lang="en-US" b="1" dirty="0" smtClean="0"/>
              <a:t>10 n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324120" y="4435737"/>
            <a:ext cx="398837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Result</a:t>
            </a:r>
          </a:p>
          <a:p>
            <a:r>
              <a:rPr lang="en-US" dirty="0"/>
              <a:t>The total computation finishes exactly at the end of the clock period.</a:t>
            </a:r>
          </a:p>
          <a:p>
            <a:r>
              <a:rPr lang="en-US" dirty="0"/>
              <a:t>So the circuit </a:t>
            </a:r>
            <a:r>
              <a:rPr lang="en-US" b="1" dirty="0"/>
              <a:t>works correctly</a:t>
            </a:r>
            <a:r>
              <a:rPr lang="en-US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53200" y="4251071"/>
            <a:ext cx="1854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What Happened?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62600" y="469247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Originally each stage had </a:t>
            </a:r>
            <a:r>
              <a:rPr lang="en-US" b="1" dirty="0"/>
              <a:t>5 ns</a:t>
            </a:r>
            <a:r>
              <a:rPr lang="en-US" dirty="0"/>
              <a:t>.</a:t>
            </a:r>
          </a:p>
          <a:p>
            <a:r>
              <a:rPr lang="en-US" dirty="0"/>
              <a:t>Stage A used </a:t>
            </a:r>
            <a:r>
              <a:rPr lang="en-US" b="1" dirty="0"/>
              <a:t>3 ns</a:t>
            </a:r>
            <a:r>
              <a:rPr lang="en-US" dirty="0"/>
              <a:t>, leaving </a:t>
            </a:r>
            <a:r>
              <a:rPr lang="en-US" b="1" dirty="0"/>
              <a:t>2 ns unused</a:t>
            </a:r>
            <a:r>
              <a:rPr lang="en-US" dirty="0"/>
              <a:t>.</a:t>
            </a:r>
          </a:p>
          <a:p>
            <a:r>
              <a:rPr lang="en-US" dirty="0"/>
              <a:t>Stage B needed </a:t>
            </a:r>
            <a:r>
              <a:rPr lang="en-US" b="1" dirty="0"/>
              <a:t>7 ns</a:t>
            </a:r>
            <a:r>
              <a:rPr lang="en-US" dirty="0"/>
              <a:t>, which is </a:t>
            </a:r>
            <a:r>
              <a:rPr lang="en-US" b="1" dirty="0"/>
              <a:t>2 ns more than its allocation</a:t>
            </a:r>
            <a:r>
              <a:rPr lang="en-US" dirty="0"/>
              <a:t>.</a:t>
            </a:r>
          </a:p>
          <a:p>
            <a:r>
              <a:rPr lang="en-US" dirty="0"/>
              <a:t>Stage B </a:t>
            </a:r>
            <a:r>
              <a:rPr lang="en-US" b="1" dirty="0"/>
              <a:t>borrowed the unused 2 ns from Stage A</a:t>
            </a:r>
            <a:r>
              <a:rPr lang="en-US" dirty="0"/>
              <a:t>.</a:t>
            </a:r>
          </a:p>
          <a:p>
            <a:r>
              <a:rPr lang="en-US" dirty="0"/>
              <a:t>This is called </a:t>
            </a:r>
            <a:r>
              <a:rPr lang="en-US" b="1" dirty="0"/>
              <a:t>Slack Borrowing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5917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711137" y="1828800"/>
            <a:ext cx="38126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Why Do We Need Self-Timed Circuits?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636006" y="2362200"/>
            <a:ext cx="96012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Most digital circuits today use a </a:t>
            </a:r>
            <a:r>
              <a:rPr lang="en-US" b="1" dirty="0"/>
              <a:t>synchronous design approach</a:t>
            </a:r>
            <a:r>
              <a:rPr lang="en-US" dirty="0"/>
              <a:t>.</a:t>
            </a:r>
          </a:p>
          <a:p>
            <a:pPr>
              <a:lnSpc>
                <a:spcPct val="200000"/>
              </a:lnSpc>
            </a:pPr>
            <a:r>
              <a:rPr lang="en-US" dirty="0"/>
              <a:t>In synchronous systems:</a:t>
            </a:r>
          </a:p>
          <a:p>
            <a:pPr>
              <a:lnSpc>
                <a:spcPct val="200000"/>
              </a:lnSpc>
            </a:pPr>
            <a:r>
              <a:rPr lang="en-US" dirty="0"/>
              <a:t>• All operations are controlled by a </a:t>
            </a:r>
            <a:r>
              <a:rPr lang="en-US" b="1" dirty="0"/>
              <a:t>global clock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Every register changes state only on a </a:t>
            </a:r>
            <a:r>
              <a:rPr lang="en-US" b="1" dirty="0"/>
              <a:t>clock edge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Data moves through pipeline stages </a:t>
            </a:r>
            <a:r>
              <a:rPr lang="en-US" b="1" dirty="0"/>
              <a:t>at every clock cycle</a:t>
            </a:r>
            <a:endParaRPr lang="en-US" dirty="0"/>
          </a:p>
          <a:p>
            <a:pPr>
              <a:lnSpc>
                <a:spcPct val="200000"/>
              </a:lnSpc>
            </a:pPr>
            <a:r>
              <a:rPr lang="en-US" dirty="0"/>
              <a:t>The clock therefore controls </a:t>
            </a:r>
            <a:r>
              <a:rPr lang="en-US" b="1" dirty="0"/>
              <a:t>when computations start and when results are captured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33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752600"/>
            <a:ext cx="3355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Two Important Roles of the Clock</a:t>
            </a:r>
          </a:p>
        </p:txBody>
      </p:sp>
      <p:sp>
        <p:nvSpPr>
          <p:cNvPr id="6" name="Rectangle 5"/>
          <p:cNvSpPr/>
          <p:nvPr/>
        </p:nvSpPr>
        <p:spPr>
          <a:xfrm>
            <a:off x="203202" y="2174779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In synchronous circuits the clock has </a:t>
            </a:r>
            <a:r>
              <a:rPr lang="en-US" b="1" dirty="0"/>
              <a:t>two major responsibilities</a:t>
            </a:r>
            <a:r>
              <a:rPr lang="en-US" dirty="0"/>
              <a:t>.</a:t>
            </a:r>
          </a:p>
          <a:p>
            <a:r>
              <a:rPr lang="en-US" b="1" dirty="0"/>
              <a:t>1. Physical Timing Control</a:t>
            </a:r>
          </a:p>
          <a:p>
            <a:r>
              <a:rPr lang="en-US" dirty="0"/>
              <a:t>The clock ensures that all logic operations have enough time to complete.</a:t>
            </a:r>
          </a:p>
          <a:p>
            <a:r>
              <a:rPr lang="en-US" dirty="0"/>
              <a:t>The clock period must be larger than the </a:t>
            </a:r>
            <a:r>
              <a:rPr lang="en-US" b="1" dirty="0"/>
              <a:t>worst-case delay</a:t>
            </a:r>
            <a:r>
              <a:rPr lang="en-US" dirty="0"/>
              <a:t> of the pipeline stage.</a:t>
            </a:r>
          </a:p>
          <a:p>
            <a:r>
              <a:rPr lang="en-US" dirty="0"/>
              <a:t>Mathematically:</a:t>
            </a:r>
          </a:p>
          <a:p>
            <a:r>
              <a:rPr lang="en-US" dirty="0" err="1"/>
              <a:t>Tclk</a:t>
            </a:r>
            <a:r>
              <a:rPr lang="en-US" dirty="0"/>
              <a:t>&gt;max⁡(tpd1,tpd2,tpd3)+</a:t>
            </a:r>
            <a:r>
              <a:rPr lang="en-US" dirty="0" err="1" smtClean="0"/>
              <a:t>tregT</a:t>
            </a:r>
            <a:endParaRPr lang="en-US" dirty="0" smtClean="0"/>
          </a:p>
          <a:p>
            <a:r>
              <a:rPr lang="en-US" dirty="0" smtClean="0"/>
              <a:t>​ </a:t>
            </a:r>
            <a:r>
              <a:rPr lang="en-US" dirty="0"/>
              <a:t>Where</a:t>
            </a:r>
          </a:p>
          <a:p>
            <a:r>
              <a:rPr lang="en-US" dirty="0"/>
              <a:t>• </a:t>
            </a:r>
            <a:r>
              <a:rPr lang="en-US" dirty="0" err="1" smtClean="0"/>
              <a:t>tpdt</a:t>
            </a:r>
            <a:r>
              <a:rPr lang="en-US" dirty="0" smtClean="0"/>
              <a:t> </a:t>
            </a:r>
            <a:r>
              <a:rPr lang="en-US" dirty="0"/>
              <a:t>= propagation delay of logic blocks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 smtClean="0"/>
              <a:t>treg</a:t>
            </a:r>
            <a:r>
              <a:rPr lang="en-US" dirty="0" smtClean="0"/>
              <a:t>​ </a:t>
            </a:r>
            <a:r>
              <a:rPr lang="en-US" dirty="0"/>
              <a:t>= register delay</a:t>
            </a:r>
          </a:p>
          <a:p>
            <a:r>
              <a:rPr lang="en-US" dirty="0"/>
              <a:t>This ensures that </a:t>
            </a:r>
            <a:r>
              <a:rPr lang="en-US" b="1" dirty="0"/>
              <a:t>all signals settle before the next clock edge</a:t>
            </a:r>
            <a:r>
              <a:rPr lang="en-US" dirty="0"/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6705600" y="2641940"/>
            <a:ext cx="533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Logical Ordering of Events</a:t>
            </a:r>
          </a:p>
          <a:p>
            <a:r>
              <a:rPr lang="en-US" dirty="0"/>
              <a:t>The clock also acts as a </a:t>
            </a:r>
            <a:r>
              <a:rPr lang="en-US" b="1" dirty="0"/>
              <a:t>global coordinator</a:t>
            </a:r>
            <a:r>
              <a:rPr lang="en-US" dirty="0"/>
              <a:t>.</a:t>
            </a:r>
          </a:p>
          <a:p>
            <a:r>
              <a:rPr lang="en-US" dirty="0"/>
              <a:t>At every clock edge:</a:t>
            </a:r>
          </a:p>
          <a:p>
            <a:r>
              <a:rPr lang="en-US" dirty="0"/>
              <a:t>• new inputs are sampled</a:t>
            </a:r>
            <a:br>
              <a:rPr lang="en-US" dirty="0"/>
            </a:br>
            <a:r>
              <a:rPr lang="en-US" dirty="0"/>
              <a:t>• computations start</a:t>
            </a:r>
            <a:br>
              <a:rPr lang="en-US" dirty="0"/>
            </a:br>
            <a:r>
              <a:rPr lang="en-US" dirty="0"/>
              <a:t>• registers update</a:t>
            </a:r>
          </a:p>
          <a:p>
            <a:r>
              <a:rPr lang="en-US" dirty="0"/>
              <a:t>So the clock determines </a:t>
            </a:r>
            <a:r>
              <a:rPr lang="en-US" b="1" dirty="0"/>
              <a:t>when each operation happens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8020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609600" y="1828800"/>
            <a:ext cx="6096000" cy="295786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Advantages of Synchronous Design</a:t>
            </a:r>
          </a:p>
          <a:p>
            <a:pPr>
              <a:lnSpc>
                <a:spcPct val="150000"/>
              </a:lnSpc>
            </a:pPr>
            <a:r>
              <a:rPr lang="en-US" dirty="0"/>
              <a:t>Synchronous design is widely used because it is:</a:t>
            </a:r>
          </a:p>
          <a:p>
            <a:pPr>
              <a:lnSpc>
                <a:spcPct val="150000"/>
              </a:lnSpc>
            </a:pPr>
            <a:r>
              <a:rPr lang="en-US" dirty="0"/>
              <a:t>• </a:t>
            </a:r>
            <a:r>
              <a:rPr lang="en-US" b="1" dirty="0"/>
              <a:t>Structured and predictable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Easy to design and analyze</a:t>
            </a:r>
            <a:br>
              <a:rPr lang="en-US" dirty="0"/>
            </a:br>
            <a:r>
              <a:rPr lang="en-US" dirty="0"/>
              <a:t>• Deterministic behavior</a:t>
            </a:r>
            <a:br>
              <a:rPr lang="en-US" dirty="0"/>
            </a:br>
            <a:r>
              <a:rPr lang="en-US" dirty="0"/>
              <a:t>• Supported by many CAD tools</a:t>
            </a:r>
          </a:p>
          <a:p>
            <a:pPr>
              <a:lnSpc>
                <a:spcPct val="150000"/>
              </a:lnSpc>
            </a:pPr>
            <a:r>
              <a:rPr lang="en-US" dirty="0"/>
              <a:t>However, it also has </a:t>
            </a:r>
            <a:r>
              <a:rPr lang="en-US" b="1" dirty="0"/>
              <a:t>some limitations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7983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59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3919649" y="1932801"/>
            <a:ext cx="4114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Large Current Spikes</a:t>
            </a:r>
          </a:p>
          <a:p>
            <a:r>
              <a:rPr lang="en-US" dirty="0"/>
              <a:t>When the clock edge arrives:</a:t>
            </a:r>
          </a:p>
          <a:p>
            <a:r>
              <a:rPr lang="en-US" dirty="0"/>
              <a:t>• thousands of registers switch simultaneously</a:t>
            </a:r>
          </a:p>
          <a:p>
            <a:r>
              <a:rPr lang="en-US" dirty="0"/>
              <a:t>This causes:</a:t>
            </a:r>
          </a:p>
          <a:p>
            <a:r>
              <a:rPr lang="en-US" dirty="0"/>
              <a:t>• large current spikes</a:t>
            </a:r>
            <a:br>
              <a:rPr lang="en-US" dirty="0"/>
            </a:br>
            <a:r>
              <a:rPr lang="en-US" dirty="0"/>
              <a:t>• power supply noise</a:t>
            </a:r>
            <a:br>
              <a:rPr lang="en-US" dirty="0"/>
            </a:br>
            <a:r>
              <a:rPr lang="en-US" dirty="0"/>
              <a:t>• electromagnetic interference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" y="1655802"/>
            <a:ext cx="363496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Problems with Synchronous Systems</a:t>
            </a:r>
          </a:p>
          <a:p>
            <a:r>
              <a:rPr lang="en-US" b="1" dirty="0"/>
              <a:t>1. Clock Skew and Jitter</a:t>
            </a:r>
          </a:p>
          <a:p>
            <a:r>
              <a:rPr lang="en-US" dirty="0"/>
              <a:t>The clock must reach all parts of the circuit </a:t>
            </a:r>
            <a:r>
              <a:rPr lang="en-US" b="1" dirty="0"/>
              <a:t>at the same time</a:t>
            </a:r>
            <a:r>
              <a:rPr lang="en-US" dirty="0"/>
              <a:t>.</a:t>
            </a:r>
          </a:p>
          <a:p>
            <a:r>
              <a:rPr lang="en-US" dirty="0"/>
              <a:t>In reality this is difficult because of:</a:t>
            </a:r>
          </a:p>
          <a:p>
            <a:r>
              <a:rPr lang="en-US" dirty="0"/>
              <a:t>• clock skew</a:t>
            </a:r>
            <a:br>
              <a:rPr lang="en-US" dirty="0"/>
            </a:br>
            <a:r>
              <a:rPr lang="en-US" dirty="0"/>
              <a:t>• clock jitter</a:t>
            </a:r>
          </a:p>
          <a:p>
            <a:r>
              <a:rPr lang="en-US" dirty="0"/>
              <a:t>These effects cause </a:t>
            </a:r>
            <a:r>
              <a:rPr lang="en-US" b="1" dirty="0"/>
              <a:t>timing uncertainty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7400704" y="1828800"/>
            <a:ext cx="448649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3. Performance Limited by Worst Case Delay</a:t>
            </a:r>
          </a:p>
          <a:p>
            <a:r>
              <a:rPr lang="en-US" dirty="0"/>
              <a:t>In synchronous systems the clock period must accommodate the </a:t>
            </a:r>
            <a:r>
              <a:rPr lang="en-US" b="1" dirty="0"/>
              <a:t>slowest possible path</a:t>
            </a:r>
            <a:r>
              <a:rPr lang="en-US" dirty="0"/>
              <a:t>.</a:t>
            </a:r>
          </a:p>
          <a:p>
            <a:r>
              <a:rPr lang="en-US" dirty="0"/>
              <a:t>Even if most operations are faster, the clock must wait for the </a:t>
            </a:r>
            <a:r>
              <a:rPr lang="en-US" b="1" dirty="0"/>
              <a:t>worst case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A 16-bit adder may take different times depending on the data.</a:t>
            </a:r>
          </a:p>
          <a:p>
            <a:r>
              <a:rPr lang="en-US" dirty="0"/>
              <a:t>But the clock must assume the </a:t>
            </a:r>
            <a:r>
              <a:rPr lang="en-US" b="1" dirty="0"/>
              <a:t>longest delay</a:t>
            </a:r>
            <a:r>
              <a:rPr lang="en-US" dirty="0"/>
              <a:t>.</a:t>
            </a:r>
          </a:p>
          <a:p>
            <a:r>
              <a:rPr lang="en-US" dirty="0"/>
              <a:t>Thus the system often runs </a:t>
            </a:r>
            <a:r>
              <a:rPr lang="en-US" b="1" dirty="0"/>
              <a:t>slower than necessary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15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1549970" y="1834026"/>
            <a:ext cx="805123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Asynchronous Design Idea</a:t>
            </a:r>
          </a:p>
          <a:p>
            <a:r>
              <a:rPr lang="en-US" dirty="0"/>
              <a:t>To overcome these problems, designers can remove the </a:t>
            </a:r>
            <a:r>
              <a:rPr lang="en-US" b="1" dirty="0"/>
              <a:t>global clock</a:t>
            </a:r>
            <a:r>
              <a:rPr lang="en-US" dirty="0"/>
              <a:t>.</a:t>
            </a:r>
          </a:p>
          <a:p>
            <a:r>
              <a:rPr lang="en-US" dirty="0"/>
              <a:t>This approach is called </a:t>
            </a:r>
            <a:r>
              <a:rPr lang="en-US" b="1" dirty="0"/>
              <a:t>asynchronous design</a:t>
            </a:r>
            <a:r>
              <a:rPr lang="en-US" dirty="0"/>
              <a:t>.</a:t>
            </a:r>
          </a:p>
          <a:p>
            <a:r>
              <a:rPr lang="en-US" dirty="0"/>
              <a:t>In asynchronous circuits:</a:t>
            </a:r>
          </a:p>
          <a:p>
            <a:r>
              <a:rPr lang="en-US" dirty="0"/>
              <a:t>• operations start </a:t>
            </a:r>
            <a:r>
              <a:rPr lang="en-US" b="1" dirty="0"/>
              <a:t>as soon as data is available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circuits do not wait for a clock edge</a:t>
            </a:r>
            <a:br>
              <a:rPr lang="en-US" dirty="0"/>
            </a:br>
            <a:r>
              <a:rPr lang="en-US" dirty="0"/>
              <a:t>• the timing is determined by </a:t>
            </a:r>
            <a:r>
              <a:rPr lang="en-US" b="1" dirty="0"/>
              <a:t>signal propagation</a:t>
            </a:r>
            <a:endParaRPr lang="en-US" dirty="0"/>
          </a:p>
          <a:p>
            <a:r>
              <a:rPr lang="en-US" dirty="0"/>
              <a:t>However designing fully asynchronous circuits is difficult because:</a:t>
            </a:r>
          </a:p>
          <a:p>
            <a:r>
              <a:rPr lang="en-US" dirty="0"/>
              <a:t>• race conditions may occur</a:t>
            </a:r>
            <a:br>
              <a:rPr lang="en-US" dirty="0"/>
            </a:br>
            <a:r>
              <a:rPr lang="en-US" dirty="0"/>
              <a:t>• timing analysis becomes complex</a:t>
            </a:r>
          </a:p>
        </p:txBody>
      </p:sp>
    </p:spTree>
    <p:extLst>
      <p:ext uri="{BB962C8B-B14F-4D97-AF65-F5344CB8AC3E}">
        <p14:creationId xmlns:p14="http://schemas.microsoft.com/office/powerpoint/2010/main" val="2728516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0" y="1702805"/>
            <a:ext cx="5341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Self-Timed Circuits (Practical Asynchronous Approach)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2104579"/>
            <a:ext cx="1112520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more practical solution is </a:t>
            </a:r>
            <a:r>
              <a:rPr lang="en-US" b="1" dirty="0"/>
              <a:t>self-timed circuits</a:t>
            </a:r>
            <a:r>
              <a:rPr lang="en-US" dirty="0"/>
              <a:t>.</a:t>
            </a:r>
          </a:p>
          <a:p>
            <a:r>
              <a:rPr lang="en-US" dirty="0"/>
              <a:t>Self-timed circuits do not use a global clock but still maintain </a:t>
            </a:r>
            <a:r>
              <a:rPr lang="en-US" b="1" dirty="0"/>
              <a:t>correct ordering of operations</a:t>
            </a:r>
            <a:r>
              <a:rPr lang="en-US" dirty="0"/>
              <a:t>.</a:t>
            </a:r>
          </a:p>
          <a:p>
            <a:r>
              <a:rPr lang="en-US" dirty="0"/>
              <a:t>The key idea is:</a:t>
            </a:r>
          </a:p>
          <a:p>
            <a:r>
              <a:rPr lang="en-US" dirty="0"/>
              <a:t>Each logic block </a:t>
            </a:r>
            <a:r>
              <a:rPr lang="en-US" b="1" dirty="0"/>
              <a:t>signals when it has finished computation</a:t>
            </a:r>
            <a:r>
              <a:rPr lang="en-US" dirty="0"/>
              <a:t>.</a:t>
            </a:r>
          </a:p>
          <a:p>
            <a:r>
              <a:rPr lang="en-US" dirty="0"/>
              <a:t>So instead of waiting for a clock, the next stage starts </a:t>
            </a:r>
            <a:r>
              <a:rPr lang="en-US" b="1" dirty="0"/>
              <a:t>when the previous stage completes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5578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203202" y="1636878"/>
            <a:ext cx="40639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Completion Detection</a:t>
            </a:r>
          </a:p>
          <a:p>
            <a:r>
              <a:rPr lang="en-US" dirty="0"/>
              <a:t>Each combinational block generates a signal called:</a:t>
            </a:r>
          </a:p>
          <a:p>
            <a:r>
              <a:rPr lang="en-US" b="1" dirty="0"/>
              <a:t>Done</a:t>
            </a:r>
            <a:endParaRPr lang="en-US" dirty="0"/>
          </a:p>
          <a:p>
            <a:r>
              <a:rPr lang="en-US" dirty="0"/>
              <a:t>When the computation finishes.</a:t>
            </a:r>
          </a:p>
          <a:p>
            <a:r>
              <a:rPr lang="en-US" dirty="0"/>
              <a:t>Process:</a:t>
            </a:r>
          </a:p>
          <a:p>
            <a:pPr>
              <a:buFont typeface="+mj-lt"/>
              <a:buAutoNum type="arabicPeriod"/>
            </a:pPr>
            <a:r>
              <a:rPr lang="en-US" dirty="0"/>
              <a:t>A </a:t>
            </a:r>
            <a:r>
              <a:rPr lang="en-US" b="1" dirty="0"/>
              <a:t>Start signal</a:t>
            </a:r>
            <a:r>
              <a:rPr lang="en-US" dirty="0"/>
              <a:t> activates the logic block.</a:t>
            </a:r>
          </a:p>
          <a:p>
            <a:pPr>
              <a:buFont typeface="+mj-lt"/>
              <a:buAutoNum type="arabicPeriod"/>
            </a:pPr>
            <a:r>
              <a:rPr lang="en-US" dirty="0"/>
              <a:t>The block performs computation.</a:t>
            </a:r>
          </a:p>
          <a:p>
            <a:pPr>
              <a:buFont typeface="+mj-lt"/>
              <a:buAutoNum type="arabicPeriod"/>
            </a:pPr>
            <a:r>
              <a:rPr lang="en-US" dirty="0"/>
              <a:t>When finished, it raises a </a:t>
            </a:r>
            <a:r>
              <a:rPr lang="en-US" b="1" dirty="0"/>
              <a:t>Done signal</a:t>
            </a:r>
            <a:r>
              <a:rPr lang="en-US" dirty="0"/>
              <a:t>.</a:t>
            </a:r>
          </a:p>
          <a:p>
            <a:r>
              <a:rPr lang="en-US" dirty="0"/>
              <a:t>This indicates that the result is ready.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rcRect l="3699" t="-2211" r="8448" b="2211"/>
          <a:stretch/>
        </p:blipFill>
        <p:spPr>
          <a:xfrm>
            <a:off x="4569301" y="2010633"/>
            <a:ext cx="7239001" cy="21148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03202" y="4499200"/>
            <a:ext cx="94996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Handshaking Mechanism</a:t>
            </a:r>
          </a:p>
          <a:p>
            <a:r>
              <a:rPr lang="en-US" dirty="0"/>
              <a:t>To coordinate stages, self-timed circuits use a </a:t>
            </a:r>
            <a:r>
              <a:rPr lang="en-US" b="1" dirty="0"/>
              <a:t>handshaking protocol</a:t>
            </a:r>
            <a:r>
              <a:rPr lang="en-US" dirty="0"/>
              <a:t>.</a:t>
            </a:r>
          </a:p>
          <a:p>
            <a:r>
              <a:rPr lang="en-US" dirty="0"/>
              <a:t>Two signals are used:</a:t>
            </a:r>
          </a:p>
          <a:p>
            <a:r>
              <a:rPr lang="en-US" b="1" dirty="0">
                <a:solidFill>
                  <a:srgbClr val="C00000"/>
                </a:solidFill>
              </a:rPr>
              <a:t>Request (</a:t>
            </a:r>
            <a:r>
              <a:rPr lang="en-US" b="1" dirty="0" err="1">
                <a:solidFill>
                  <a:srgbClr val="C00000"/>
                </a:solidFill>
              </a:rPr>
              <a:t>Req</a:t>
            </a:r>
            <a:r>
              <a:rPr lang="en-US" b="1" dirty="0">
                <a:solidFill>
                  <a:srgbClr val="C00000"/>
                </a:solidFill>
              </a:rPr>
              <a:t>)</a:t>
            </a:r>
            <a:br>
              <a:rPr lang="en-US" b="1" dirty="0">
                <a:solidFill>
                  <a:srgbClr val="C00000"/>
                </a:solidFill>
              </a:rPr>
            </a:br>
            <a:r>
              <a:rPr lang="en-US" b="1" dirty="0">
                <a:solidFill>
                  <a:srgbClr val="C00000"/>
                </a:solidFill>
              </a:rPr>
              <a:t>Acknowledge (</a:t>
            </a:r>
            <a:r>
              <a:rPr lang="en-US" b="1" dirty="0" err="1">
                <a:solidFill>
                  <a:srgbClr val="C00000"/>
                </a:solidFill>
              </a:rPr>
              <a:t>Ack</a:t>
            </a:r>
            <a:r>
              <a:rPr lang="en-US" dirty="0"/>
              <a:t>)</a:t>
            </a:r>
          </a:p>
          <a:p>
            <a:r>
              <a:rPr lang="en-US" dirty="0"/>
              <a:t>This mechanism ensures proper communication between blocks.</a:t>
            </a:r>
          </a:p>
        </p:txBody>
      </p:sp>
    </p:spTree>
    <p:extLst>
      <p:ext uri="{BB962C8B-B14F-4D97-AF65-F5344CB8AC3E}">
        <p14:creationId xmlns:p14="http://schemas.microsoft.com/office/powerpoint/2010/main" val="2670864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304800" y="1600200"/>
            <a:ext cx="27638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How the Handshake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299518" y="2064858"/>
            <a:ext cx="77776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sequence of operation is:</a:t>
            </a:r>
          </a:p>
          <a:p>
            <a:r>
              <a:rPr lang="en-US" b="1" dirty="0"/>
              <a:t>Step 1: Request</a:t>
            </a:r>
          </a:p>
          <a:p>
            <a:r>
              <a:rPr lang="en-US" dirty="0"/>
              <a:t>When input data arrives, a </a:t>
            </a:r>
            <a:r>
              <a:rPr lang="en-US" b="1" dirty="0"/>
              <a:t>Request signal</a:t>
            </a:r>
            <a:r>
              <a:rPr lang="en-US" dirty="0"/>
              <a:t> is sent to the next block.</a:t>
            </a:r>
          </a:p>
          <a:p>
            <a:r>
              <a:rPr lang="en-US" dirty="0"/>
              <a:t>This indicates that new data is available.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9622" y="34383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Step 2: Start Computation</a:t>
            </a:r>
          </a:p>
          <a:p>
            <a:r>
              <a:rPr lang="en-US" dirty="0"/>
              <a:t>The logic block begins processing the input.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622" y="42507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Step 3: Completion Signal</a:t>
            </a:r>
          </a:p>
          <a:p>
            <a:r>
              <a:rPr lang="en-US" dirty="0"/>
              <a:t>After computation finishes, the block generates a </a:t>
            </a:r>
            <a:r>
              <a:rPr lang="en-US" b="1" dirty="0"/>
              <a:t>Done signal</a:t>
            </a:r>
            <a:r>
              <a:rPr lang="en-US" dirty="0"/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3202" y="5154309"/>
            <a:ext cx="825499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Step 4: Acknowledge</a:t>
            </a:r>
          </a:p>
          <a:p>
            <a:r>
              <a:rPr lang="en-US" dirty="0"/>
              <a:t>The receiving block sends an </a:t>
            </a:r>
            <a:r>
              <a:rPr lang="en-US" b="1" dirty="0"/>
              <a:t>Acknowledge signal</a:t>
            </a:r>
            <a:r>
              <a:rPr lang="en-US" dirty="0"/>
              <a:t>.</a:t>
            </a:r>
          </a:p>
          <a:p>
            <a:r>
              <a:rPr lang="en-US" dirty="0"/>
              <a:t>This means it has received the data and is ready for the next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1320" y="1734555"/>
            <a:ext cx="30765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Key Idea of Self-Timed Circuits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60722" y="2197937"/>
            <a:ext cx="434339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In synchronous systems:</a:t>
            </a:r>
          </a:p>
          <a:p>
            <a:r>
              <a:rPr lang="en-US" dirty="0"/>
              <a:t>Logical ordering and timing are both controlled by the </a:t>
            </a:r>
            <a:r>
              <a:rPr lang="en-US" b="1" dirty="0"/>
              <a:t>clock</a:t>
            </a:r>
            <a:r>
              <a:rPr lang="en-US" dirty="0"/>
              <a:t>.</a:t>
            </a:r>
          </a:p>
          <a:p>
            <a:r>
              <a:rPr lang="en-US" dirty="0"/>
              <a:t>In self-timed circuits:</a:t>
            </a:r>
          </a:p>
          <a:p>
            <a:r>
              <a:rPr lang="en-US" dirty="0"/>
              <a:t>These two functions are separated.</a:t>
            </a:r>
          </a:p>
          <a:p>
            <a:r>
              <a:rPr lang="en-US" dirty="0"/>
              <a:t>• </a:t>
            </a:r>
            <a:r>
              <a:rPr lang="en-US" b="1" dirty="0"/>
              <a:t>Done signal ensures correct physical timing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 err="1"/>
              <a:t>Req</a:t>
            </a:r>
            <a:r>
              <a:rPr lang="en-US" b="1" dirty="0"/>
              <a:t>/</a:t>
            </a:r>
            <a:r>
              <a:rPr lang="en-US" b="1" dirty="0" err="1"/>
              <a:t>Ack</a:t>
            </a:r>
            <a:r>
              <a:rPr lang="en-US" b="1" dirty="0"/>
              <a:t> signals ensure logical ordering</a:t>
            </a:r>
            <a:endParaRPr lang="en-US" dirty="0"/>
          </a:p>
          <a:p>
            <a:r>
              <a:rPr lang="en-US" dirty="0"/>
              <a:t>Thus operations occur </a:t>
            </a:r>
            <a:r>
              <a:rPr lang="en-US" b="1" dirty="0"/>
              <a:t>when computation finishes</a:t>
            </a:r>
            <a:r>
              <a:rPr lang="en-US" dirty="0"/>
              <a:t>, not when the clock ticks.</a:t>
            </a:r>
          </a:p>
        </p:txBody>
      </p:sp>
    </p:spTree>
    <p:extLst>
      <p:ext uri="{BB962C8B-B14F-4D97-AF65-F5344CB8AC3E}">
        <p14:creationId xmlns:p14="http://schemas.microsoft.com/office/powerpoint/2010/main" val="1240609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4876800" y="709973"/>
            <a:ext cx="25650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Self-Timed Circuit Design</a:t>
            </a:r>
          </a:p>
        </p:txBody>
      </p:sp>
      <p:sp>
        <p:nvSpPr>
          <p:cNvPr id="2" name="Rectangle 1"/>
          <p:cNvSpPr/>
          <p:nvPr/>
        </p:nvSpPr>
        <p:spPr>
          <a:xfrm>
            <a:off x="228600" y="1524000"/>
            <a:ext cx="33739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Advantages of Self-Timed Circuits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06400" y="2097822"/>
            <a:ext cx="3479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No Global Clock Distribution</a:t>
            </a:r>
          </a:p>
          <a:p>
            <a:r>
              <a:rPr lang="en-US" dirty="0"/>
              <a:t>Clock networks are eliminated.</a:t>
            </a:r>
          </a:p>
          <a:p>
            <a:r>
              <a:rPr lang="en-US" dirty="0"/>
              <a:t>This avoids:</a:t>
            </a:r>
          </a:p>
          <a:p>
            <a:r>
              <a:rPr lang="en-US" dirty="0"/>
              <a:t>• clock skew</a:t>
            </a:r>
            <a:br>
              <a:rPr lang="en-US" dirty="0"/>
            </a:br>
            <a:r>
              <a:rPr lang="en-US" dirty="0"/>
              <a:t>• clock distribution power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3721948"/>
            <a:ext cx="48006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Higher Performance</a:t>
            </a:r>
          </a:p>
          <a:p>
            <a:r>
              <a:rPr lang="en-US" dirty="0"/>
              <a:t>Operations proceed at the </a:t>
            </a:r>
            <a:r>
              <a:rPr lang="en-US" b="1" dirty="0"/>
              <a:t>actual speed of hardware</a:t>
            </a:r>
            <a:r>
              <a:rPr lang="en-US" dirty="0"/>
              <a:t>, not the worst case.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Ripple carry adder</a:t>
            </a:r>
          </a:p>
          <a:p>
            <a:r>
              <a:rPr lang="en-US" dirty="0"/>
              <a:t>Worst case delay = O(N)</a:t>
            </a:r>
          </a:p>
          <a:p>
            <a:r>
              <a:rPr lang="en-US" dirty="0"/>
              <a:t>Average delay ≈ O(log N)</a:t>
            </a:r>
          </a:p>
          <a:p>
            <a:r>
              <a:rPr lang="en-US" dirty="0"/>
              <a:t>Self-timed circuits operate closer to the </a:t>
            </a:r>
            <a:r>
              <a:rPr lang="en-US" b="1" dirty="0"/>
              <a:t>average delay</a:t>
            </a:r>
            <a:r>
              <a:rPr lang="en-US" dirty="0"/>
              <a:t>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9126" y="1530472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3. Power Efficiency</a:t>
            </a:r>
          </a:p>
          <a:p>
            <a:r>
              <a:rPr lang="en-US" dirty="0" smtClean="0"/>
              <a:t>Blocks that are not active </a:t>
            </a:r>
            <a:r>
              <a:rPr lang="en-US" b="1" dirty="0" smtClean="0"/>
              <a:t>automatically remain idle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This saves power.</a:t>
            </a:r>
          </a:p>
          <a:p>
            <a:r>
              <a:rPr lang="en-US" dirty="0" smtClean="0"/>
              <a:t>Also the power overhead of </a:t>
            </a:r>
            <a:r>
              <a:rPr lang="en-US" b="1" dirty="0" smtClean="0"/>
              <a:t>clock distribution is removed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4895661" y="2621369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4. Robust to Variations</a:t>
            </a:r>
          </a:p>
          <a:p>
            <a:r>
              <a:rPr lang="en-US" dirty="0"/>
              <a:t>Self-timed circuits adapt automatically to:</a:t>
            </a:r>
          </a:p>
          <a:p>
            <a:r>
              <a:rPr lang="en-US" dirty="0"/>
              <a:t>• temperature variations</a:t>
            </a:r>
            <a:br>
              <a:rPr lang="en-US" dirty="0"/>
            </a:br>
            <a:r>
              <a:rPr lang="en-US" dirty="0"/>
              <a:t>• supply voltage changes</a:t>
            </a:r>
            <a:br>
              <a:rPr lang="en-US" dirty="0"/>
            </a:br>
            <a:r>
              <a:rPr lang="en-US" dirty="0"/>
              <a:t>• manufacturing variations</a:t>
            </a:r>
          </a:p>
          <a:p>
            <a:r>
              <a:rPr lang="en-US" dirty="0"/>
              <a:t>Performance depends on </a:t>
            </a:r>
            <a:r>
              <a:rPr lang="en-US" b="1" dirty="0"/>
              <a:t>actual operating conditions</a:t>
            </a:r>
            <a:r>
              <a:rPr lang="en-US" dirty="0"/>
              <a:t>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1687" y="4327085"/>
            <a:ext cx="702943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C00000"/>
                </a:solidFill>
              </a:rPr>
              <a:t>Disadvantages</a:t>
            </a:r>
            <a:endParaRPr lang="en-US" b="1" dirty="0">
              <a:solidFill>
                <a:srgbClr val="C00000"/>
              </a:solidFill>
            </a:endParaRPr>
          </a:p>
          <a:p>
            <a:r>
              <a:rPr lang="en-US" dirty="0"/>
              <a:t>These benefits come with some cost.</a:t>
            </a:r>
          </a:p>
          <a:p>
            <a:r>
              <a:rPr lang="en-US" dirty="0"/>
              <a:t>Self-timed circuits require:</a:t>
            </a:r>
          </a:p>
          <a:p>
            <a:r>
              <a:rPr lang="en-US" dirty="0"/>
              <a:t>• additional control logic</a:t>
            </a:r>
            <a:br>
              <a:rPr lang="en-US" dirty="0"/>
            </a:br>
            <a:r>
              <a:rPr lang="en-US" dirty="0"/>
              <a:t>• completion detection circuits</a:t>
            </a:r>
            <a:br>
              <a:rPr lang="en-US" dirty="0"/>
            </a:br>
            <a:r>
              <a:rPr lang="en-US" dirty="0"/>
              <a:t>• handshaking hardware</a:t>
            </a:r>
          </a:p>
          <a:p>
            <a:r>
              <a:rPr lang="en-US" dirty="0"/>
              <a:t>This increases </a:t>
            </a:r>
            <a:r>
              <a:rPr lang="en-US" b="1" dirty="0"/>
              <a:t>area and design complexity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3387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  <p:sp>
        <p:nvSpPr>
          <p:cNvPr id="2" name="Rectangle 1"/>
          <p:cNvSpPr/>
          <p:nvPr/>
        </p:nvSpPr>
        <p:spPr>
          <a:xfrm>
            <a:off x="381000" y="1600200"/>
            <a:ext cx="25206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Why Do We Need a PLL?</a:t>
            </a:r>
          </a:p>
        </p:txBody>
      </p:sp>
      <p:sp>
        <p:nvSpPr>
          <p:cNvPr id="6" name="Rectangle 5"/>
          <p:cNvSpPr/>
          <p:nvPr/>
        </p:nvSpPr>
        <p:spPr>
          <a:xfrm>
            <a:off x="3116426" y="1371499"/>
            <a:ext cx="747537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Digital systems need a </a:t>
            </a:r>
            <a:r>
              <a:rPr lang="en-US" b="1" dirty="0"/>
              <a:t>clock signal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• The clock controls all operations</a:t>
            </a:r>
            <a:br>
              <a:rPr lang="en-US" dirty="0"/>
            </a:br>
            <a:r>
              <a:rPr lang="en-US" dirty="0"/>
              <a:t>• Higher performance → </a:t>
            </a:r>
            <a:r>
              <a:rPr lang="en-US" b="1" dirty="0"/>
              <a:t>higher clock frequency needed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But:</a:t>
            </a:r>
          </a:p>
          <a:p>
            <a:pPr>
              <a:lnSpc>
                <a:spcPct val="150000"/>
              </a:lnSpc>
            </a:pPr>
            <a:r>
              <a:rPr lang="en-US" dirty="0"/>
              <a:t>👉 Crystal oscillators (external source) give only </a:t>
            </a:r>
            <a:r>
              <a:rPr lang="en-US" b="1" dirty="0"/>
              <a:t>limited frequency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👉 Modern processors need </a:t>
            </a:r>
            <a:r>
              <a:rPr lang="en-US" b="1" dirty="0"/>
              <a:t>much higher frequency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So we need a circuit that:</a:t>
            </a:r>
          </a:p>
          <a:p>
            <a:pPr>
              <a:lnSpc>
                <a:spcPct val="150000"/>
              </a:lnSpc>
            </a:pPr>
            <a:r>
              <a:rPr lang="en-US" dirty="0"/>
              <a:t>✔ generates high-frequency clock</a:t>
            </a:r>
            <a:br>
              <a:rPr lang="en-US" dirty="0"/>
            </a:br>
            <a:r>
              <a:rPr lang="en-US" dirty="0"/>
              <a:t>✔ keeps it </a:t>
            </a:r>
            <a:r>
              <a:rPr lang="en-US" b="1" dirty="0"/>
              <a:t>accurate and stable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✔ aligns clocks between systems</a:t>
            </a:r>
          </a:p>
          <a:p>
            <a:pPr>
              <a:lnSpc>
                <a:spcPct val="150000"/>
              </a:lnSpc>
            </a:pPr>
            <a:r>
              <a:rPr lang="en-US" dirty="0"/>
              <a:t>That circuit is called:</a:t>
            </a:r>
          </a:p>
          <a:p>
            <a:pPr>
              <a:lnSpc>
                <a:spcPct val="150000"/>
              </a:lnSpc>
            </a:pPr>
            <a:r>
              <a:rPr lang="en-US" b="1" dirty="0"/>
              <a:t>PLL (Phase-Locked Loop)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3965" y="3962400"/>
            <a:ext cx="34541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A PLL is a </a:t>
            </a:r>
            <a:r>
              <a:rPr lang="en-US" b="1" dirty="0"/>
              <a:t>feedback system</a:t>
            </a:r>
            <a:r>
              <a:rPr lang="en-US" dirty="0"/>
              <a:t> that:</a:t>
            </a:r>
          </a:p>
          <a:p>
            <a:r>
              <a:rPr lang="en-US" dirty="0"/>
              <a:t>👉 compares two signals</a:t>
            </a:r>
            <a:br>
              <a:rPr lang="en-US" dirty="0"/>
            </a:br>
            <a:r>
              <a:rPr lang="en-US" dirty="0"/>
              <a:t>👉 adjusts one of them</a:t>
            </a:r>
            <a:br>
              <a:rPr lang="en-US" dirty="0"/>
            </a:br>
            <a:r>
              <a:rPr lang="en-US" dirty="0"/>
              <a:t>👉 until both are </a:t>
            </a:r>
            <a:r>
              <a:rPr lang="en-US" b="1" dirty="0"/>
              <a:t>phase </a:t>
            </a:r>
            <a:r>
              <a:rPr lang="en-US" b="1" dirty="0" smtClean="0"/>
              <a:t>aligned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226406" y="557912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 PLL is a feedback circuit that locks the phase and frequency of an output signal to a reference signal.</a:t>
            </a:r>
          </a:p>
        </p:txBody>
      </p:sp>
    </p:spTree>
    <p:extLst>
      <p:ext uri="{BB962C8B-B14F-4D97-AF65-F5344CB8AC3E}">
        <p14:creationId xmlns:p14="http://schemas.microsoft.com/office/powerpoint/2010/main" val="113584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91" y="2209800"/>
            <a:ext cx="7611537" cy="342947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686800" y="1840468"/>
            <a:ext cx="25719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Frequency Multiplication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2510703"/>
            <a:ext cx="1867161" cy="40010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543800" y="3135868"/>
            <a:ext cx="4648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Converts </a:t>
            </a:r>
            <a:endParaRPr lang="en-US" dirty="0" smtClean="0"/>
          </a:p>
          <a:p>
            <a:r>
              <a:rPr lang="en-US" b="1" dirty="0" smtClean="0"/>
              <a:t>low-frequency </a:t>
            </a:r>
            <a:r>
              <a:rPr lang="en-US" b="1" dirty="0"/>
              <a:t>clock → high-frequency clock</a:t>
            </a:r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8791820" y="4110574"/>
            <a:ext cx="276859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Key Functions</a:t>
            </a:r>
          </a:p>
          <a:p>
            <a:r>
              <a:rPr lang="en-US" dirty="0"/>
              <a:t>• Clock generation</a:t>
            </a:r>
            <a:br>
              <a:rPr lang="en-US" dirty="0"/>
            </a:br>
            <a:r>
              <a:rPr lang="en-US" dirty="0"/>
              <a:t>• Frequency multiplication</a:t>
            </a:r>
            <a:br>
              <a:rPr lang="en-US" dirty="0"/>
            </a:br>
            <a:r>
              <a:rPr lang="en-US" dirty="0"/>
              <a:t>•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515380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581104"/>
            <a:ext cx="35568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PLL in Chip-to-Chip Synchronization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869" y="1994467"/>
            <a:ext cx="11486333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In digital communication between two chips, data is transmitted along with a reference clock from the transmitting chip to the receiving chip. </a:t>
            </a:r>
            <a:endParaRPr lang="en-US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However</a:t>
            </a:r>
            <a:r>
              <a:rPr lang="en-US" dirty="0"/>
              <a:t>, due to </a:t>
            </a:r>
            <a:r>
              <a:rPr lang="en-US" b="1" dirty="0">
                <a:solidFill>
                  <a:srgbClr val="FF0000"/>
                </a:solidFill>
              </a:rPr>
              <a:t>transmission delays and clock buffering in the receiving chip, </a:t>
            </a:r>
            <a:r>
              <a:rPr lang="en-US" dirty="0"/>
              <a:t>misalignment can occur between the data and the clock signal, a problem known as </a:t>
            </a:r>
            <a:r>
              <a:rPr lang="en-US" b="1" dirty="0"/>
              <a:t>clock skew</a:t>
            </a:r>
            <a:r>
              <a:rPr lang="en-US" dirty="0"/>
              <a:t>. </a:t>
            </a:r>
            <a:endParaRPr lang="en-US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misalignment can lead to </a:t>
            </a:r>
            <a:r>
              <a:rPr lang="en-US" b="1" dirty="0">
                <a:solidFill>
                  <a:srgbClr val="C00000"/>
                </a:solidFill>
              </a:rPr>
              <a:t>incorrect sampling of data and system errors. </a:t>
            </a:r>
            <a:endParaRPr lang="en-US" b="1" dirty="0" smtClean="0">
              <a:solidFill>
                <a:srgbClr val="C0000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To </a:t>
            </a:r>
            <a:r>
              <a:rPr lang="en-US" dirty="0"/>
              <a:t>solve this issue, a PLL is used in the receiving chip to synchronize the clock with the incoming data. </a:t>
            </a:r>
            <a:endParaRPr lang="en-US" dirty="0" smtClean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rgbClr val="00B050"/>
                </a:solidFill>
              </a:rPr>
              <a:t>The </a:t>
            </a:r>
            <a:r>
              <a:rPr lang="en-US" b="1" dirty="0">
                <a:solidFill>
                  <a:srgbClr val="00B050"/>
                </a:solidFill>
              </a:rPr>
              <a:t>PLL compares the incoming reference clock with the locally generated clock and adjusts its phase and frequency to align them. </a:t>
            </a:r>
            <a:endParaRPr lang="en-US" b="1" dirty="0" smtClean="0">
              <a:solidFill>
                <a:srgbClr val="00B050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This </a:t>
            </a:r>
            <a:r>
              <a:rPr lang="en-US" dirty="0"/>
              <a:t>process, known as de-skewing, ensures that the clock edges are properly aligned with the data, enabling reliable and accurate data sampling in high-speed communication systems.</a:t>
            </a:r>
          </a:p>
        </p:txBody>
      </p:sp>
    </p:spTree>
    <p:extLst>
      <p:ext uri="{BB962C8B-B14F-4D97-AF65-F5344CB8AC3E}">
        <p14:creationId xmlns:p14="http://schemas.microsoft.com/office/powerpoint/2010/main" val="333987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  <p:sp>
        <p:nvSpPr>
          <p:cNvPr id="2" name="Rectangle 1"/>
          <p:cNvSpPr/>
          <p:nvPr/>
        </p:nvSpPr>
        <p:spPr>
          <a:xfrm>
            <a:off x="457200" y="1676400"/>
            <a:ext cx="29826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Basic Concept of Phase in PLL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90" y="2458270"/>
            <a:ext cx="4556910" cy="165705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5562600" y="1752600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Periodic </a:t>
            </a:r>
            <a:r>
              <a:rPr lang="en-US" dirty="0"/>
              <a:t>signals of the same frequency can be completely described using their </a:t>
            </a:r>
            <a:r>
              <a:rPr lang="en-US" b="1" dirty="0"/>
              <a:t>phase relationship</a:t>
            </a:r>
            <a:r>
              <a:rPr lang="en-US" dirty="0" smtClean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 </a:t>
            </a:r>
            <a:r>
              <a:rPr lang="en-US" dirty="0"/>
              <a:t>When two signals have identical frequencies, the important parameter is not just the frequency but the </a:t>
            </a:r>
            <a:r>
              <a:rPr lang="en-US" b="1" dirty="0"/>
              <a:t>relative phase difference between them</a:t>
            </a:r>
            <a:r>
              <a:rPr lang="en-US" dirty="0"/>
              <a:t>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If </a:t>
            </a:r>
            <a:r>
              <a:rPr lang="en-US" dirty="0"/>
              <a:t>one signal is shifted in time with respect to another, this shift is represented as a </a:t>
            </a:r>
            <a:r>
              <a:rPr lang="en-US" b="1" dirty="0">
                <a:solidFill>
                  <a:srgbClr val="FF0000"/>
                </a:solidFill>
              </a:rPr>
              <a:t>phase difference (</a:t>
            </a:r>
            <a:r>
              <a:rPr lang="en-US" b="1" dirty="0" err="1">
                <a:solidFill>
                  <a:srgbClr val="FF0000"/>
                </a:solidFill>
              </a:rPr>
              <a:t>Δφ</a:t>
            </a:r>
            <a:r>
              <a:rPr lang="en-US" b="1" dirty="0">
                <a:solidFill>
                  <a:srgbClr val="FF0000"/>
                </a:solidFill>
              </a:rPr>
              <a:t>). </a:t>
            </a:r>
            <a:endParaRPr lang="en-US" b="1" dirty="0" smtClean="0">
              <a:solidFill>
                <a:srgbClr val="FF0000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In </a:t>
            </a:r>
            <a:r>
              <a:rPr lang="en-US" dirty="0"/>
              <a:t>a PLL system, this phase difference is continuously measured and corrected.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fundamental goal of a PLL is to adjust its output signal such that the </a:t>
            </a:r>
            <a:r>
              <a:rPr lang="en-US" b="1" dirty="0"/>
              <a:t>phase difference between the reference signal and the generated signal becomes constant (ideally zero)</a:t>
            </a:r>
            <a:r>
              <a:rPr lang="en-US" dirty="0"/>
              <a:t>. </a:t>
            </a:r>
            <a:endParaRPr lang="en-US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/>
              <a:t>Thus</a:t>
            </a:r>
            <a:r>
              <a:rPr lang="en-US" dirty="0"/>
              <a:t>, PLL operation is based on aligning two periodic signals in time by controlling their phase relationship.</a:t>
            </a:r>
          </a:p>
        </p:txBody>
      </p:sp>
    </p:spTree>
    <p:extLst>
      <p:ext uri="{BB962C8B-B14F-4D97-AF65-F5344CB8AC3E}">
        <p14:creationId xmlns:p14="http://schemas.microsoft.com/office/powerpoint/2010/main" val="375504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69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  <p:sp>
        <p:nvSpPr>
          <p:cNvPr id="2" name="Rectangle 1"/>
          <p:cNvSpPr/>
          <p:nvPr/>
        </p:nvSpPr>
        <p:spPr>
          <a:xfrm>
            <a:off x="2032000" y="1828800"/>
            <a:ext cx="19284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PLL Block Diagram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438400"/>
            <a:ext cx="9769119" cy="334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52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  <p:sp>
        <p:nvSpPr>
          <p:cNvPr id="2" name="Rectangle 1"/>
          <p:cNvSpPr/>
          <p:nvPr/>
        </p:nvSpPr>
        <p:spPr>
          <a:xfrm>
            <a:off x="838200" y="1752600"/>
            <a:ext cx="1636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Phase Detector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843480" y="2305300"/>
            <a:ext cx="4642919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phase detector compares: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Reference clock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Feedback clock (from output) </a:t>
            </a:r>
          </a:p>
          <a:p>
            <a:pPr>
              <a:lnSpc>
                <a:spcPct val="150000"/>
              </a:lnSpc>
            </a:pPr>
            <a:r>
              <a:rPr lang="en-US" dirty="0"/>
              <a:t>Now imagine two signals: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If reference arrives earlier → system is slow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If feedback arrives earlier → system is fast </a:t>
            </a:r>
          </a:p>
          <a:p>
            <a:pPr>
              <a:lnSpc>
                <a:spcPct val="150000"/>
              </a:lnSpc>
            </a:pPr>
            <a:r>
              <a:rPr lang="en-US" dirty="0"/>
              <a:t>So phase detector produces: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UP signal</a:t>
            </a:r>
            <a:r>
              <a:rPr lang="en-US" dirty="0"/>
              <a:t> → speed up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DOWN signal</a:t>
            </a:r>
            <a:r>
              <a:rPr lang="en-US" dirty="0"/>
              <a:t> → slow 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8833" y="1752600"/>
            <a:ext cx="14554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Charge Pump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91200" y="2473673"/>
            <a:ext cx="39624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The phase detector gives digital signals: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UP or DOWN </a:t>
            </a:r>
          </a:p>
          <a:p>
            <a:pPr>
              <a:lnSpc>
                <a:spcPct val="150000"/>
              </a:lnSpc>
            </a:pPr>
            <a:r>
              <a:rPr lang="en-US" dirty="0"/>
              <a:t>But VCO needs </a:t>
            </a:r>
            <a:r>
              <a:rPr lang="en-US" b="1" dirty="0"/>
              <a:t>analog voltage</a:t>
            </a:r>
            <a:r>
              <a:rPr lang="en-US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So charge pump converts: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UP → increase voltage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DOWN → decrease voltage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87428" y="5226071"/>
            <a:ext cx="51119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Charge pump converts </a:t>
            </a:r>
            <a:r>
              <a:rPr lang="en-US" b="1" dirty="0">
                <a:solidFill>
                  <a:srgbClr val="FF0000"/>
                </a:solidFill>
              </a:rPr>
              <a:t>timing error → voltage signal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862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22852"/>
            <a:ext cx="11981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Loop Filter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2043752"/>
            <a:ext cx="50292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If we directly send charge pump output to VCO: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Voltage will fluctuate rapidly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Output clock becomes unstable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Jitter increases </a:t>
            </a:r>
          </a:p>
          <a:p>
            <a:r>
              <a:rPr lang="en-US" dirty="0"/>
              <a:t>So we use a </a:t>
            </a:r>
            <a:r>
              <a:rPr lang="en-US" b="1" dirty="0"/>
              <a:t>loop filter</a:t>
            </a:r>
            <a:r>
              <a:rPr lang="en-US" dirty="0"/>
              <a:t>.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203200" y="3409395"/>
            <a:ext cx="3657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Removes high-frequency noise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Smooths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voltage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Makes system stable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26" y="4775038"/>
            <a:ext cx="4038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PLL is a feedback </a:t>
            </a:r>
            <a:r>
              <a:rPr lang="en-US" b="1" dirty="0" smtClean="0">
                <a:solidFill>
                  <a:srgbClr val="FF0000"/>
                </a:solidFill>
              </a:rPr>
              <a:t>system</a:t>
            </a:r>
            <a:endParaRPr lang="en-US" b="1" dirty="0">
              <a:solidFill>
                <a:srgbClr val="FF0000"/>
              </a:solidFill>
            </a:endParaRPr>
          </a:p>
          <a:p>
            <a:r>
              <a:rPr lang="en-US" dirty="0" smtClean="0"/>
              <a:t>Too </a:t>
            </a:r>
            <a:r>
              <a:rPr lang="en-US" dirty="0"/>
              <a:t>fast correction → unstable</a:t>
            </a:r>
            <a:br>
              <a:rPr lang="en-US" dirty="0"/>
            </a:br>
            <a:r>
              <a:rPr lang="en-US" dirty="0" smtClean="0"/>
              <a:t>Too </a:t>
            </a:r>
            <a:r>
              <a:rPr lang="en-US" dirty="0"/>
              <a:t>slow correction → slow response</a:t>
            </a:r>
          </a:p>
          <a:p>
            <a:r>
              <a:rPr lang="en-US" dirty="0"/>
              <a:t>Loop filter balances this.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06093" y="1678947"/>
            <a:ext cx="640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VCO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10200" y="204375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A </a:t>
            </a:r>
            <a:r>
              <a:rPr lang="en-US" b="1" dirty="0"/>
              <a:t>Voltage Controlled Oscillator (VCO)</a:t>
            </a:r>
            <a:r>
              <a:rPr lang="en-US" dirty="0"/>
              <a:t> is a circuit that generates a </a:t>
            </a:r>
            <a:r>
              <a:rPr lang="en-US" b="1" dirty="0"/>
              <a:t>periodic signal (clock)</a:t>
            </a:r>
            <a:r>
              <a:rPr lang="en-US" dirty="0"/>
              <a:t> whose </a:t>
            </a:r>
            <a:r>
              <a:rPr lang="en-US" b="1" dirty="0"/>
              <a:t>frequency depends on an input voltage</a:t>
            </a:r>
            <a:r>
              <a:rPr lang="en-US" dirty="0"/>
              <a:t>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6942" y="2988939"/>
            <a:ext cx="2105319" cy="342948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382446"/>
            <a:ext cx="3934374" cy="94310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557" y="4376112"/>
            <a:ext cx="3543795" cy="571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72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</p:spTree>
    <p:extLst>
      <p:ext uri="{BB962C8B-B14F-4D97-AF65-F5344CB8AC3E}">
        <p14:creationId xmlns:p14="http://schemas.microsoft.com/office/powerpoint/2010/main" val="2205067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</p:spTree>
    <p:extLst>
      <p:ext uri="{BB962C8B-B14F-4D97-AF65-F5344CB8AC3E}">
        <p14:creationId xmlns:p14="http://schemas.microsoft.com/office/powerpoint/2010/main" val="2680930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</p:spTree>
    <p:extLst>
      <p:ext uri="{BB962C8B-B14F-4D97-AF65-F5344CB8AC3E}">
        <p14:creationId xmlns:p14="http://schemas.microsoft.com/office/powerpoint/2010/main" val="361357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9141725-0102-4FCA-B9B4-83FBE354D57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B539545F-28C9-4CBD-B26E-4CE1862A2A55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B049ED91-1D2E-45B3-9318-BB54A6EDBA9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A67F199-4079-4C37-BCD8-1DFD66C362E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1A0BE70A-9FDB-BCA0-EE96-3D1B8EA6A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4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/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endParaRPr lang="en-US" sz="1800" dirty="0">
              <a:solidFill>
                <a:schemeClr val="accent2">
                  <a:lumMod val="50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336360" y="683567"/>
            <a:ext cx="26161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0582" y="585776"/>
            <a:ext cx="62516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Clock Synthesis and Synchronization Using a Phase-Locked Loop</a:t>
            </a:r>
          </a:p>
        </p:txBody>
      </p:sp>
    </p:spTree>
    <p:extLst>
      <p:ext uri="{BB962C8B-B14F-4D97-AF65-F5344CB8AC3E}">
        <p14:creationId xmlns:p14="http://schemas.microsoft.com/office/powerpoint/2010/main" val="147102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EAA2D99-0CE9-4B69-B1A8-E624B1F7EC2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>
              <a:defRPr/>
            </a:pPr>
            <a:fld id="{E4186D1F-D4E6-44E9-AD04-D064F5A4A043}" type="datetime1">
              <a:rPr lang="en-IN" smtClean="0"/>
              <a:t>14-04-2026</a:t>
            </a:fld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1D457791-EB65-4FF3-9D92-0133897C558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ctr">
              <a:defRPr/>
            </a:pPr>
            <a:fld id="{D73F7B0E-C962-4FD7-A8D5-9C1FB54CEDCC}" type="slidenum">
              <a:rPr lang="en-US" smtClean="0"/>
              <a:pPr algn="ctr">
                <a:defRPr/>
              </a:pPr>
              <a:t>76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98444026-1171-4F07-A90B-DB793F7B39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Digital CMOS VLSI Circuits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5789C73-14EE-4C88-82A7-0C34117AC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192" y="1676400"/>
            <a:ext cx="5158416" cy="341212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="" xmlns:a16="http://schemas.microsoft.com/office/drawing/2014/main" id="{FEF60984-8AAE-607C-F252-7AA4CF9A8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1300" y="152400"/>
            <a:ext cx="6629400" cy="762000"/>
          </a:xfrm>
        </p:spPr>
        <p:txBody>
          <a:bodyPr/>
          <a:lstStyle/>
          <a:p>
            <a:r>
              <a:rPr lang="en-US" sz="2000" dirty="0">
                <a:solidFill>
                  <a:srgbClr val="0070C0"/>
                </a:solidFill>
                <a:latin typeface="Bookman Old Style" panose="02050604050505020204" pitchFamily="18" charset="0"/>
              </a:rPr>
              <a:t>MODULE 1</a:t>
            </a:r>
            <a: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  <a:t> </a:t>
            </a:r>
            <a:br>
              <a:rPr lang="en-US" sz="2000" dirty="0">
                <a:solidFill>
                  <a:srgbClr val="C00000"/>
                </a:solidFill>
                <a:latin typeface="Bookman Old Style" panose="02050604050505020204" pitchFamily="18" charset="0"/>
              </a:rPr>
            </a:br>
            <a:r>
              <a:rPr lang="en-US" sz="1800" dirty="0">
                <a:solidFill>
                  <a:schemeClr val="accent2">
                    <a:lumMod val="50000"/>
                  </a:schemeClr>
                </a:solidFill>
                <a:latin typeface="Bookman Old Style" panose="02050604050505020204" pitchFamily="18" charset="0"/>
              </a:rPr>
              <a:t>MOS TRANSISTOR AND PROCESSING TECHNOLOGY</a:t>
            </a:r>
          </a:p>
        </p:txBody>
      </p:sp>
    </p:spTree>
    <p:extLst>
      <p:ext uri="{BB962C8B-B14F-4D97-AF65-F5344CB8AC3E}">
        <p14:creationId xmlns:p14="http://schemas.microsoft.com/office/powerpoint/2010/main" val="3482268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EEE Presentation 2019-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EEE Presentation 2019-1</Template>
  <TotalTime>3301</TotalTime>
  <Words>6236</Words>
  <Application>Microsoft Office PowerPoint</Application>
  <PresentationFormat>Widescreen</PresentationFormat>
  <Paragraphs>1214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4" baseType="lpstr">
      <vt:lpstr>Arial</vt:lpstr>
      <vt:lpstr>Bookman Old Style</vt:lpstr>
      <vt:lpstr>Calibri</vt:lpstr>
      <vt:lpstr>Lucida Bright</vt:lpstr>
      <vt:lpstr>quote-cjk-patch</vt:lpstr>
      <vt:lpstr>Times New Roman</vt:lpstr>
      <vt:lpstr>Wingdings</vt:lpstr>
      <vt:lpstr>EEE Presentation 2019-1</vt:lpstr>
      <vt:lpstr>PowerPoint Presentation</vt:lpstr>
      <vt:lpstr>20EC214 - DIGITAL CMOS VLSI CIRCUITS COURSE OUTCOMES</vt:lpstr>
      <vt:lpstr>20EC214 - DIGITAL CMOS VLSI CIRCUITS COURSE CONTENTS</vt:lpstr>
      <vt:lpstr>20EC214 - DIGITAL CMOS VLSI CIRCUITS COURSE CONTENTS</vt:lpstr>
      <vt:lpstr>MODULE 4 TIMING ISSUES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4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2 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4 </vt:lpstr>
      <vt:lpstr>MODULE 1  MOS TRANSISTOR AND PROCESSING TECHNOLOGY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Gopu</dc:creator>
  <cp:lastModifiedBy>Microsoft account</cp:lastModifiedBy>
  <cp:revision>380</cp:revision>
  <dcterms:created xsi:type="dcterms:W3CDTF">2019-05-31T06:52:53Z</dcterms:created>
  <dcterms:modified xsi:type="dcterms:W3CDTF">2026-04-14T07:01:39Z</dcterms:modified>
</cp:coreProperties>
</file>